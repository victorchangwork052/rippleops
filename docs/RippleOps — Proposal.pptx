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RippleOps is an AI change-impact agent for manufacturers. When a supplier discontinues a part or costs move, it traces the change through every product, prices the impact, and hands each team an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component is discontinued, gets more expensive, or is hit by commodity or freight changes, the questions are simple but the answers are spread across six teams and several systems. Today that means spreadsheets, e-mail and a meeting, and it often takes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are discontinued at scale, and more than half without warning. Disruptions are frequent and expensive, and a single missing chip can stop whole product lines. Sources: Z2Data, "Components Are Going EOL Without Product Change Notifications at Alarming Rates" (March 2026), z2data.com. McKinsey Global Institute, "Risk, resilience, and rebalancing in global value chains" (August 2020), mckinsey.com. Resilinc, 2024 disruption press release (January 2025) and "Illumination: 2025 Annual Supply Chain Report", resilinc.ai. AlixPartners press release forecasting $210B in 2021 auto revenue lost to semiconductor shortages (September 2021), alixpartners.com.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not looking up a part number. A part can sit several levels down and appear through more than one path, so the real quantity per product has to be computed. In our demo, P300 reaches MCU-X100 twice through the dual-core board (which holds two core modules) and twice through its two I/O boards, so 4 chips per unit. Across all 12 affected products, that is $4.2M of revenue in the next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Future of Work angle: instead of six people reconciling spreadsheets, an agent team does the tracing and arithmetic, and people spend their time on the decision. RippleOps is an enterprise decision and collaboration agent, not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story. A fictional supplier, NovaChip, announces end-of-life for MCU-X100 with a last-time buy on January 30, 2027. Within one screen the user sees the scope, the money at risk and how long stock lasts, then runs what-if scenarios. Unit cost and margin changes are averages across affected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Impact Analysis screen. The dependency map shows every path from MCU-X100 to the 12 finished products, with quantity per parent on each edge, traced by BigQuery Graph. The KPI cards on the right are calculated, not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simulator lets a planner stack changes: a replacement part, a commodity move, a freight lane increase, and a margin target. Every number is recalculated deterministically, with the change attributed to replacement, material and freight.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Sourcing merges the approved vendor list with distributor cross-references and scores each option on delivery, quality, lead time, cost, supply risk and qualification, behind a compliance gate. Planning forecasts demand with BigQuery AI.FORECAST and re-plans lines and weeks with OR-Tools CP-SAT. The plan stays a draft until a person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the workflow, not a chat box on the side. Gemini-powered ADK agents decide which tools to call and in what order, run research in parallel, and hand findings to each other. Humans stay in the loop for the decision that matters: approving the production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Activity page streams each agent and tool call as it runs, then shows the executive brief with a link to review the proposed plan. The Recommended Response turns it into owned, prioritized actions for procurement, engineering, finance and sales, each with the calculated facts it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a Next.js app on Cloud Run, which proxies to a FastAPI service on Cloud Run running the Google ADK agents. Agents call Gemini 2.5 Flash on Vertex AI to reason and call typed tools to calculate: BigQuery holds the 17 business tables, BigQuery Graph traces the BOM, AI.FORECAST (TimesFM) forecasts demand, and OR-Tools re-plans production. Connectors for distributor catalogs, sanctions screening and supplier news are interfaces with fictional data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and procurement cannot act on a number a language model guessed. So Gemini never does business arithmetic: it reads, plans, chooses tools and explains. Quantities, costs and margins come from deterministic code, and a guardrail checks every figure in AI text against tool output. Without Gemini the same tools still run with calculated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action in the response plan cites the calculated facts behind it, so each team starts from the same numbers. People move from reconciling spreadsheets to making the call. Across manufacturing and its supplier networks, earlier and shared answers mean disruptions are handled before they reach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mock-up. The prototype is deployed on Cloud Run, reads from BigQuery, traces the BOM with BigQuery Graph and runs Gemini on Vertex AI. Recursive SQL is the fallback for the graph query, and the whole app also runs locally without any cloud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manufacturer built on multi-level bills of materials can use the same approach: electronics, automotive, industrial equipment, medical devices. The agents and engines don't change; only the data and connectors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why we care about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prototype is live on Google Cloud and the code is open on GitHub; all demo data is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8"/>
            <a:ext cx="10566401" cy="1005795"/>
          </a:xfrm>
          <a:prstGeom prst="rect">
            <a:avLst/>
          </a:prstGeom>
          <a:noFill/>
          <a:ln/>
        </p:spPr>
        <p:txBody>
          <a:bodyPr wrap="square" lIns="0" tIns="0" rIns="0" bIns="0" rtlCol="0" anchor="t"/>
          <a:lstStyle>
            <a:lvl1pPr algn="l" indent="0" marL="0">
              <a:lnSpc>
                <a:spcPct val="115000"/>
              </a:lnSpc>
              <a:buNone/>
              <a:defRPr lang="en-US" sz="3600" dirty="0">
                <a:solidFill>
                  <a:srgbClr val="1214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38343"/>
            <a:ext cx="10566400" cy="3606857"/>
          </a:xfrm>
          <a:prstGeom prst="rect">
            <a:avLst/>
          </a:prstGeom>
          <a:noFill/>
          <a:ln/>
        </p:spPr>
        <p:txBody>
          <a:bodyPr wrap="square" lIns="0" tIns="0" rIns="0" bIns="0" rtlCol="0" anchor="t"/>
          <a:lstStyle>
            <a:lvl1pPr algn="l" indent="0" marL="0">
              <a:lnSpc>
                <a:spcPct val="140000"/>
              </a:lnSpc>
              <a:buNone/>
              <a:defRPr lang="en-US" sz="1600" dirty="0">
                <a:solidFill>
                  <a:srgbClr val="1214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8"/>
            <a:ext cx="10566401" cy="1005795"/>
          </a:xfrm>
          <a:prstGeom prst="rect">
            <a:avLst/>
          </a:prstGeom>
          <a:noFill/>
          <a:ln/>
        </p:spPr>
        <p:txBody>
          <a:bodyPr wrap="square" lIns="0" tIns="0" rIns="0" bIns="0" rtlCol="0" anchor="t"/>
          <a:lstStyle>
            <a:lvl1pPr algn="l" indent="0" marL="0">
              <a:lnSpc>
                <a:spcPct val="115000"/>
              </a:lnSpc>
              <a:buNone/>
              <a:defRPr lang="en-US" sz="3600" dirty="0">
                <a:solidFill>
                  <a:srgbClr val="1214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38343"/>
            <a:ext cx="10566400" cy="3606857"/>
          </a:xfrm>
          <a:prstGeom prst="rect">
            <a:avLst/>
          </a:prstGeom>
          <a:noFill/>
          <a:ln/>
        </p:spPr>
        <p:txBody>
          <a:bodyPr wrap="square" lIns="0" tIns="0" rIns="0" bIns="0" rtlCol="0" anchor="t"/>
          <a:lstStyle>
            <a:lvl1pPr algn="l" indent="0" marL="0">
              <a:lnSpc>
                <a:spcPct val="140000"/>
              </a:lnSpc>
              <a:buNone/>
              <a:defRPr lang="en-US" sz="1600" dirty="0">
                <a:solidFill>
                  <a:srgbClr val="1214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2.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1" cy="6858000"/>
          </a:xfrm>
          <a:prstGeom prst="rect">
            <a:avLst/>
          </a:prstGeom>
        </p:spPr>
      </p:pic>
      <p:sp>
        <p:nvSpPr>
          <p:cNvPr id="3"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AI BUILDER CUP 2026 · FUTURE OF WORK &amp; ENTERPRISE PRODUCTIVITY</a:t>
            </a:r>
            <a:endParaRPr lang="en-US" sz="1200" dirty="0"/>
          </a:p>
        </p:txBody>
      </p:sp>
      <p:sp>
        <p:nvSpPr>
          <p:cNvPr id="4" name="Text 1"/>
          <p:cNvSpPr/>
          <p:nvPr>
            <p:ph type="title"/>
          </p:nvPr>
        </p:nvSpPr>
        <p:spPr>
          <a:xfrm>
            <a:off x="812800" y="2180658"/>
            <a:ext cx="10883393"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6F6FA"/>
                </a:solidFill>
                <a:latin typeface="Space Grotesk" pitchFamily="34" charset="0"/>
                <a:ea typeface="Space Grotesk" pitchFamily="34" charset="-122"/>
                <a:cs typeface="Space Grotesk" pitchFamily="34" charset="-120"/>
              </a:rPr>
              <a:t>RippleOps</a:t>
            </a:r>
            <a:endParaRPr lang="en-US" sz="6000" dirty="0"/>
          </a:p>
        </p:txBody>
      </p:sp>
      <p:sp>
        <p:nvSpPr>
          <p:cNvPr id="5" name="Text 2"/>
          <p:cNvSpPr/>
          <p:nvPr/>
        </p:nvSpPr>
        <p:spPr>
          <a:xfrm>
            <a:off x="812800" y="3183958"/>
            <a:ext cx="7194550" cy="1031195"/>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6FA"/>
                </a:solidFill>
                <a:latin typeface="Space Grotesk" pitchFamily="34" charset="0"/>
                <a:ea typeface="Space Grotesk" pitchFamily="34" charset="-122"/>
                <a:cs typeface="Space Grotesk" pitchFamily="34" charset="-120"/>
              </a:rPr>
              <a:t>See the ripple before it hits your business.</a:t>
            </a:r>
            <a:endParaRPr lang="en-US" sz="3600" dirty="0"/>
          </a:p>
        </p:txBody>
      </p:sp>
      <p:sp>
        <p:nvSpPr>
          <p:cNvPr id="6" name="Text 3"/>
          <p:cNvSpPr/>
          <p:nvPr/>
        </p:nvSpPr>
        <p:spPr>
          <a:xfrm>
            <a:off x="812800" y="4392953"/>
            <a:ext cx="6540500" cy="30984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7C9E0"/>
                </a:solidFill>
                <a:latin typeface="IBM Plex Sans" pitchFamily="34" charset="0"/>
                <a:ea typeface="IBM Plex Sans" pitchFamily="34" charset="-122"/>
                <a:cs typeface="IBM Plex Sans" pitchFamily="34" charset="-120"/>
              </a:rPr>
              <a:t>The AI change-impact agent for manufacturing and supply chains.</a:t>
            </a:r>
            <a:endParaRPr lang="en-US" sz="1600" dirty="0"/>
          </a:p>
        </p:txBody>
      </p:sp>
      <p:sp>
        <p:nvSpPr>
          <p:cNvPr id="7" name="Text 4"/>
          <p:cNvSpPr/>
          <p:nvPr/>
        </p:nvSpPr>
        <p:spPr>
          <a:xfrm>
            <a:off x="812800" y="58318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Proposal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49"/>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Supply chains change constantly. Decisions still take days.</a:t>
            </a:r>
            <a:endParaRPr lang="en-US" sz="3600" dirty="0"/>
          </a:p>
        </p:txBody>
      </p:sp>
      <p:sp>
        <p:nvSpPr>
          <p:cNvPr id="4" name="Shape 2"/>
          <p:cNvSpPr/>
          <p:nvPr/>
        </p:nvSpPr>
        <p:spPr>
          <a:xfrm>
            <a:off x="815975" y="2492318"/>
            <a:ext cx="3414146" cy="1245451"/>
          </a:xfrm>
          <a:prstGeom prst="roundRect">
            <a:avLst>
              <a:gd name="adj" fmla="val 7903"/>
            </a:avLst>
          </a:prstGeom>
          <a:solidFill>
            <a:srgbClr val="FDFDFE"/>
          </a:solidFill>
          <a:ln w="6350">
            <a:solidFill>
              <a:srgbClr val="DCDDEA"/>
            </a:solidFill>
            <a:prstDash val="solid"/>
          </a:ln>
        </p:spPr>
      </p:sp>
      <p:sp>
        <p:nvSpPr>
          <p:cNvPr id="5" name="Text 3"/>
          <p:cNvSpPr/>
          <p:nvPr/>
        </p:nvSpPr>
        <p:spPr>
          <a:xfrm>
            <a:off x="1019629" y="2695973"/>
            <a:ext cx="309704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PROCUREMENT</a:t>
            </a:r>
            <a:endParaRPr lang="en-US" sz="1200" dirty="0"/>
          </a:p>
        </p:txBody>
      </p:sp>
      <p:sp>
        <p:nvSpPr>
          <p:cNvPr id="6" name="Text 4"/>
          <p:cNvSpPr/>
          <p:nvPr/>
        </p:nvSpPr>
        <p:spPr>
          <a:xfrm>
            <a:off x="1019629" y="2985521"/>
            <a:ext cx="3097044"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Which part numbers are affected?</a:t>
            </a:r>
            <a:endParaRPr lang="en-US" sz="1600" dirty="0"/>
          </a:p>
        </p:txBody>
      </p:sp>
      <p:sp>
        <p:nvSpPr>
          <p:cNvPr id="7" name="Shape 5"/>
          <p:cNvSpPr/>
          <p:nvPr/>
        </p:nvSpPr>
        <p:spPr>
          <a:xfrm>
            <a:off x="4388871" y="2492318"/>
            <a:ext cx="3414202" cy="1245451"/>
          </a:xfrm>
          <a:prstGeom prst="roundRect">
            <a:avLst>
              <a:gd name="adj" fmla="val 7903"/>
            </a:avLst>
          </a:prstGeom>
          <a:solidFill>
            <a:srgbClr val="FDFDFE"/>
          </a:solidFill>
          <a:ln w="6350">
            <a:solidFill>
              <a:srgbClr val="DCDDEA"/>
            </a:solidFill>
            <a:prstDash val="solid"/>
          </a:ln>
        </p:spPr>
      </p:sp>
      <p:sp>
        <p:nvSpPr>
          <p:cNvPr id="8" name="Text 6"/>
          <p:cNvSpPr/>
          <p:nvPr/>
        </p:nvSpPr>
        <p:spPr>
          <a:xfrm>
            <a:off x="4592524" y="2695973"/>
            <a:ext cx="309710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ENGINEERING</a:t>
            </a:r>
            <a:endParaRPr lang="en-US" sz="1200" dirty="0"/>
          </a:p>
        </p:txBody>
      </p:sp>
      <p:sp>
        <p:nvSpPr>
          <p:cNvPr id="9" name="Text 7"/>
          <p:cNvSpPr/>
          <p:nvPr/>
        </p:nvSpPr>
        <p:spPr>
          <a:xfrm>
            <a:off x="4592524" y="2985521"/>
            <a:ext cx="3097102"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Where is it in the BOM, and how many per product?</a:t>
            </a:r>
            <a:endParaRPr lang="en-US" sz="1600" dirty="0"/>
          </a:p>
        </p:txBody>
      </p:sp>
      <p:sp>
        <p:nvSpPr>
          <p:cNvPr id="10" name="Shape 8"/>
          <p:cNvSpPr/>
          <p:nvPr/>
        </p:nvSpPr>
        <p:spPr>
          <a:xfrm>
            <a:off x="7961823" y="2492318"/>
            <a:ext cx="3414202" cy="1245451"/>
          </a:xfrm>
          <a:prstGeom prst="roundRect">
            <a:avLst>
              <a:gd name="adj" fmla="val 7903"/>
            </a:avLst>
          </a:prstGeom>
          <a:solidFill>
            <a:srgbClr val="FDFDFE"/>
          </a:solidFill>
          <a:ln w="6350">
            <a:solidFill>
              <a:srgbClr val="DCDDEA"/>
            </a:solidFill>
            <a:prstDash val="solid"/>
          </a:ln>
        </p:spPr>
      </p:sp>
      <p:sp>
        <p:nvSpPr>
          <p:cNvPr id="11" name="Text 9"/>
          <p:cNvSpPr/>
          <p:nvPr/>
        </p:nvSpPr>
        <p:spPr>
          <a:xfrm>
            <a:off x="8165477" y="2695973"/>
            <a:ext cx="309710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FINANCE</a:t>
            </a:r>
            <a:endParaRPr lang="en-US" sz="1200" dirty="0"/>
          </a:p>
        </p:txBody>
      </p:sp>
      <p:sp>
        <p:nvSpPr>
          <p:cNvPr id="12" name="Text 10"/>
          <p:cNvSpPr/>
          <p:nvPr/>
        </p:nvSpPr>
        <p:spPr>
          <a:xfrm>
            <a:off x="8165477" y="2985521"/>
            <a:ext cx="3097102"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How far do cost and margin move?</a:t>
            </a:r>
            <a:endParaRPr lang="en-US" sz="1600" dirty="0"/>
          </a:p>
        </p:txBody>
      </p:sp>
      <p:sp>
        <p:nvSpPr>
          <p:cNvPr id="13" name="Shape 11"/>
          <p:cNvSpPr/>
          <p:nvPr/>
        </p:nvSpPr>
        <p:spPr>
          <a:xfrm>
            <a:off x="815975" y="3896520"/>
            <a:ext cx="3414146" cy="1245451"/>
          </a:xfrm>
          <a:prstGeom prst="roundRect">
            <a:avLst>
              <a:gd name="adj" fmla="val 7903"/>
            </a:avLst>
          </a:prstGeom>
          <a:solidFill>
            <a:srgbClr val="FDFDFE"/>
          </a:solidFill>
          <a:ln w="6350">
            <a:solidFill>
              <a:srgbClr val="DCDDEA"/>
            </a:solidFill>
            <a:prstDash val="solid"/>
          </a:ln>
        </p:spPr>
      </p:sp>
      <p:sp>
        <p:nvSpPr>
          <p:cNvPr id="14" name="Text 12"/>
          <p:cNvSpPr/>
          <p:nvPr/>
        </p:nvSpPr>
        <p:spPr>
          <a:xfrm>
            <a:off x="1019629" y="4100173"/>
            <a:ext cx="309704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PRODUCT</a:t>
            </a:r>
            <a:endParaRPr lang="en-US" sz="1200" dirty="0"/>
          </a:p>
        </p:txBody>
      </p:sp>
      <p:sp>
        <p:nvSpPr>
          <p:cNvPr id="15" name="Text 13"/>
          <p:cNvSpPr/>
          <p:nvPr/>
        </p:nvSpPr>
        <p:spPr>
          <a:xfrm>
            <a:off x="1019629" y="4389721"/>
            <a:ext cx="3097044"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Is there an approved alternative?</a:t>
            </a:r>
            <a:endParaRPr lang="en-US" sz="1600" dirty="0"/>
          </a:p>
        </p:txBody>
      </p:sp>
      <p:sp>
        <p:nvSpPr>
          <p:cNvPr id="16" name="Shape 14"/>
          <p:cNvSpPr/>
          <p:nvPr/>
        </p:nvSpPr>
        <p:spPr>
          <a:xfrm>
            <a:off x="4388871" y="3896520"/>
            <a:ext cx="3414202" cy="1245451"/>
          </a:xfrm>
          <a:prstGeom prst="roundRect">
            <a:avLst>
              <a:gd name="adj" fmla="val 7903"/>
            </a:avLst>
          </a:prstGeom>
          <a:solidFill>
            <a:srgbClr val="FDFDFE"/>
          </a:solidFill>
          <a:ln w="6350">
            <a:solidFill>
              <a:srgbClr val="DCDDEA"/>
            </a:solidFill>
            <a:prstDash val="solid"/>
          </a:ln>
        </p:spPr>
      </p:sp>
      <p:sp>
        <p:nvSpPr>
          <p:cNvPr id="17" name="Text 15"/>
          <p:cNvSpPr/>
          <p:nvPr/>
        </p:nvSpPr>
        <p:spPr>
          <a:xfrm>
            <a:off x="4592524" y="4100173"/>
            <a:ext cx="309710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SUPPLY CHAIN</a:t>
            </a:r>
            <a:endParaRPr lang="en-US" sz="1200" dirty="0"/>
          </a:p>
        </p:txBody>
      </p:sp>
      <p:sp>
        <p:nvSpPr>
          <p:cNvPr id="18" name="Text 16"/>
          <p:cNvSpPr/>
          <p:nvPr/>
        </p:nvSpPr>
        <p:spPr>
          <a:xfrm>
            <a:off x="4592524" y="4389721"/>
            <a:ext cx="3097102" cy="2996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How long will inventory last?</a:t>
            </a:r>
            <a:endParaRPr lang="en-US" sz="1600" dirty="0"/>
          </a:p>
        </p:txBody>
      </p:sp>
      <p:sp>
        <p:nvSpPr>
          <p:cNvPr id="19" name="Shape 17"/>
          <p:cNvSpPr/>
          <p:nvPr/>
        </p:nvSpPr>
        <p:spPr>
          <a:xfrm>
            <a:off x="7961823" y="3896520"/>
            <a:ext cx="3414202" cy="1245451"/>
          </a:xfrm>
          <a:prstGeom prst="roundRect">
            <a:avLst>
              <a:gd name="adj" fmla="val 7903"/>
            </a:avLst>
          </a:prstGeom>
          <a:solidFill>
            <a:srgbClr val="FDFDFE"/>
          </a:solidFill>
          <a:ln w="6350">
            <a:solidFill>
              <a:srgbClr val="DCDDEA"/>
            </a:solidFill>
            <a:prstDash val="solid"/>
          </a:ln>
        </p:spPr>
      </p:sp>
      <p:sp>
        <p:nvSpPr>
          <p:cNvPr id="20" name="Text 18"/>
          <p:cNvSpPr/>
          <p:nvPr/>
        </p:nvSpPr>
        <p:spPr>
          <a:xfrm>
            <a:off x="8165477" y="4100173"/>
            <a:ext cx="309710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SALES</a:t>
            </a:r>
            <a:endParaRPr lang="en-US" sz="1200" dirty="0"/>
          </a:p>
        </p:txBody>
      </p:sp>
      <p:sp>
        <p:nvSpPr>
          <p:cNvPr id="21" name="Text 19"/>
          <p:cNvSpPr/>
          <p:nvPr/>
        </p:nvSpPr>
        <p:spPr>
          <a:xfrm>
            <a:off x="8165477" y="4389721"/>
            <a:ext cx="3097102"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Which customers and quotes are exposed?</a:t>
            </a:r>
            <a:endParaRPr lang="en-US" sz="1600" dirty="0"/>
          </a:p>
        </p:txBody>
      </p:sp>
      <p:sp>
        <p:nvSpPr>
          <p:cNvPr id="22" name="Text 20"/>
          <p:cNvSpPr/>
          <p:nvPr/>
        </p:nvSpPr>
        <p:spPr>
          <a:xfrm>
            <a:off x="812800" y="5500745"/>
            <a:ext cx="10883393" cy="30984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68"/>
                </a:solidFill>
                <a:latin typeface="IBM Plex Sans" pitchFamily="34" charset="0"/>
                <a:ea typeface="IBM Plex Sans" pitchFamily="34" charset="-122"/>
                <a:cs typeface="IBM Plex Sans" pitchFamily="34" charset="-120"/>
              </a:rPr>
              <a:t>Every answer exists somewhere in the company. Nobody sees them together until the meeting.</a:t>
            </a:r>
            <a:endParaRPr lang="en-US" sz="1600" dirty="0"/>
          </a:p>
        </p:txBody>
      </p:sp>
      <p:sp>
        <p:nvSpPr>
          <p:cNvPr id="23" name="Text 21"/>
          <p:cNvSpPr/>
          <p:nvPr/>
        </p:nvSpPr>
        <p:spPr>
          <a:xfrm>
            <a:off x="812800" y="6238252"/>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24" name="Text 22"/>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WHY NOW</a:t>
            </a:r>
            <a:endParaRPr lang="en-US" sz="1200" dirty="0"/>
          </a:p>
        </p:txBody>
      </p:sp>
      <p:sp>
        <p:nvSpPr>
          <p:cNvPr id="3" name="Text 1"/>
          <p:cNvSpPr/>
          <p:nvPr>
            <p:ph type="title"/>
          </p:nvPr>
        </p:nvSpPr>
        <p:spPr>
          <a:xfrm>
            <a:off x="812800" y="1127750"/>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Disruption is no longer the exception. It is the operating environment.</a:t>
            </a:r>
            <a:endParaRPr lang="en-US" sz="3600" dirty="0"/>
          </a:p>
        </p:txBody>
      </p:sp>
      <p:sp>
        <p:nvSpPr>
          <p:cNvPr id="4" name="Shape 2"/>
          <p:cNvSpPr/>
          <p:nvPr/>
        </p:nvSpPr>
        <p:spPr>
          <a:xfrm>
            <a:off x="815975" y="2492319"/>
            <a:ext cx="2520950" cy="2271486"/>
          </a:xfrm>
          <a:prstGeom prst="roundRect">
            <a:avLst>
              <a:gd name="adj" fmla="val 4333"/>
            </a:avLst>
          </a:prstGeom>
          <a:solidFill>
            <a:srgbClr val="FDFDFE"/>
          </a:solidFill>
          <a:ln w="6350">
            <a:solidFill>
              <a:srgbClr val="DCDDEA"/>
            </a:solidFill>
            <a:prstDash val="solid"/>
          </a:ln>
        </p:spPr>
      </p:sp>
      <p:sp>
        <p:nvSpPr>
          <p:cNvPr id="5" name="Text 3"/>
          <p:cNvSpPr/>
          <p:nvPr/>
        </p:nvSpPr>
        <p:spPr>
          <a:xfrm>
            <a:off x="1019629" y="2695972"/>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2410C"/>
                </a:solidFill>
                <a:latin typeface="Space Grotesk" pitchFamily="34" charset="0"/>
                <a:ea typeface="Space Grotesk" pitchFamily="34" charset="-122"/>
                <a:cs typeface="Space Grotesk" pitchFamily="34" charset="-120"/>
              </a:rPr>
              <a:t>52%</a:t>
            </a:r>
            <a:endParaRPr lang="en-US" sz="3600" dirty="0"/>
          </a:p>
        </p:txBody>
      </p:sp>
      <p:sp>
        <p:nvSpPr>
          <p:cNvPr id="6" name="Text 4"/>
          <p:cNvSpPr/>
          <p:nvPr/>
        </p:nvSpPr>
        <p:spPr>
          <a:xfrm>
            <a:off x="1019629" y="3300470"/>
            <a:ext cx="217705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of electronic parts discontinued in 2025 had no end-of-life notice</a:t>
            </a:r>
            <a:endParaRPr lang="en-US" sz="1400" dirty="0"/>
          </a:p>
        </p:txBody>
      </p:sp>
      <p:sp>
        <p:nvSpPr>
          <p:cNvPr id="7" name="Text 5"/>
          <p:cNvSpPr/>
          <p:nvPr/>
        </p:nvSpPr>
        <p:spPr>
          <a:xfrm>
            <a:off x="1019629" y="4148762"/>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E88"/>
                </a:solidFill>
                <a:latin typeface="IBM Plex Sans" pitchFamily="34" charset="0"/>
                <a:ea typeface="IBM Plex Sans" pitchFamily="34" charset="-122"/>
                <a:cs typeface="IBM Plex Sans" pitchFamily="34" charset="-120"/>
              </a:rPr>
              <a:t>Z2Data, 2026 · 323,286 of 621,909 parts</a:t>
            </a:r>
            <a:endParaRPr lang="en-US" sz="1200" dirty="0"/>
          </a:p>
        </p:txBody>
      </p:sp>
      <p:sp>
        <p:nvSpPr>
          <p:cNvPr id="8" name="Shape 6"/>
          <p:cNvSpPr/>
          <p:nvPr/>
        </p:nvSpPr>
        <p:spPr>
          <a:xfrm>
            <a:off x="3495675" y="2492319"/>
            <a:ext cx="2520950" cy="2271486"/>
          </a:xfrm>
          <a:prstGeom prst="roundRect">
            <a:avLst>
              <a:gd name="adj" fmla="val 4333"/>
            </a:avLst>
          </a:prstGeom>
          <a:solidFill>
            <a:srgbClr val="FDFDFE"/>
          </a:solidFill>
          <a:ln w="6350">
            <a:solidFill>
              <a:srgbClr val="DCDDEA"/>
            </a:solidFill>
            <a:prstDash val="solid"/>
          </a:ln>
        </p:spPr>
      </p:sp>
      <p:sp>
        <p:nvSpPr>
          <p:cNvPr id="9" name="Text 7"/>
          <p:cNvSpPr/>
          <p:nvPr/>
        </p:nvSpPr>
        <p:spPr>
          <a:xfrm>
            <a:off x="3699329" y="2695972"/>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45%</a:t>
            </a:r>
            <a:endParaRPr lang="en-US" sz="3600" dirty="0"/>
          </a:p>
        </p:txBody>
      </p:sp>
      <p:sp>
        <p:nvSpPr>
          <p:cNvPr id="10" name="Text 8"/>
          <p:cNvSpPr/>
          <p:nvPr/>
        </p:nvSpPr>
        <p:spPr>
          <a:xfrm>
            <a:off x="3699329" y="3300470"/>
            <a:ext cx="217705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of one year's profits lost to supply disruptions over a decade, on average</a:t>
            </a:r>
            <a:endParaRPr lang="en-US" sz="1400" dirty="0"/>
          </a:p>
        </p:txBody>
      </p:sp>
      <p:sp>
        <p:nvSpPr>
          <p:cNvPr id="11" name="Text 9"/>
          <p:cNvSpPr/>
          <p:nvPr/>
        </p:nvSpPr>
        <p:spPr>
          <a:xfrm>
            <a:off x="3699329" y="4148762"/>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E88"/>
                </a:solidFill>
                <a:latin typeface="IBM Plex Sans" pitchFamily="34" charset="0"/>
                <a:ea typeface="IBM Plex Sans" pitchFamily="34" charset="-122"/>
                <a:cs typeface="IBM Plex Sans" pitchFamily="34" charset="-120"/>
              </a:rPr>
              <a:t>McKinsey Global Institute, 2020</a:t>
            </a:r>
            <a:endParaRPr lang="en-US" sz="1200" dirty="0"/>
          </a:p>
        </p:txBody>
      </p:sp>
      <p:sp>
        <p:nvSpPr>
          <p:cNvPr id="12" name="Shape 10"/>
          <p:cNvSpPr/>
          <p:nvPr/>
        </p:nvSpPr>
        <p:spPr>
          <a:xfrm>
            <a:off x="6175375" y="2492319"/>
            <a:ext cx="2520950" cy="2271486"/>
          </a:xfrm>
          <a:prstGeom prst="roundRect">
            <a:avLst>
              <a:gd name="adj" fmla="val 4333"/>
            </a:avLst>
          </a:prstGeom>
          <a:solidFill>
            <a:srgbClr val="FDFDFE"/>
          </a:solidFill>
          <a:ln w="6350">
            <a:solidFill>
              <a:srgbClr val="DCDDEA"/>
            </a:solidFill>
            <a:prstDash val="solid"/>
          </a:ln>
        </p:spPr>
      </p:sp>
      <p:sp>
        <p:nvSpPr>
          <p:cNvPr id="13" name="Text 11"/>
          <p:cNvSpPr/>
          <p:nvPr/>
        </p:nvSpPr>
        <p:spPr>
          <a:xfrm>
            <a:off x="6379029" y="2695972"/>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26,225</a:t>
            </a:r>
            <a:endParaRPr lang="en-US" sz="3600" dirty="0"/>
          </a:p>
        </p:txBody>
      </p:sp>
      <p:sp>
        <p:nvSpPr>
          <p:cNvPr id="14" name="Text 12"/>
          <p:cNvSpPr/>
          <p:nvPr/>
        </p:nvSpPr>
        <p:spPr>
          <a:xfrm>
            <a:off x="6379029" y="3300470"/>
            <a:ext cx="217705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supply chain disruption alerts in 2025, up from 22,522 in 2024</a:t>
            </a:r>
            <a:endParaRPr lang="en-US" sz="1400" dirty="0"/>
          </a:p>
        </p:txBody>
      </p:sp>
      <p:sp>
        <p:nvSpPr>
          <p:cNvPr id="15" name="Text 13"/>
          <p:cNvSpPr/>
          <p:nvPr/>
        </p:nvSpPr>
        <p:spPr>
          <a:xfrm>
            <a:off x="6379029" y="4148762"/>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E88"/>
                </a:solidFill>
                <a:latin typeface="IBM Plex Sans" pitchFamily="34" charset="0"/>
                <a:ea typeface="IBM Plex Sans" pitchFamily="34" charset="-122"/>
                <a:cs typeface="IBM Plex Sans" pitchFamily="34" charset="-120"/>
              </a:rPr>
              <a:t>Resilinc EventWatch, 2024 and 2025</a:t>
            </a:r>
            <a:endParaRPr lang="en-US" sz="1200" dirty="0"/>
          </a:p>
        </p:txBody>
      </p:sp>
      <p:sp>
        <p:nvSpPr>
          <p:cNvPr id="16" name="Shape 14"/>
          <p:cNvSpPr/>
          <p:nvPr/>
        </p:nvSpPr>
        <p:spPr>
          <a:xfrm>
            <a:off x="8855076" y="2492319"/>
            <a:ext cx="2520950" cy="2271486"/>
          </a:xfrm>
          <a:prstGeom prst="roundRect">
            <a:avLst>
              <a:gd name="adj" fmla="val 4333"/>
            </a:avLst>
          </a:prstGeom>
          <a:solidFill>
            <a:srgbClr val="FDFDFE"/>
          </a:solidFill>
          <a:ln w="6350">
            <a:solidFill>
              <a:srgbClr val="DCDDEA"/>
            </a:solidFill>
            <a:prstDash val="solid"/>
          </a:ln>
        </p:spPr>
      </p:sp>
      <p:sp>
        <p:nvSpPr>
          <p:cNvPr id="17" name="Text 15"/>
          <p:cNvSpPr/>
          <p:nvPr/>
        </p:nvSpPr>
        <p:spPr>
          <a:xfrm>
            <a:off x="9058729" y="2695972"/>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$210B</a:t>
            </a:r>
            <a:endParaRPr lang="en-US" sz="3600" dirty="0"/>
          </a:p>
        </p:txBody>
      </p:sp>
      <p:sp>
        <p:nvSpPr>
          <p:cNvPr id="18" name="Text 16"/>
          <p:cNvSpPr/>
          <p:nvPr/>
        </p:nvSpPr>
        <p:spPr>
          <a:xfrm>
            <a:off x="9058729" y="3300470"/>
            <a:ext cx="217705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auto industry revenue lost to the 2021 chip shortage</a:t>
            </a:r>
            <a:endParaRPr lang="en-US" sz="1400" dirty="0"/>
          </a:p>
        </p:txBody>
      </p:sp>
      <p:sp>
        <p:nvSpPr>
          <p:cNvPr id="19" name="Text 17"/>
          <p:cNvSpPr/>
          <p:nvPr/>
        </p:nvSpPr>
        <p:spPr>
          <a:xfrm>
            <a:off x="9058729" y="4148762"/>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E88"/>
                </a:solidFill>
                <a:latin typeface="IBM Plex Sans" pitchFamily="34" charset="0"/>
                <a:ea typeface="IBM Plex Sans" pitchFamily="34" charset="-122"/>
                <a:cs typeface="IBM Plex Sans" pitchFamily="34" charset="-120"/>
              </a:rPr>
              <a:t>AlixPartners forecast, Sept 2021</a:t>
            </a:r>
            <a:endParaRPr lang="en-US" sz="1200" dirty="0"/>
          </a:p>
        </p:txBody>
      </p:sp>
      <p:sp>
        <p:nvSpPr>
          <p:cNvPr id="20" name="Text 18"/>
          <p:cNvSpPr/>
          <p:nvPr/>
        </p:nvSpPr>
        <p:spPr>
          <a:xfrm>
            <a:off x="812800" y="6238252"/>
            <a:ext cx="3659301"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Third-party figures; sources in speaker notes</a:t>
            </a:r>
            <a:endParaRPr lang="en-US" sz="1200" dirty="0"/>
          </a:p>
        </p:txBody>
      </p:sp>
      <p:sp>
        <p:nvSpPr>
          <p:cNvPr id="21" name="Text 19"/>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4316730"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WHY IT IS HARD</a:t>
            </a:r>
            <a:endParaRPr lang="en-US" sz="1200" dirty="0"/>
          </a:p>
        </p:txBody>
      </p:sp>
      <p:sp>
        <p:nvSpPr>
          <p:cNvPr id="3" name="Text 1"/>
          <p:cNvSpPr/>
          <p:nvPr>
            <p:ph type="title"/>
          </p:nvPr>
        </p:nvSpPr>
        <p:spPr>
          <a:xfrm>
            <a:off x="812800" y="1127748"/>
            <a:ext cx="4316730" cy="153409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One part. Twelve products. $4.2M at risk.</a:t>
            </a:r>
            <a:endParaRPr lang="en-US" sz="3600" dirty="0"/>
          </a:p>
        </p:txBody>
      </p:sp>
      <p:sp>
        <p:nvSpPr>
          <p:cNvPr id="4" name="Text 2"/>
          <p:cNvSpPr/>
          <p:nvPr/>
        </p:nvSpPr>
        <p:spPr>
          <a:xfrm>
            <a:off x="812800" y="2839641"/>
            <a:ext cx="4316730" cy="87873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68"/>
                </a:solidFill>
                <a:latin typeface="IBM Plex Sans" pitchFamily="34" charset="0"/>
                <a:ea typeface="IBM Plex Sans" pitchFamily="34" charset="-122"/>
                <a:cs typeface="IBM Plex Sans" pitchFamily="34" charset="-120"/>
              </a:rPr>
              <a:t>One discontinued chip reaches Edge Controller Pro (P300) through two assembly paths: </a:t>
            </a:r>
            <a:r>
              <a:rPr lang="en-US" sz="1600" b="1" dirty="0">
                <a:solidFill>
                  <a:srgbClr val="4A4D68"/>
                </a:solidFill>
                <a:latin typeface="IBM Plex Sans" pitchFamily="34" charset="0"/>
                <a:ea typeface="IBM Plex Sans" pitchFamily="34" charset="-122"/>
                <a:cs typeface="IBM Plex Sans" pitchFamily="34" charset="-120"/>
              </a:rPr>
              <a:t>4 chips per unit</a:t>
            </a:r>
            <a:r>
              <a:rPr lang="en-US" sz="1600" dirty="0">
                <a:solidFill>
                  <a:srgbClr val="4A4D68"/>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12800" y="3896178"/>
            <a:ext cx="4191000" cy="487646"/>
          </a:xfrm>
          <a:prstGeom prst="roundRect">
            <a:avLst>
              <a:gd name="adj" fmla="val 15626"/>
            </a:avLst>
          </a:prstGeom>
          <a:solidFill>
            <a:srgbClr val="ECECF5"/>
          </a:solidFill>
          <a:ln/>
        </p:spPr>
        <p:txBody>
          <a:bodyPr wrap="square" lIns="130082" tIns="79282" rIns="13496" bIns="53882" rtlCol="0" anchor="t">
            <a:normAutofit/>
          </a:bodyPr>
          <a:lstStyle/>
          <a:p>
            <a:pPr algn="l" indent="0" marL="0">
              <a:lnSpc>
                <a:spcPts val="2240"/>
              </a:lnSpc>
              <a:buNone/>
            </a:pPr>
            <a:r>
              <a:rPr lang="en-US" sz="1600" dirty="0">
                <a:solidFill>
                  <a:srgbClr val="12142B"/>
                </a:solidFill>
                <a:latin typeface="IBM Plex Sans" pitchFamily="34" charset="0"/>
                <a:ea typeface="IBM Plex Sans" pitchFamily="34" charset="-122"/>
                <a:cs typeface="IBM Plex Sans" pitchFamily="34" charset="-120"/>
              </a:rPr>
              <a:t>(1 × 2 × 1) + (2 × 1) = 4</a:t>
            </a:r>
            <a:endParaRPr lang="en-US" sz="1600" dirty="0"/>
          </a:p>
        </p:txBody>
      </p:sp>
      <p:sp>
        <p:nvSpPr>
          <p:cNvPr id="6" name="Text 4"/>
          <p:cNvSpPr/>
          <p:nvPr/>
        </p:nvSpPr>
        <p:spPr>
          <a:xfrm>
            <a:off x="812800" y="4587024"/>
            <a:ext cx="4316730" cy="59429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68"/>
                </a:solidFill>
                <a:latin typeface="IBM Plex Sans" pitchFamily="34" charset="0"/>
                <a:ea typeface="IBM Plex Sans" pitchFamily="34" charset="-122"/>
                <a:cs typeface="IBM Plex Sans" pitchFamily="34" charset="-120"/>
              </a:rPr>
              <a:t>RippleOps works this out for every product, automatically.</a:t>
            </a:r>
            <a:endParaRPr lang="en-US" sz="1600" dirty="0"/>
          </a:p>
        </p:txBody>
      </p:sp>
      <p:sp>
        <p:nvSpPr>
          <p:cNvPr id="7" name="Shape 5"/>
          <p:cNvSpPr/>
          <p:nvPr/>
        </p:nvSpPr>
        <p:spPr>
          <a:xfrm>
            <a:off x="7378700" y="812800"/>
            <a:ext cx="2032000" cy="762000"/>
          </a:xfrm>
          <a:prstGeom prst="roundRect">
            <a:avLst>
              <a:gd name="adj" fmla="val 11667"/>
            </a:avLst>
          </a:prstGeom>
          <a:solidFill>
            <a:srgbClr val="12142B"/>
          </a:solidFill>
          <a:ln/>
        </p:spPr>
      </p:sp>
      <p:sp>
        <p:nvSpPr>
          <p:cNvPr id="8" name="Text 6"/>
          <p:cNvSpPr/>
          <p:nvPr/>
        </p:nvSpPr>
        <p:spPr>
          <a:xfrm>
            <a:off x="7531100" y="939800"/>
            <a:ext cx="1779016" cy="30117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F6F6FA"/>
                </a:solidFill>
                <a:latin typeface="Space Grotesk" pitchFamily="34" charset="0"/>
                <a:ea typeface="Space Grotesk" pitchFamily="34" charset="-122"/>
                <a:cs typeface="Space Grotesk" pitchFamily="34" charset="-120"/>
              </a:rPr>
              <a:t>P300</a:t>
            </a:r>
            <a:endParaRPr lang="en-US" sz="1550" dirty="0"/>
          </a:p>
        </p:txBody>
      </p:sp>
      <p:sp>
        <p:nvSpPr>
          <p:cNvPr id="9" name="Text 7"/>
          <p:cNvSpPr/>
          <p:nvPr/>
        </p:nvSpPr>
        <p:spPr>
          <a:xfrm>
            <a:off x="7531100" y="1240971"/>
            <a:ext cx="1779016" cy="232229"/>
          </a:xfrm>
          <a:prstGeom prst="rect">
            <a:avLst/>
          </a:prstGeom>
          <a:noFill/>
          <a:ln/>
        </p:spPr>
        <p:txBody>
          <a:bodyPr wrap="square" lIns="0" tIns="0" rIns="0" bIns="0" rtlCol="0" anchor="t">
            <a:normAutofit/>
          </a:bodyPr>
          <a:lstStyle/>
          <a:p>
            <a:pPr algn="l" indent="0" marL="0">
              <a:lnSpc>
                <a:spcPts val="1670"/>
              </a:lnSpc>
              <a:buNone/>
            </a:pPr>
            <a:r>
              <a:rPr lang="en-US" sz="1193" dirty="0">
                <a:solidFill>
                  <a:srgbClr val="C7C9E0"/>
                </a:solidFill>
                <a:latin typeface="IBM Plex Sans" pitchFamily="34" charset="0"/>
                <a:ea typeface="IBM Plex Sans" pitchFamily="34" charset="-122"/>
                <a:cs typeface="IBM Plex Sans" pitchFamily="34" charset="-120"/>
              </a:rPr>
              <a:t>Edge Controller Pro</a:t>
            </a:r>
            <a:endParaRPr lang="en-US" sz="1193" dirty="0"/>
          </a:p>
        </p:txBody>
      </p:sp>
      <p:sp>
        <p:nvSpPr>
          <p:cNvPr id="10" name="Shape 8"/>
          <p:cNvSpPr/>
          <p:nvPr/>
        </p:nvSpPr>
        <p:spPr>
          <a:xfrm>
            <a:off x="5607050" y="2089150"/>
            <a:ext cx="2019300" cy="749300"/>
          </a:xfrm>
          <a:prstGeom prst="roundRect">
            <a:avLst>
              <a:gd name="adj" fmla="val 11017"/>
            </a:avLst>
          </a:prstGeom>
          <a:solidFill>
            <a:srgbClr val="FDFDFE"/>
          </a:solidFill>
          <a:ln w="12700">
            <a:solidFill>
              <a:srgbClr val="C7C9E0"/>
            </a:solidFill>
            <a:prstDash val="solid"/>
          </a:ln>
        </p:spPr>
      </p:sp>
      <p:sp>
        <p:nvSpPr>
          <p:cNvPr id="11" name="Text 9"/>
          <p:cNvSpPr/>
          <p:nvPr/>
        </p:nvSpPr>
        <p:spPr>
          <a:xfrm>
            <a:off x="5763986" y="2207985"/>
            <a:ext cx="1756592" cy="303269"/>
          </a:xfrm>
          <a:prstGeom prst="rect">
            <a:avLst/>
          </a:prstGeom>
          <a:noFill/>
          <a:ln/>
        </p:spPr>
        <p:txBody>
          <a:bodyPr wrap="square" lIns="0" tIns="0" rIns="0" bIns="0" rtlCol="0" anchor="t">
            <a:normAutofit/>
          </a:bodyPr>
          <a:lstStyle/>
          <a:p>
            <a:pPr algn="l" indent="0" marL="0">
              <a:lnSpc>
                <a:spcPts val="2219"/>
              </a:lnSpc>
              <a:buNone/>
            </a:pPr>
            <a:r>
              <a:rPr lang="en-US" sz="1585" b="1" dirty="0">
                <a:solidFill>
                  <a:srgbClr val="12142B"/>
                </a:solidFill>
                <a:latin typeface="Space Grotesk" pitchFamily="34" charset="0"/>
                <a:ea typeface="Space Grotesk" pitchFamily="34" charset="-122"/>
                <a:cs typeface="Space Grotesk" pitchFamily="34" charset="-120"/>
              </a:rPr>
              <a:t>ASM-A200</a:t>
            </a:r>
            <a:endParaRPr lang="en-US" sz="1585" dirty="0"/>
          </a:p>
        </p:txBody>
      </p:sp>
      <p:sp>
        <p:nvSpPr>
          <p:cNvPr id="12" name="Text 10"/>
          <p:cNvSpPr/>
          <p:nvPr/>
        </p:nvSpPr>
        <p:spPr>
          <a:xfrm>
            <a:off x="5763986" y="2511254"/>
            <a:ext cx="1756592" cy="233759"/>
          </a:xfrm>
          <a:prstGeom prst="rect">
            <a:avLst/>
          </a:prstGeom>
          <a:noFill/>
          <a:ln/>
        </p:spPr>
        <p:txBody>
          <a:bodyPr wrap="square" lIns="0" tIns="0" rIns="0" bIns="0" rtlCol="0" anchor="t">
            <a:normAutofit/>
          </a:bodyPr>
          <a:lstStyle/>
          <a:p>
            <a:pPr algn="l" indent="0" marL="0">
              <a:lnSpc>
                <a:spcPts val="1670"/>
              </a:lnSpc>
              <a:buNone/>
            </a:pPr>
            <a:r>
              <a:rPr lang="en-US" sz="1193" dirty="0">
                <a:solidFill>
                  <a:srgbClr val="4A4D68"/>
                </a:solidFill>
                <a:latin typeface="IBM Plex Sans" pitchFamily="34" charset="0"/>
                <a:ea typeface="IBM Plex Sans" pitchFamily="34" charset="-122"/>
                <a:cs typeface="IBM Plex Sans" pitchFamily="34" charset="-120"/>
              </a:rPr>
              <a:t>Dual-Core Board</a:t>
            </a:r>
            <a:endParaRPr lang="en-US" sz="1193" dirty="0"/>
          </a:p>
        </p:txBody>
      </p:sp>
      <p:sp>
        <p:nvSpPr>
          <p:cNvPr id="13" name="Shape 11"/>
          <p:cNvSpPr/>
          <p:nvPr/>
        </p:nvSpPr>
        <p:spPr>
          <a:xfrm>
            <a:off x="9163051" y="2089150"/>
            <a:ext cx="2019300" cy="749300"/>
          </a:xfrm>
          <a:prstGeom prst="roundRect">
            <a:avLst>
              <a:gd name="adj" fmla="val 11017"/>
            </a:avLst>
          </a:prstGeom>
          <a:solidFill>
            <a:srgbClr val="FDFDFE"/>
          </a:solidFill>
          <a:ln w="12700">
            <a:solidFill>
              <a:srgbClr val="C7C9E0"/>
            </a:solidFill>
            <a:prstDash val="solid"/>
          </a:ln>
        </p:spPr>
      </p:sp>
      <p:sp>
        <p:nvSpPr>
          <p:cNvPr id="14" name="Text 12"/>
          <p:cNvSpPr/>
          <p:nvPr/>
        </p:nvSpPr>
        <p:spPr>
          <a:xfrm>
            <a:off x="9319986" y="2207985"/>
            <a:ext cx="1756592" cy="303269"/>
          </a:xfrm>
          <a:prstGeom prst="rect">
            <a:avLst/>
          </a:prstGeom>
          <a:noFill/>
          <a:ln/>
        </p:spPr>
        <p:txBody>
          <a:bodyPr wrap="square" lIns="0" tIns="0" rIns="0" bIns="0" rtlCol="0" anchor="t">
            <a:normAutofit/>
          </a:bodyPr>
          <a:lstStyle/>
          <a:p>
            <a:pPr algn="l" indent="0" marL="0">
              <a:lnSpc>
                <a:spcPts val="2219"/>
              </a:lnSpc>
              <a:buNone/>
            </a:pPr>
            <a:r>
              <a:rPr lang="en-US" sz="1585" b="1" dirty="0">
                <a:solidFill>
                  <a:srgbClr val="12142B"/>
                </a:solidFill>
                <a:latin typeface="Space Grotesk" pitchFamily="34" charset="0"/>
                <a:ea typeface="Space Grotesk" pitchFamily="34" charset="-122"/>
                <a:cs typeface="Space Grotesk" pitchFamily="34" charset="-120"/>
              </a:rPr>
              <a:t>ASM-B300</a:t>
            </a:r>
            <a:endParaRPr lang="en-US" sz="1585" dirty="0"/>
          </a:p>
        </p:txBody>
      </p:sp>
      <p:sp>
        <p:nvSpPr>
          <p:cNvPr id="15" name="Text 13"/>
          <p:cNvSpPr/>
          <p:nvPr/>
        </p:nvSpPr>
        <p:spPr>
          <a:xfrm>
            <a:off x="9319986" y="2511254"/>
            <a:ext cx="1756592" cy="233759"/>
          </a:xfrm>
          <a:prstGeom prst="rect">
            <a:avLst/>
          </a:prstGeom>
          <a:noFill/>
          <a:ln/>
        </p:spPr>
        <p:txBody>
          <a:bodyPr wrap="square" lIns="0" tIns="0" rIns="0" bIns="0" rtlCol="0" anchor="t">
            <a:normAutofit/>
          </a:bodyPr>
          <a:lstStyle/>
          <a:p>
            <a:pPr algn="l" indent="0" marL="0">
              <a:lnSpc>
                <a:spcPts val="1670"/>
              </a:lnSpc>
              <a:buNone/>
            </a:pPr>
            <a:r>
              <a:rPr lang="en-US" sz="1193" dirty="0">
                <a:solidFill>
                  <a:srgbClr val="4A4D68"/>
                </a:solidFill>
                <a:latin typeface="IBM Plex Sans" pitchFamily="34" charset="0"/>
                <a:ea typeface="IBM Plex Sans" pitchFamily="34" charset="-122"/>
                <a:cs typeface="IBM Plex Sans" pitchFamily="34" charset="-120"/>
              </a:rPr>
              <a:t>I/O Expansion Board</a:t>
            </a:r>
            <a:endParaRPr lang="en-US" sz="1193" dirty="0"/>
          </a:p>
        </p:txBody>
      </p:sp>
      <p:sp>
        <p:nvSpPr>
          <p:cNvPr id="16" name="Shape 14"/>
          <p:cNvSpPr/>
          <p:nvPr/>
        </p:nvSpPr>
        <p:spPr>
          <a:xfrm>
            <a:off x="5607050" y="3359150"/>
            <a:ext cx="2019300" cy="749300"/>
          </a:xfrm>
          <a:prstGeom prst="roundRect">
            <a:avLst>
              <a:gd name="adj" fmla="val 11017"/>
            </a:avLst>
          </a:prstGeom>
          <a:solidFill>
            <a:srgbClr val="FDFDFE"/>
          </a:solidFill>
          <a:ln w="12700">
            <a:solidFill>
              <a:srgbClr val="C7C9E0"/>
            </a:solidFill>
            <a:prstDash val="solid"/>
          </a:ln>
        </p:spPr>
      </p:sp>
      <p:sp>
        <p:nvSpPr>
          <p:cNvPr id="17" name="Text 15"/>
          <p:cNvSpPr/>
          <p:nvPr/>
        </p:nvSpPr>
        <p:spPr>
          <a:xfrm>
            <a:off x="5763986" y="3477985"/>
            <a:ext cx="1756592" cy="303269"/>
          </a:xfrm>
          <a:prstGeom prst="rect">
            <a:avLst/>
          </a:prstGeom>
          <a:noFill/>
          <a:ln/>
        </p:spPr>
        <p:txBody>
          <a:bodyPr wrap="square" lIns="0" tIns="0" rIns="0" bIns="0" rtlCol="0" anchor="t">
            <a:normAutofit/>
          </a:bodyPr>
          <a:lstStyle/>
          <a:p>
            <a:pPr algn="l" indent="0" marL="0">
              <a:lnSpc>
                <a:spcPts val="2219"/>
              </a:lnSpc>
              <a:buNone/>
            </a:pPr>
            <a:r>
              <a:rPr lang="en-US" sz="1585" b="1" dirty="0">
                <a:solidFill>
                  <a:srgbClr val="12142B"/>
                </a:solidFill>
                <a:latin typeface="Space Grotesk" pitchFamily="34" charset="0"/>
                <a:ea typeface="Space Grotesk" pitchFamily="34" charset="-122"/>
                <a:cs typeface="Space Grotesk" pitchFamily="34" charset="-120"/>
              </a:rPr>
              <a:t>SUB-C100</a:t>
            </a:r>
            <a:endParaRPr lang="en-US" sz="1585" dirty="0"/>
          </a:p>
        </p:txBody>
      </p:sp>
      <p:sp>
        <p:nvSpPr>
          <p:cNvPr id="18" name="Text 16"/>
          <p:cNvSpPr/>
          <p:nvPr/>
        </p:nvSpPr>
        <p:spPr>
          <a:xfrm>
            <a:off x="5763986" y="3781254"/>
            <a:ext cx="1756592" cy="233759"/>
          </a:xfrm>
          <a:prstGeom prst="rect">
            <a:avLst/>
          </a:prstGeom>
          <a:noFill/>
          <a:ln/>
        </p:spPr>
        <p:txBody>
          <a:bodyPr wrap="square" lIns="0" tIns="0" rIns="0" bIns="0" rtlCol="0" anchor="t">
            <a:normAutofit/>
          </a:bodyPr>
          <a:lstStyle/>
          <a:p>
            <a:pPr algn="l" indent="0" marL="0">
              <a:lnSpc>
                <a:spcPts val="1670"/>
              </a:lnSpc>
              <a:buNone/>
            </a:pPr>
            <a:r>
              <a:rPr lang="en-US" sz="1193" dirty="0">
                <a:solidFill>
                  <a:srgbClr val="4A4D68"/>
                </a:solidFill>
                <a:latin typeface="IBM Plex Sans" pitchFamily="34" charset="0"/>
                <a:ea typeface="IBM Plex Sans" pitchFamily="34" charset="-122"/>
                <a:cs typeface="IBM Plex Sans" pitchFamily="34" charset="-120"/>
              </a:rPr>
              <a:t>MCU Core Module</a:t>
            </a:r>
            <a:endParaRPr lang="en-US" sz="1193" dirty="0"/>
          </a:p>
        </p:txBody>
      </p:sp>
      <p:sp>
        <p:nvSpPr>
          <p:cNvPr id="19" name="Shape 17"/>
          <p:cNvSpPr/>
          <p:nvPr/>
        </p:nvSpPr>
        <p:spPr>
          <a:xfrm>
            <a:off x="7388225" y="4632325"/>
            <a:ext cx="2012950" cy="742950"/>
          </a:xfrm>
          <a:prstGeom prst="roundRect">
            <a:avLst>
              <a:gd name="adj" fmla="val 10684"/>
            </a:avLst>
          </a:prstGeom>
          <a:solidFill>
            <a:srgbClr val="FFF1E6"/>
          </a:solidFill>
          <a:ln w="19050">
            <a:solidFill>
              <a:srgbClr val="C2410C"/>
            </a:solidFill>
            <a:prstDash val="solid"/>
          </a:ln>
        </p:spPr>
      </p:sp>
      <p:sp>
        <p:nvSpPr>
          <p:cNvPr id="20" name="Text 18"/>
          <p:cNvSpPr/>
          <p:nvPr/>
        </p:nvSpPr>
        <p:spPr>
          <a:xfrm>
            <a:off x="7549243" y="4748893"/>
            <a:ext cx="1741714" cy="302192"/>
          </a:xfrm>
          <a:prstGeom prst="rect">
            <a:avLst/>
          </a:prstGeom>
          <a:noFill/>
          <a:ln/>
        </p:spPr>
        <p:txBody>
          <a:bodyPr wrap="square" lIns="0" tIns="0" rIns="0" bIns="0" rtlCol="0" anchor="t">
            <a:normAutofit/>
          </a:bodyPr>
          <a:lstStyle/>
          <a:p>
            <a:pPr algn="l" indent="0" marL="0">
              <a:lnSpc>
                <a:spcPts val="2219"/>
              </a:lnSpc>
              <a:buNone/>
            </a:pPr>
            <a:r>
              <a:rPr lang="en-US" sz="1585" b="1" dirty="0">
                <a:solidFill>
                  <a:srgbClr val="9A3412"/>
                </a:solidFill>
                <a:latin typeface="Space Grotesk" pitchFamily="34" charset="0"/>
                <a:ea typeface="Space Grotesk" pitchFamily="34" charset="-122"/>
                <a:cs typeface="Space Grotesk" pitchFamily="34" charset="-120"/>
              </a:rPr>
              <a:t>MCU-X100</a:t>
            </a:r>
            <a:endParaRPr lang="en-US" sz="1585" dirty="0"/>
          </a:p>
        </p:txBody>
      </p:sp>
      <p:sp>
        <p:nvSpPr>
          <p:cNvPr id="21" name="Text 19"/>
          <p:cNvSpPr/>
          <p:nvPr/>
        </p:nvSpPr>
        <p:spPr>
          <a:xfrm>
            <a:off x="7549243" y="5051084"/>
            <a:ext cx="1741714" cy="233022"/>
          </a:xfrm>
          <a:prstGeom prst="rect">
            <a:avLst/>
          </a:prstGeom>
          <a:noFill/>
          <a:ln/>
        </p:spPr>
        <p:txBody>
          <a:bodyPr wrap="square" lIns="0" tIns="0" rIns="0" bIns="0" rtlCol="0" anchor="t">
            <a:normAutofit/>
          </a:bodyPr>
          <a:lstStyle/>
          <a:p>
            <a:pPr algn="l" indent="0" marL="0">
              <a:lnSpc>
                <a:spcPts val="1670"/>
              </a:lnSpc>
              <a:buNone/>
            </a:pPr>
            <a:r>
              <a:rPr lang="en-US" sz="1193" dirty="0">
                <a:solidFill>
                  <a:srgbClr val="9A3412"/>
                </a:solidFill>
                <a:latin typeface="IBM Plex Sans" pitchFamily="34" charset="0"/>
                <a:ea typeface="IBM Plex Sans" pitchFamily="34" charset="-122"/>
                <a:cs typeface="IBM Plex Sans" pitchFamily="34" charset="-120"/>
              </a:rPr>
              <a:t>End-of-life notice</a:t>
            </a:r>
            <a:endParaRPr lang="en-US" sz="1193" dirty="0"/>
          </a:p>
        </p:txBody>
      </p:sp>
      <p:pic>
        <p:nvPicPr>
          <p:cNvPr id="22" name="Image 0" descr="connector">    </p:cNvPr>
          <p:cNvPicPr>
            <a:picLocks noChangeAspect="1"/>
          </p:cNvPicPr>
          <p:nvPr/>
        </p:nvPicPr>
        <p:blipFill>
          <a:blip r:embed="rId1"/>
          <a:srcRect l="0" r="0" t="0" b="0"/>
          <a:stretch/>
        </p:blipFill>
        <p:spPr>
          <a:xfrm>
            <a:off x="6565900" y="1524000"/>
            <a:ext cx="1879600" cy="609600"/>
          </a:xfrm>
          <a:prstGeom prst="rect">
            <a:avLst/>
          </a:prstGeom>
        </p:spPr>
      </p:pic>
      <p:pic>
        <p:nvPicPr>
          <p:cNvPr id="23" name="Image 1" descr="connector">    </p:cNvPr>
          <p:cNvPicPr>
            <a:picLocks noChangeAspect="1"/>
          </p:cNvPicPr>
          <p:nvPr/>
        </p:nvPicPr>
        <p:blipFill>
          <a:blip r:embed="rId2"/>
          <a:srcRect l="0" r="0" t="0" b="0"/>
          <a:stretch/>
        </p:blipFill>
        <p:spPr>
          <a:xfrm>
            <a:off x="8343900" y="1524000"/>
            <a:ext cx="1879600" cy="609600"/>
          </a:xfrm>
          <a:prstGeom prst="rect">
            <a:avLst/>
          </a:prstGeom>
        </p:spPr>
      </p:pic>
      <p:pic>
        <p:nvPicPr>
          <p:cNvPr id="24" name="Image 2" descr="connector">    </p:cNvPr>
          <p:cNvPicPr>
            <a:picLocks noChangeAspect="1"/>
          </p:cNvPicPr>
          <p:nvPr/>
        </p:nvPicPr>
        <p:blipFill>
          <a:blip r:embed="rId3"/>
          <a:srcRect l="0" r="0" t="0" b="0"/>
          <a:stretch/>
        </p:blipFill>
        <p:spPr>
          <a:xfrm>
            <a:off x="6565900" y="2794000"/>
            <a:ext cx="101600" cy="609600"/>
          </a:xfrm>
          <a:prstGeom prst="rect">
            <a:avLst/>
          </a:prstGeom>
        </p:spPr>
      </p:pic>
      <p:pic>
        <p:nvPicPr>
          <p:cNvPr id="25" name="Image 3" descr="connector">    </p:cNvPr>
          <p:cNvPicPr>
            <a:picLocks noChangeAspect="1"/>
          </p:cNvPicPr>
          <p:nvPr/>
        </p:nvPicPr>
        <p:blipFill>
          <a:blip r:embed="rId4"/>
          <a:srcRect l="0" r="0" t="0" b="0"/>
          <a:stretch/>
        </p:blipFill>
        <p:spPr>
          <a:xfrm>
            <a:off x="6565900" y="4064000"/>
            <a:ext cx="1879600" cy="609600"/>
          </a:xfrm>
          <a:prstGeom prst="rect">
            <a:avLst/>
          </a:prstGeom>
        </p:spPr>
      </p:pic>
      <p:pic>
        <p:nvPicPr>
          <p:cNvPr id="26" name="Image 4" descr="connector">    </p:cNvPr>
          <p:cNvPicPr>
            <a:picLocks noChangeAspect="1"/>
          </p:cNvPicPr>
          <p:nvPr/>
        </p:nvPicPr>
        <p:blipFill>
          <a:blip r:embed="rId5"/>
          <a:srcRect l="0" r="0" t="0" b="0"/>
          <a:stretch/>
        </p:blipFill>
        <p:spPr>
          <a:xfrm>
            <a:off x="8343900" y="2794000"/>
            <a:ext cx="1879600" cy="1879600"/>
          </a:xfrm>
          <a:prstGeom prst="rect">
            <a:avLst/>
          </a:prstGeom>
        </p:spPr>
      </p:pic>
      <p:sp>
        <p:nvSpPr>
          <p:cNvPr id="27" name="Text 20"/>
          <p:cNvSpPr/>
          <p:nvPr/>
        </p:nvSpPr>
        <p:spPr>
          <a:xfrm>
            <a:off x="6718300" y="1714500"/>
            <a:ext cx="4572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×1</a:t>
            </a:r>
            <a:endParaRPr lang="en-US" sz="1200" dirty="0"/>
          </a:p>
        </p:txBody>
      </p:sp>
      <p:sp>
        <p:nvSpPr>
          <p:cNvPr id="28" name="Text 21"/>
          <p:cNvSpPr/>
          <p:nvPr/>
        </p:nvSpPr>
        <p:spPr>
          <a:xfrm>
            <a:off x="10274301" y="1714500"/>
            <a:ext cx="4572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×2</a:t>
            </a:r>
            <a:endParaRPr lang="en-US" sz="1200" dirty="0"/>
          </a:p>
        </p:txBody>
      </p:sp>
      <p:sp>
        <p:nvSpPr>
          <p:cNvPr id="29" name="Text 22"/>
          <p:cNvSpPr/>
          <p:nvPr/>
        </p:nvSpPr>
        <p:spPr>
          <a:xfrm>
            <a:off x="6718300" y="2984500"/>
            <a:ext cx="4572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×2</a:t>
            </a:r>
            <a:endParaRPr lang="en-US" sz="1200" dirty="0"/>
          </a:p>
        </p:txBody>
      </p:sp>
      <p:sp>
        <p:nvSpPr>
          <p:cNvPr id="30" name="Text 23"/>
          <p:cNvSpPr/>
          <p:nvPr/>
        </p:nvSpPr>
        <p:spPr>
          <a:xfrm>
            <a:off x="10274301" y="2984500"/>
            <a:ext cx="4572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×1</a:t>
            </a:r>
            <a:endParaRPr lang="en-US" sz="1200" dirty="0"/>
          </a:p>
        </p:txBody>
      </p:sp>
      <p:sp>
        <p:nvSpPr>
          <p:cNvPr id="31" name="Text 24"/>
          <p:cNvSpPr/>
          <p:nvPr/>
        </p:nvSpPr>
        <p:spPr>
          <a:xfrm>
            <a:off x="6718300" y="4152900"/>
            <a:ext cx="4572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×1</a:t>
            </a:r>
            <a:endParaRPr lang="en-US" sz="1200" dirty="0"/>
          </a:p>
        </p:txBody>
      </p:sp>
      <p:sp>
        <p:nvSpPr>
          <p:cNvPr id="32" name="Text 25"/>
          <p:cNvSpPr/>
          <p:nvPr/>
        </p:nvSpPr>
        <p:spPr>
          <a:xfrm>
            <a:off x="812800" y="6238250"/>
            <a:ext cx="177430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Demo data is fictional</a:t>
            </a:r>
            <a:endParaRPr lang="en-US" sz="1200" dirty="0"/>
          </a:p>
        </p:txBody>
      </p:sp>
      <p:sp>
        <p:nvSpPr>
          <p:cNvPr id="33" name="Text 26"/>
          <p:cNvSpPr/>
          <p:nvPr/>
        </p:nvSpPr>
        <p:spPr>
          <a:xfrm>
            <a:off x="11145498" y="6238250"/>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F46E5"/>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E2FF"/>
                </a:solidFill>
                <a:latin typeface="IBM Plex Sans" pitchFamily="34" charset="0"/>
                <a:ea typeface="IBM Plex Sans" pitchFamily="34" charset="-122"/>
                <a:cs typeface="IBM Plex Sans" pitchFamily="34" charset="-120"/>
              </a:rPr>
              <a:t>OUR VISION</a:t>
            </a:r>
            <a:endParaRPr lang="en-US" sz="1200" dirty="0"/>
          </a:p>
        </p:txBody>
      </p:sp>
      <p:sp>
        <p:nvSpPr>
          <p:cNvPr id="3" name="Text 1"/>
          <p:cNvSpPr/>
          <p:nvPr>
            <p:ph type="title"/>
          </p:nvPr>
        </p:nvSpPr>
        <p:spPr>
          <a:xfrm>
            <a:off x="812800" y="1127751"/>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DFDFE"/>
                </a:solidFill>
                <a:latin typeface="Space Grotesk" pitchFamily="34" charset="0"/>
                <a:ea typeface="Space Grotesk" pitchFamily="34" charset="-122"/>
                <a:cs typeface="Space Grotesk" pitchFamily="34" charset="-120"/>
              </a:rPr>
              <a:t>Every manufacturer sees the full ripple of a change, and acts, before it reaches a customer.</a:t>
            </a:r>
            <a:endParaRPr lang="en-US" sz="3600" dirty="0"/>
          </a:p>
        </p:txBody>
      </p:sp>
      <p:sp>
        <p:nvSpPr>
          <p:cNvPr id="4" name="Shape 2"/>
          <p:cNvSpPr/>
          <p:nvPr/>
        </p:nvSpPr>
        <p:spPr>
          <a:xfrm>
            <a:off x="812800" y="3207432"/>
            <a:ext cx="1422400" cy="1211433"/>
          </a:xfrm>
          <a:prstGeom prst="roundRect">
            <a:avLst>
              <a:gd name="adj" fmla="val 7338"/>
            </a:avLst>
          </a:prstGeom>
          <a:solidFill>
            <a:srgbClr val="3F37C9"/>
          </a:solidFill>
          <a:ln/>
        </p:spPr>
      </p:sp>
      <p:sp>
        <p:nvSpPr>
          <p:cNvPr id="5" name="Text 3"/>
          <p:cNvSpPr/>
          <p:nvPr/>
        </p:nvSpPr>
        <p:spPr>
          <a:xfrm>
            <a:off x="939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CHANGE</a:t>
            </a:r>
            <a:endParaRPr lang="en-US" sz="1200" dirty="0"/>
          </a:p>
        </p:txBody>
      </p:sp>
      <p:sp>
        <p:nvSpPr>
          <p:cNvPr id="6" name="Text 4"/>
          <p:cNvSpPr/>
          <p:nvPr/>
        </p:nvSpPr>
        <p:spPr>
          <a:xfrm>
            <a:off x="939800" y="3649380"/>
            <a:ext cx="1219200"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Gemini reads the notice</a:t>
            </a:r>
            <a:endParaRPr lang="en-US" sz="1200" dirty="0"/>
          </a:p>
        </p:txBody>
      </p:sp>
      <p:sp>
        <p:nvSpPr>
          <p:cNvPr id="7" name="Shape 5"/>
          <p:cNvSpPr/>
          <p:nvPr/>
        </p:nvSpPr>
        <p:spPr>
          <a:xfrm>
            <a:off x="2336800" y="3207432"/>
            <a:ext cx="1422400" cy="1211433"/>
          </a:xfrm>
          <a:prstGeom prst="roundRect">
            <a:avLst>
              <a:gd name="adj" fmla="val 7338"/>
            </a:avLst>
          </a:prstGeom>
          <a:solidFill>
            <a:srgbClr val="3F37C9"/>
          </a:solidFill>
          <a:ln/>
        </p:spPr>
      </p:sp>
      <p:sp>
        <p:nvSpPr>
          <p:cNvPr id="8" name="Text 6"/>
          <p:cNvSpPr/>
          <p:nvPr/>
        </p:nvSpPr>
        <p:spPr>
          <a:xfrm>
            <a:off x="2463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TRACE</a:t>
            </a:r>
            <a:endParaRPr lang="en-US" sz="1200" dirty="0"/>
          </a:p>
        </p:txBody>
      </p:sp>
      <p:sp>
        <p:nvSpPr>
          <p:cNvPr id="9" name="Text 7"/>
          <p:cNvSpPr/>
          <p:nvPr/>
        </p:nvSpPr>
        <p:spPr>
          <a:xfrm>
            <a:off x="2463800" y="3649380"/>
            <a:ext cx="1219200" cy="6424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BigQuery Graph walks every BOM level</a:t>
            </a:r>
            <a:endParaRPr lang="en-US" sz="1200" dirty="0"/>
          </a:p>
        </p:txBody>
      </p:sp>
      <p:sp>
        <p:nvSpPr>
          <p:cNvPr id="10" name="Shape 8"/>
          <p:cNvSpPr/>
          <p:nvPr/>
        </p:nvSpPr>
        <p:spPr>
          <a:xfrm>
            <a:off x="3860800" y="3207432"/>
            <a:ext cx="1422400" cy="1211433"/>
          </a:xfrm>
          <a:prstGeom prst="roundRect">
            <a:avLst>
              <a:gd name="adj" fmla="val 7338"/>
            </a:avLst>
          </a:prstGeom>
          <a:solidFill>
            <a:srgbClr val="3F37C9"/>
          </a:solidFill>
          <a:ln/>
        </p:spPr>
      </p:sp>
      <p:sp>
        <p:nvSpPr>
          <p:cNvPr id="11" name="Text 9"/>
          <p:cNvSpPr/>
          <p:nvPr/>
        </p:nvSpPr>
        <p:spPr>
          <a:xfrm>
            <a:off x="3987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CALCULATE</a:t>
            </a:r>
            <a:endParaRPr lang="en-US" sz="1200" dirty="0"/>
          </a:p>
        </p:txBody>
      </p:sp>
      <p:sp>
        <p:nvSpPr>
          <p:cNvPr id="12" name="Text 10"/>
          <p:cNvSpPr/>
          <p:nvPr/>
        </p:nvSpPr>
        <p:spPr>
          <a:xfrm>
            <a:off x="3987800" y="3649380"/>
            <a:ext cx="1219200" cy="6424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Cost, margin, revenue and stock coverage</a:t>
            </a:r>
            <a:endParaRPr lang="en-US" sz="1200" dirty="0"/>
          </a:p>
        </p:txBody>
      </p:sp>
      <p:sp>
        <p:nvSpPr>
          <p:cNvPr id="13" name="Shape 11"/>
          <p:cNvSpPr/>
          <p:nvPr/>
        </p:nvSpPr>
        <p:spPr>
          <a:xfrm>
            <a:off x="5384800" y="3207432"/>
            <a:ext cx="1422400" cy="1211433"/>
          </a:xfrm>
          <a:prstGeom prst="roundRect">
            <a:avLst>
              <a:gd name="adj" fmla="val 7338"/>
            </a:avLst>
          </a:prstGeom>
          <a:solidFill>
            <a:srgbClr val="3F37C9"/>
          </a:solidFill>
          <a:ln/>
        </p:spPr>
      </p:sp>
      <p:sp>
        <p:nvSpPr>
          <p:cNvPr id="14" name="Text 12"/>
          <p:cNvSpPr/>
          <p:nvPr/>
        </p:nvSpPr>
        <p:spPr>
          <a:xfrm>
            <a:off x="5511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SOURCE</a:t>
            </a:r>
            <a:endParaRPr lang="en-US" sz="1200" dirty="0"/>
          </a:p>
        </p:txBody>
      </p:sp>
      <p:sp>
        <p:nvSpPr>
          <p:cNvPr id="15" name="Text 13"/>
          <p:cNvSpPr/>
          <p:nvPr/>
        </p:nvSpPr>
        <p:spPr>
          <a:xfrm>
            <a:off x="5511800" y="3649380"/>
            <a:ext cx="1219200" cy="6424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Agents vet and score alternate suppliers</a:t>
            </a:r>
            <a:endParaRPr lang="en-US" sz="1200" dirty="0"/>
          </a:p>
        </p:txBody>
      </p:sp>
      <p:sp>
        <p:nvSpPr>
          <p:cNvPr id="16" name="Shape 14"/>
          <p:cNvSpPr/>
          <p:nvPr/>
        </p:nvSpPr>
        <p:spPr>
          <a:xfrm>
            <a:off x="6908800" y="3207432"/>
            <a:ext cx="1422400" cy="1211433"/>
          </a:xfrm>
          <a:prstGeom prst="roundRect">
            <a:avLst>
              <a:gd name="adj" fmla="val 7338"/>
            </a:avLst>
          </a:prstGeom>
          <a:solidFill>
            <a:srgbClr val="3F37C9"/>
          </a:solidFill>
          <a:ln/>
        </p:spPr>
      </p:sp>
      <p:sp>
        <p:nvSpPr>
          <p:cNvPr id="17" name="Text 15"/>
          <p:cNvSpPr/>
          <p:nvPr/>
        </p:nvSpPr>
        <p:spPr>
          <a:xfrm>
            <a:off x="7035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RE-PLAN</a:t>
            </a:r>
            <a:endParaRPr lang="en-US" sz="1200" dirty="0"/>
          </a:p>
        </p:txBody>
      </p:sp>
      <p:sp>
        <p:nvSpPr>
          <p:cNvPr id="18" name="Text 16"/>
          <p:cNvSpPr/>
          <p:nvPr/>
        </p:nvSpPr>
        <p:spPr>
          <a:xfrm>
            <a:off x="7035800" y="3649380"/>
            <a:ext cx="1219200"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OR-Tools re-plans production</a:t>
            </a:r>
            <a:endParaRPr lang="en-US" sz="1200" dirty="0"/>
          </a:p>
        </p:txBody>
      </p:sp>
      <p:sp>
        <p:nvSpPr>
          <p:cNvPr id="19" name="Shape 17"/>
          <p:cNvSpPr/>
          <p:nvPr/>
        </p:nvSpPr>
        <p:spPr>
          <a:xfrm>
            <a:off x="8432800" y="3207432"/>
            <a:ext cx="1422400" cy="1211433"/>
          </a:xfrm>
          <a:prstGeom prst="roundRect">
            <a:avLst>
              <a:gd name="adj" fmla="val 7338"/>
            </a:avLst>
          </a:prstGeom>
          <a:solidFill>
            <a:srgbClr val="3F37C9"/>
          </a:solidFill>
          <a:ln/>
        </p:spPr>
      </p:sp>
      <p:sp>
        <p:nvSpPr>
          <p:cNvPr id="20" name="Text 18"/>
          <p:cNvSpPr/>
          <p:nvPr/>
        </p:nvSpPr>
        <p:spPr>
          <a:xfrm>
            <a:off x="8559800"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DECIDE</a:t>
            </a:r>
            <a:endParaRPr lang="en-US" sz="1200" dirty="0"/>
          </a:p>
        </p:txBody>
      </p:sp>
      <p:sp>
        <p:nvSpPr>
          <p:cNvPr id="21" name="Text 19"/>
          <p:cNvSpPr/>
          <p:nvPr/>
        </p:nvSpPr>
        <p:spPr>
          <a:xfrm>
            <a:off x="8559800" y="3649380"/>
            <a:ext cx="1219200" cy="64248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A person approves the plan</a:t>
            </a:r>
            <a:endParaRPr lang="en-US" sz="1200" dirty="0"/>
          </a:p>
        </p:txBody>
      </p:sp>
      <p:sp>
        <p:nvSpPr>
          <p:cNvPr id="22" name="Shape 20"/>
          <p:cNvSpPr/>
          <p:nvPr/>
        </p:nvSpPr>
        <p:spPr>
          <a:xfrm>
            <a:off x="9956801" y="3207432"/>
            <a:ext cx="1422400" cy="1211433"/>
          </a:xfrm>
          <a:prstGeom prst="roundRect">
            <a:avLst>
              <a:gd name="adj" fmla="val 7338"/>
            </a:avLst>
          </a:prstGeom>
          <a:solidFill>
            <a:srgbClr val="3F37C9"/>
          </a:solidFill>
          <a:ln/>
        </p:spPr>
      </p:sp>
      <p:sp>
        <p:nvSpPr>
          <p:cNvPr id="23" name="Text 21"/>
          <p:cNvSpPr/>
          <p:nvPr/>
        </p:nvSpPr>
        <p:spPr>
          <a:xfrm>
            <a:off x="10083801" y="3359832"/>
            <a:ext cx="1219200" cy="238749"/>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DBA74"/>
                </a:solidFill>
                <a:latin typeface="IBM Plex Sans" pitchFamily="34" charset="0"/>
                <a:ea typeface="IBM Plex Sans" pitchFamily="34" charset="-122"/>
                <a:cs typeface="IBM Plex Sans" pitchFamily="34" charset="-120"/>
              </a:rPr>
              <a:t>ACT</a:t>
            </a:r>
            <a:endParaRPr lang="en-US" sz="1200" dirty="0"/>
          </a:p>
        </p:txBody>
      </p:sp>
      <p:sp>
        <p:nvSpPr>
          <p:cNvPr id="24" name="Text 22"/>
          <p:cNvSpPr/>
          <p:nvPr/>
        </p:nvSpPr>
        <p:spPr>
          <a:xfrm>
            <a:off x="10083801" y="3649380"/>
            <a:ext cx="1219200"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6FA"/>
                </a:solidFill>
                <a:latin typeface="IBM Plex Sans" pitchFamily="34" charset="0"/>
                <a:ea typeface="IBM Plex Sans" pitchFamily="34" charset="-122"/>
                <a:cs typeface="IBM Plex Sans" pitchFamily="34" charset="-120"/>
              </a:rPr>
              <a:t>Actions for every team</a:t>
            </a:r>
            <a:endParaRPr lang="en-US" sz="1200" dirty="0"/>
          </a:p>
        </p:txBody>
      </p:sp>
      <p:sp>
        <p:nvSpPr>
          <p:cNvPr id="25" name="Text 23"/>
          <p:cNvSpPr/>
          <p:nvPr/>
        </p:nvSpPr>
        <p:spPr>
          <a:xfrm>
            <a:off x="812800" y="5492750"/>
            <a:ext cx="10883393"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DFDFE"/>
                </a:solidFill>
                <a:latin typeface="Space Grotesk" pitchFamily="34" charset="0"/>
                <a:ea typeface="Space Grotesk" pitchFamily="34" charset="-122"/>
                <a:cs typeface="Space Grotesk" pitchFamily="34" charset="-120"/>
              </a:rPr>
              <a:t>From supplier notice to approved plan, in one flow.</a:t>
            </a:r>
            <a:endParaRPr lang="en-US" sz="2200" dirty="0"/>
          </a:p>
        </p:txBody>
      </p:sp>
      <p:sp>
        <p:nvSpPr>
          <p:cNvPr id="26" name="Text 24"/>
          <p:cNvSpPr/>
          <p:nvPr/>
        </p:nvSpPr>
        <p:spPr>
          <a:xfrm>
            <a:off x="812800" y="6238252"/>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E2FF"/>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27" name="Text 25"/>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0E2FF"/>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3"/>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DEMO SCENARIO · MCU-X100 END-OF-LIFE</a:t>
            </a:r>
            <a:endParaRPr lang="en-US" sz="1200" dirty="0"/>
          </a:p>
        </p:txBody>
      </p:sp>
      <p:sp>
        <p:nvSpPr>
          <p:cNvPr id="3" name="Text 1"/>
          <p:cNvSpPr/>
          <p:nvPr>
            <p:ph type="title"/>
          </p:nvPr>
        </p:nvSpPr>
        <p:spPr>
          <a:xfrm>
            <a:off x="812800" y="1127751"/>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The full business impact, before the first meeting</a:t>
            </a:r>
            <a:endParaRPr lang="en-US" sz="3600" dirty="0"/>
          </a:p>
        </p:txBody>
      </p:sp>
      <p:sp>
        <p:nvSpPr>
          <p:cNvPr id="4" name="Shape 2"/>
          <p:cNvSpPr/>
          <p:nvPr/>
        </p:nvSpPr>
        <p:spPr>
          <a:xfrm>
            <a:off x="815975" y="2441519"/>
            <a:ext cx="2520950" cy="1372394"/>
          </a:xfrm>
          <a:prstGeom prst="roundRect">
            <a:avLst>
              <a:gd name="adj" fmla="val 7172"/>
            </a:avLst>
          </a:prstGeom>
          <a:solidFill>
            <a:srgbClr val="FDFDFE"/>
          </a:solidFill>
          <a:ln w="6350">
            <a:solidFill>
              <a:srgbClr val="DCDDEA"/>
            </a:solidFill>
            <a:prstDash val="solid"/>
          </a:ln>
        </p:spPr>
      </p:sp>
      <p:sp>
        <p:nvSpPr>
          <p:cNvPr id="5" name="Text 3"/>
          <p:cNvSpPr/>
          <p:nvPr/>
        </p:nvSpPr>
        <p:spPr>
          <a:xfrm>
            <a:off x="1019629" y="2645175"/>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12</a:t>
            </a:r>
            <a:endParaRPr lang="en-US" sz="3600" dirty="0"/>
          </a:p>
        </p:txBody>
      </p:sp>
      <p:sp>
        <p:nvSpPr>
          <p:cNvPr id="6" name="Text 4"/>
          <p:cNvSpPr/>
          <p:nvPr/>
        </p:nvSpPr>
        <p:spPr>
          <a:xfrm>
            <a:off x="1019629" y="3198871"/>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D68"/>
                </a:solidFill>
                <a:latin typeface="IBM Plex Sans" pitchFamily="34" charset="0"/>
                <a:ea typeface="IBM Plex Sans" pitchFamily="34" charset="-122"/>
                <a:cs typeface="IBM Plex Sans" pitchFamily="34" charset="-120"/>
              </a:rPr>
              <a:t>affected SKUs in 3 product families</a:t>
            </a:r>
            <a:endParaRPr lang="en-US" sz="1200" dirty="0"/>
          </a:p>
        </p:txBody>
      </p:sp>
      <p:sp>
        <p:nvSpPr>
          <p:cNvPr id="7" name="Shape 5"/>
          <p:cNvSpPr/>
          <p:nvPr/>
        </p:nvSpPr>
        <p:spPr>
          <a:xfrm>
            <a:off x="3495675" y="2441519"/>
            <a:ext cx="2520950" cy="1372394"/>
          </a:xfrm>
          <a:prstGeom prst="roundRect">
            <a:avLst>
              <a:gd name="adj" fmla="val 7172"/>
            </a:avLst>
          </a:prstGeom>
          <a:solidFill>
            <a:srgbClr val="FDFDFE"/>
          </a:solidFill>
          <a:ln w="6350">
            <a:solidFill>
              <a:srgbClr val="DCDDEA"/>
            </a:solidFill>
            <a:prstDash val="solid"/>
          </a:ln>
        </p:spPr>
      </p:sp>
      <p:sp>
        <p:nvSpPr>
          <p:cNvPr id="8" name="Text 6"/>
          <p:cNvSpPr/>
          <p:nvPr/>
        </p:nvSpPr>
        <p:spPr>
          <a:xfrm>
            <a:off x="3699329" y="2645175"/>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$4.2M</a:t>
            </a:r>
            <a:endParaRPr lang="en-US" sz="3600" dirty="0"/>
          </a:p>
        </p:txBody>
      </p:sp>
      <p:sp>
        <p:nvSpPr>
          <p:cNvPr id="9" name="Text 7"/>
          <p:cNvSpPr/>
          <p:nvPr/>
        </p:nvSpPr>
        <p:spPr>
          <a:xfrm>
            <a:off x="3699329" y="3198871"/>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D68"/>
                </a:solidFill>
                <a:latin typeface="IBM Plex Sans" pitchFamily="34" charset="0"/>
                <a:ea typeface="IBM Plex Sans" pitchFamily="34" charset="-122"/>
                <a:cs typeface="IBM Plex Sans" pitchFamily="34" charset="-120"/>
              </a:rPr>
              <a:t>revenue exposed over the next 6 months</a:t>
            </a:r>
            <a:endParaRPr lang="en-US" sz="1200" dirty="0"/>
          </a:p>
        </p:txBody>
      </p:sp>
      <p:sp>
        <p:nvSpPr>
          <p:cNvPr id="10" name="Shape 8"/>
          <p:cNvSpPr/>
          <p:nvPr/>
        </p:nvSpPr>
        <p:spPr>
          <a:xfrm>
            <a:off x="6175375" y="2441519"/>
            <a:ext cx="2520950" cy="1372394"/>
          </a:xfrm>
          <a:prstGeom prst="roundRect">
            <a:avLst>
              <a:gd name="adj" fmla="val 7172"/>
            </a:avLst>
          </a:prstGeom>
          <a:solidFill>
            <a:srgbClr val="FDFDFE"/>
          </a:solidFill>
          <a:ln w="6350">
            <a:solidFill>
              <a:srgbClr val="DCDDEA"/>
            </a:solidFill>
            <a:prstDash val="solid"/>
          </a:ln>
        </p:spPr>
      </p:sp>
      <p:sp>
        <p:nvSpPr>
          <p:cNvPr id="11" name="Text 9"/>
          <p:cNvSpPr/>
          <p:nvPr/>
        </p:nvSpPr>
        <p:spPr>
          <a:xfrm>
            <a:off x="6379029" y="2645175"/>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2410C"/>
                </a:solidFill>
                <a:latin typeface="Space Grotesk" pitchFamily="34" charset="0"/>
                <a:ea typeface="Space Grotesk" pitchFamily="34" charset="-122"/>
                <a:cs typeface="Space Grotesk" pitchFamily="34" charset="-120"/>
              </a:rPr>
              <a:t>58 days</a:t>
            </a:r>
            <a:endParaRPr lang="en-US" sz="3600" dirty="0"/>
          </a:p>
        </p:txBody>
      </p:sp>
      <p:sp>
        <p:nvSpPr>
          <p:cNvPr id="12" name="Text 10"/>
          <p:cNvSpPr/>
          <p:nvPr/>
        </p:nvSpPr>
        <p:spPr>
          <a:xfrm>
            <a:off x="6379029" y="3198871"/>
            <a:ext cx="2177052" cy="231095"/>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D68"/>
                </a:solidFill>
                <a:latin typeface="IBM Plex Sans" pitchFamily="34" charset="0"/>
                <a:ea typeface="IBM Plex Sans" pitchFamily="34" charset="-122"/>
                <a:cs typeface="IBM Plex Sans" pitchFamily="34" charset="-120"/>
              </a:rPr>
              <a:t>of MCU-X100 inventory left</a:t>
            </a:r>
            <a:endParaRPr lang="en-US" sz="1200" dirty="0"/>
          </a:p>
        </p:txBody>
      </p:sp>
      <p:sp>
        <p:nvSpPr>
          <p:cNvPr id="13" name="Shape 11"/>
          <p:cNvSpPr/>
          <p:nvPr/>
        </p:nvSpPr>
        <p:spPr>
          <a:xfrm>
            <a:off x="8855076" y="2441519"/>
            <a:ext cx="2520950" cy="1372394"/>
          </a:xfrm>
          <a:prstGeom prst="roundRect">
            <a:avLst>
              <a:gd name="adj" fmla="val 7172"/>
            </a:avLst>
          </a:prstGeom>
          <a:solidFill>
            <a:srgbClr val="FDFDFE"/>
          </a:solidFill>
          <a:ln w="6350">
            <a:solidFill>
              <a:srgbClr val="DCDDEA"/>
            </a:solidFill>
            <a:prstDash val="solid"/>
          </a:ln>
        </p:spPr>
      </p:sp>
      <p:sp>
        <p:nvSpPr>
          <p:cNvPr id="14" name="Text 12"/>
          <p:cNvSpPr/>
          <p:nvPr/>
        </p:nvSpPr>
        <p:spPr>
          <a:xfrm>
            <a:off x="9058729" y="2645175"/>
            <a:ext cx="2177052" cy="52829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142B"/>
                </a:solidFill>
                <a:latin typeface="Space Grotesk" pitchFamily="34" charset="0"/>
                <a:ea typeface="Space Grotesk" pitchFamily="34" charset="-122"/>
                <a:cs typeface="Space Grotesk" pitchFamily="34" charset="-120"/>
              </a:rPr>
              <a:t>4</a:t>
            </a:r>
            <a:endParaRPr lang="en-US" sz="3600" dirty="0"/>
          </a:p>
        </p:txBody>
      </p:sp>
      <p:sp>
        <p:nvSpPr>
          <p:cNvPr id="15" name="Text 13"/>
          <p:cNvSpPr/>
          <p:nvPr/>
        </p:nvSpPr>
        <p:spPr>
          <a:xfrm>
            <a:off x="9058729" y="3198871"/>
            <a:ext cx="217705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D68"/>
                </a:solidFill>
                <a:latin typeface="IBM Plex Sans" pitchFamily="34" charset="0"/>
                <a:ea typeface="IBM Plex Sans" pitchFamily="34" charset="-122"/>
                <a:cs typeface="IBM Plex Sans" pitchFamily="34" charset="-120"/>
              </a:rPr>
              <a:t>products with no approved alternative</a:t>
            </a:r>
            <a:endParaRPr lang="en-US" sz="1200" dirty="0"/>
          </a:p>
        </p:txBody>
      </p:sp>
      <p:sp>
        <p:nvSpPr>
          <p:cNvPr id="16" name="Shape 14"/>
          <p:cNvSpPr/>
          <p:nvPr/>
        </p:nvSpPr>
        <p:spPr>
          <a:xfrm>
            <a:off x="812800" y="4121888"/>
            <a:ext cx="5207000" cy="1264841"/>
          </a:xfrm>
          <a:prstGeom prst="roundRect">
            <a:avLst>
              <a:gd name="adj" fmla="val 8033"/>
            </a:avLst>
          </a:prstGeom>
          <a:solidFill>
            <a:srgbClr val="ECECF5"/>
          </a:solidFill>
          <a:ln/>
        </p:spPr>
      </p:sp>
      <p:sp>
        <p:nvSpPr>
          <p:cNvPr id="17" name="Text 15"/>
          <p:cNvSpPr/>
          <p:nvPr/>
        </p:nvSpPr>
        <p:spPr>
          <a:xfrm>
            <a:off x="1016000" y="4325088"/>
            <a:ext cx="4944618"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WHAT IF WE SWITCH TO MCU-X200?</a:t>
            </a:r>
            <a:endParaRPr lang="en-US" sz="1200" dirty="0"/>
          </a:p>
        </p:txBody>
      </p:sp>
      <p:sp>
        <p:nvSpPr>
          <p:cNvPr id="18" name="Text 16"/>
          <p:cNvSpPr/>
          <p:nvPr/>
        </p:nvSpPr>
        <p:spPr>
          <a:xfrm>
            <a:off x="1016000" y="4614636"/>
            <a:ext cx="4944618" cy="59429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42B"/>
                </a:solidFill>
                <a:latin typeface="IBM Plex Sans" pitchFamily="34" charset="0"/>
                <a:ea typeface="IBM Plex Sans" pitchFamily="34" charset="-122"/>
                <a:cs typeface="IBM Plex Sans" pitchFamily="34" charset="-120"/>
              </a:rPr>
              <a:t>+18% part price, +$4.73 unit cost, −1.9 pts margin. </a:t>
            </a:r>
            <a:r>
              <a:rPr lang="en-US" sz="1600" b="1" dirty="0">
                <a:solidFill>
                  <a:srgbClr val="12142B"/>
                </a:solidFill>
                <a:latin typeface="IBM Plex Sans" pitchFamily="34" charset="0"/>
                <a:ea typeface="IBM Plex Sans" pitchFamily="34" charset="-122"/>
                <a:cs typeface="IBM Plex Sans" pitchFamily="34" charset="-120"/>
              </a:rPr>
              <a:t>3 products fall below the 20% target.</a:t>
            </a:r>
            <a:endParaRPr lang="en-US" sz="1600" dirty="0"/>
          </a:p>
        </p:txBody>
      </p:sp>
      <p:sp>
        <p:nvSpPr>
          <p:cNvPr id="19" name="Shape 17"/>
          <p:cNvSpPr/>
          <p:nvPr/>
        </p:nvSpPr>
        <p:spPr>
          <a:xfrm>
            <a:off x="6172200" y="4121888"/>
            <a:ext cx="5207000" cy="1264841"/>
          </a:xfrm>
          <a:prstGeom prst="roundRect">
            <a:avLst>
              <a:gd name="adj" fmla="val 8033"/>
            </a:avLst>
          </a:prstGeom>
          <a:solidFill>
            <a:srgbClr val="ECECF5"/>
          </a:solidFill>
          <a:ln/>
        </p:spPr>
      </p:sp>
      <p:sp>
        <p:nvSpPr>
          <p:cNvPr id="20" name="Text 18"/>
          <p:cNvSpPr/>
          <p:nvPr/>
        </p:nvSpPr>
        <p:spPr>
          <a:xfrm>
            <a:off x="6375400" y="4325088"/>
            <a:ext cx="4944618"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AND COPPER +12%, FREIGHT +15%?</a:t>
            </a:r>
            <a:endParaRPr lang="en-US" sz="1200" dirty="0"/>
          </a:p>
        </p:txBody>
      </p:sp>
      <p:sp>
        <p:nvSpPr>
          <p:cNvPr id="21" name="Text 19"/>
          <p:cNvSpPr/>
          <p:nvPr/>
        </p:nvSpPr>
        <p:spPr>
          <a:xfrm>
            <a:off x="6375400" y="4614636"/>
            <a:ext cx="4944618" cy="59429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42B"/>
                </a:solidFill>
                <a:latin typeface="IBM Plex Sans" pitchFamily="34" charset="0"/>
                <a:ea typeface="IBM Plex Sans" pitchFamily="34" charset="-122"/>
                <a:cs typeface="IBM Plex Sans" pitchFamily="34" charset="-120"/>
              </a:rPr>
              <a:t>Copper and Taiwan-to-US ocean freight stack on top. </a:t>
            </a:r>
            <a:r>
              <a:rPr lang="en-US" sz="1600" b="1" dirty="0">
                <a:solidFill>
                  <a:srgbClr val="12142B"/>
                </a:solidFill>
                <a:latin typeface="IBM Plex Sans" pitchFamily="34" charset="0"/>
                <a:ea typeface="IBM Plex Sans" pitchFamily="34" charset="-122"/>
                <a:cs typeface="IBM Plex Sans" pitchFamily="34" charset="-120"/>
              </a:rPr>
              <a:t>5 products fall below target.</a:t>
            </a:r>
            <a:endParaRPr lang="en-US" sz="1600" dirty="0"/>
          </a:p>
        </p:txBody>
      </p:sp>
      <p:sp>
        <p:nvSpPr>
          <p:cNvPr id="22" name="Text 20"/>
          <p:cNvSpPr/>
          <p:nvPr/>
        </p:nvSpPr>
        <p:spPr>
          <a:xfrm>
            <a:off x="812800" y="6238252"/>
            <a:ext cx="5097984"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Fictional seeded dataset · figures asserted by automated tests</a:t>
            </a:r>
            <a:endParaRPr lang="en-US" sz="1200" dirty="0"/>
          </a:p>
        </p:txBody>
      </p:sp>
      <p:sp>
        <p:nvSpPr>
          <p:cNvPr id="23" name="Text 21"/>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2B"/>
        </a:solidFill>
      </p:bgPr>
    </p:bg>
    <p:spTree>
      <p:nvGrpSpPr>
        <p:cNvPr id="1" name=""/>
        <p:cNvGrpSpPr/>
        <p:nvPr/>
      </p:nvGrpSpPr>
      <p:grpSpPr>
        <a:xfrm>
          <a:off x="0" y="0"/>
          <a:ext cx="0" cy="0"/>
          <a:chOff x="0" y="0"/>
          <a:chExt cx="0" cy="0"/>
        </a:xfrm>
      </p:grpSpPr>
      <p:sp>
        <p:nvSpPr>
          <p:cNvPr id="2" name="Text 0"/>
          <p:cNvSpPr/>
          <p:nvPr/>
        </p:nvSpPr>
        <p:spPr>
          <a:xfrm>
            <a:off x="812800" y="812800"/>
            <a:ext cx="3401060"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PRODUCT · IMPACT ANALYSIS</a:t>
            </a:r>
            <a:endParaRPr lang="en-US" sz="1200" dirty="0"/>
          </a:p>
        </p:txBody>
      </p:sp>
      <p:sp>
        <p:nvSpPr>
          <p:cNvPr id="3" name="Text 1"/>
          <p:cNvSpPr/>
          <p:nvPr>
            <p:ph type="title"/>
          </p:nvPr>
        </p:nvSpPr>
        <p:spPr>
          <a:xfrm>
            <a:off x="812800" y="1127748"/>
            <a:ext cx="3401060"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6FA"/>
                </a:solidFill>
                <a:latin typeface="Space Grotesk" pitchFamily="34" charset="0"/>
                <a:ea typeface="Space Grotesk" pitchFamily="34" charset="-122"/>
                <a:cs typeface="Space Grotesk" pitchFamily="34" charset="-120"/>
              </a:rPr>
              <a:t>See the whole ripple</a:t>
            </a:r>
            <a:endParaRPr lang="en-US" sz="3600" dirty="0"/>
          </a:p>
        </p:txBody>
      </p:sp>
      <p:sp>
        <p:nvSpPr>
          <p:cNvPr id="4" name="Shape 2"/>
          <p:cNvSpPr/>
          <p:nvPr/>
        </p:nvSpPr>
        <p:spPr>
          <a:xfrm>
            <a:off x="825500" y="2387541"/>
            <a:ext cx="0" cy="497795"/>
          </a:xfrm>
          <a:prstGeom prst="line">
            <a:avLst/>
          </a:prstGeom>
          <a:noFill/>
          <a:ln w="25400">
            <a:solidFill>
              <a:srgbClr val="FDBA74"/>
            </a:solidFill>
            <a:prstDash val="solid"/>
          </a:ln>
        </p:spPr>
      </p:sp>
      <p:sp>
        <p:nvSpPr>
          <p:cNvPr id="5" name="Text 3"/>
          <p:cNvSpPr/>
          <p:nvPr/>
        </p:nvSpPr>
        <p:spPr>
          <a:xfrm>
            <a:off x="965200" y="2387541"/>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BigQuery Graph traces every path from part to product</a:t>
            </a:r>
            <a:endParaRPr lang="en-US" sz="1400" dirty="0"/>
          </a:p>
        </p:txBody>
      </p:sp>
      <p:sp>
        <p:nvSpPr>
          <p:cNvPr id="6" name="Shape 4"/>
          <p:cNvSpPr/>
          <p:nvPr/>
        </p:nvSpPr>
        <p:spPr>
          <a:xfrm>
            <a:off x="825500" y="3037737"/>
            <a:ext cx="0" cy="497795"/>
          </a:xfrm>
          <a:prstGeom prst="line">
            <a:avLst/>
          </a:prstGeom>
          <a:noFill/>
          <a:ln w="25400">
            <a:solidFill>
              <a:srgbClr val="FDBA74"/>
            </a:solidFill>
            <a:prstDash val="solid"/>
          </a:ln>
        </p:spPr>
      </p:sp>
      <p:sp>
        <p:nvSpPr>
          <p:cNvPr id="7" name="Text 5"/>
          <p:cNvSpPr/>
          <p:nvPr/>
        </p:nvSpPr>
        <p:spPr>
          <a:xfrm>
            <a:off x="965200" y="3037737"/>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Exposure, stock coverage and missing alternates, at a glance</a:t>
            </a:r>
            <a:endParaRPr lang="en-US" sz="1400" dirty="0"/>
          </a:p>
        </p:txBody>
      </p:sp>
      <p:sp>
        <p:nvSpPr>
          <p:cNvPr id="8" name="Shape 6"/>
          <p:cNvSpPr/>
          <p:nvPr/>
        </p:nvSpPr>
        <p:spPr>
          <a:xfrm>
            <a:off x="825500" y="3687933"/>
            <a:ext cx="0" cy="497795"/>
          </a:xfrm>
          <a:prstGeom prst="line">
            <a:avLst/>
          </a:prstGeom>
          <a:noFill/>
          <a:ln w="25400">
            <a:solidFill>
              <a:srgbClr val="FDBA74"/>
            </a:solidFill>
            <a:prstDash val="solid"/>
          </a:ln>
        </p:spPr>
      </p:sp>
      <p:sp>
        <p:nvSpPr>
          <p:cNvPr id="9" name="Text 7"/>
          <p:cNvSpPr/>
          <p:nvPr/>
        </p:nvSpPr>
        <p:spPr>
          <a:xfrm>
            <a:off x="965200" y="3687933"/>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Select any product to see why it matters</a:t>
            </a:r>
            <a:endParaRPr lang="en-US" sz="1400" dirty="0"/>
          </a:p>
        </p:txBody>
      </p:sp>
      <p:pic>
        <p:nvPicPr>
          <p:cNvPr id="10" name="Image 0" descr="RippleOps Impact Analysis screen: dependency map from MCU-X100 to 12 finished products, with KPI cards for affected SKUs, revenue exposure, inventory coverage and products without an approved alternative">    </p:cNvPr>
          <p:cNvPicPr>
            <a:picLocks noChangeAspect="1"/>
          </p:cNvPicPr>
          <p:nvPr/>
        </p:nvPicPr>
        <p:blipFill>
          <a:blip r:embed="rId1"/>
          <a:srcRect l="0" r="0" t="-12" b="-12"/>
          <a:stretch/>
        </p:blipFill>
        <p:spPr>
          <a:xfrm>
            <a:off x="4521200" y="812800"/>
            <a:ext cx="6858000" cy="4806950"/>
          </a:xfrm>
          <a:prstGeom prst="roundRect">
            <a:avLst>
              <a:gd name="adj" fmla="val 2114"/>
            </a:avLst>
          </a:prstGeom>
          <a:effectLst>
            <a:outerShdw sx="100000" sy="100000" kx="0" ky="0" algn="bl" rotWithShape="0" blurRad="406400" dist="152400" dir="5400000">
              <a:srgbClr val="000000">
                <a:alpha val="45000"/>
              </a:srgbClr>
            </a:outerShdw>
          </a:effectLst>
        </p:spPr>
      </p:pic>
      <p:sp>
        <p:nvSpPr>
          <p:cNvPr id="11" name="Text 8"/>
          <p:cNvSpPr/>
          <p:nvPr/>
        </p:nvSpPr>
        <p:spPr>
          <a:xfrm>
            <a:off x="812800" y="6238252"/>
            <a:ext cx="4125958"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Live product on Google Cloud · fictional demo data</a:t>
            </a:r>
            <a:endParaRPr lang="en-US" sz="1200" dirty="0"/>
          </a:p>
        </p:txBody>
      </p:sp>
      <p:sp>
        <p:nvSpPr>
          <p:cNvPr id="12" name="Text 9"/>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42B"/>
        </a:solidFill>
      </p:bgPr>
    </p:bg>
    <p:spTree>
      <p:nvGrpSpPr>
        <p:cNvPr id="1" name=""/>
        <p:cNvGrpSpPr/>
        <p:nvPr/>
      </p:nvGrpSpPr>
      <p:grpSpPr>
        <a:xfrm>
          <a:off x="0" y="0"/>
          <a:ext cx="0" cy="0"/>
          <a:chOff x="0" y="0"/>
          <a:chExt cx="0" cy="0"/>
        </a:xfrm>
      </p:grpSpPr>
      <p:sp>
        <p:nvSpPr>
          <p:cNvPr id="2" name="Text 0"/>
          <p:cNvSpPr/>
          <p:nvPr/>
        </p:nvSpPr>
        <p:spPr>
          <a:xfrm>
            <a:off x="812800" y="812800"/>
            <a:ext cx="3401060"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PRODUCT · SCENARIO SIMULATOR</a:t>
            </a:r>
            <a:endParaRPr lang="en-US" sz="1200" dirty="0"/>
          </a:p>
        </p:txBody>
      </p:sp>
      <p:sp>
        <p:nvSpPr>
          <p:cNvPr id="3" name="Text 1"/>
          <p:cNvSpPr/>
          <p:nvPr>
            <p:ph type="title"/>
          </p:nvPr>
        </p:nvSpPr>
        <p:spPr>
          <a:xfrm>
            <a:off x="812800" y="1127748"/>
            <a:ext cx="3401060" cy="153409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6FA"/>
                </a:solidFill>
                <a:latin typeface="Space Grotesk" pitchFamily="34" charset="0"/>
                <a:ea typeface="Space Grotesk" pitchFamily="34" charset="-122"/>
                <a:cs typeface="Space Grotesk" pitchFamily="34" charset="-120"/>
              </a:rPr>
              <a:t>Test a decision before you make it</a:t>
            </a:r>
            <a:endParaRPr lang="en-US" sz="3600" dirty="0"/>
          </a:p>
        </p:txBody>
      </p:sp>
      <p:sp>
        <p:nvSpPr>
          <p:cNvPr id="4" name="Shape 2"/>
          <p:cNvSpPr/>
          <p:nvPr/>
        </p:nvSpPr>
        <p:spPr>
          <a:xfrm>
            <a:off x="825500" y="2890441"/>
            <a:ext cx="0" cy="497795"/>
          </a:xfrm>
          <a:prstGeom prst="line">
            <a:avLst/>
          </a:prstGeom>
          <a:noFill/>
          <a:ln w="25400">
            <a:solidFill>
              <a:srgbClr val="FDBA74"/>
            </a:solidFill>
            <a:prstDash val="solid"/>
          </a:ln>
        </p:spPr>
      </p:sp>
      <p:sp>
        <p:nvSpPr>
          <p:cNvPr id="5" name="Text 3"/>
          <p:cNvSpPr/>
          <p:nvPr/>
        </p:nvSpPr>
        <p:spPr>
          <a:xfrm>
            <a:off x="965200" y="2890441"/>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Swap parts, move copper and freight, set the margin target</a:t>
            </a:r>
            <a:endParaRPr lang="en-US" sz="1400" dirty="0"/>
          </a:p>
        </p:txBody>
      </p:sp>
      <p:sp>
        <p:nvSpPr>
          <p:cNvPr id="6" name="Shape 4"/>
          <p:cNvSpPr/>
          <p:nvPr/>
        </p:nvSpPr>
        <p:spPr>
          <a:xfrm>
            <a:off x="825500" y="3540633"/>
            <a:ext cx="0" cy="497795"/>
          </a:xfrm>
          <a:prstGeom prst="line">
            <a:avLst/>
          </a:prstGeom>
          <a:noFill/>
          <a:ln w="25400">
            <a:solidFill>
              <a:srgbClr val="FDBA74"/>
            </a:solidFill>
            <a:prstDash val="solid"/>
          </a:ln>
        </p:spPr>
      </p:sp>
      <p:sp>
        <p:nvSpPr>
          <p:cNvPr id="7" name="Text 5"/>
          <p:cNvSpPr/>
          <p:nvPr/>
        </p:nvSpPr>
        <p:spPr>
          <a:xfrm>
            <a:off x="965200" y="3540633"/>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Cost and margin recalculated for every product</a:t>
            </a:r>
            <a:endParaRPr lang="en-US" sz="1400" dirty="0"/>
          </a:p>
        </p:txBody>
      </p:sp>
      <p:sp>
        <p:nvSpPr>
          <p:cNvPr id="8" name="Shape 6"/>
          <p:cNvSpPr/>
          <p:nvPr/>
        </p:nvSpPr>
        <p:spPr>
          <a:xfrm>
            <a:off x="825500" y="4190829"/>
            <a:ext cx="0" cy="497795"/>
          </a:xfrm>
          <a:prstGeom prst="line">
            <a:avLst/>
          </a:prstGeom>
          <a:noFill/>
          <a:ln w="25400">
            <a:solidFill>
              <a:srgbClr val="FDBA74"/>
            </a:solidFill>
            <a:prstDash val="solid"/>
          </a:ln>
        </p:spPr>
      </p:sp>
      <p:sp>
        <p:nvSpPr>
          <p:cNvPr id="9" name="Text 7"/>
          <p:cNvSpPr/>
          <p:nvPr/>
        </p:nvSpPr>
        <p:spPr>
          <a:xfrm>
            <a:off x="965200" y="4190829"/>
            <a:ext cx="3244088"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9E0"/>
                </a:solidFill>
                <a:latin typeface="IBM Plex Sans" pitchFamily="34" charset="0"/>
                <a:ea typeface="IBM Plex Sans" pitchFamily="34" charset="-122"/>
                <a:cs typeface="IBM Plex Sans" pitchFamily="34" charset="-120"/>
              </a:rPr>
              <a:t>See which products fall below target, and why</a:t>
            </a:r>
            <a:endParaRPr lang="en-US" sz="1400" dirty="0"/>
          </a:p>
        </p:txBody>
      </p:sp>
      <p:pic>
        <p:nvPicPr>
          <p:cNvPr id="10" name="Image 0" descr="RippleOps Scenario Simulator: replacing MCU-X100 with MCU-X200 adds $4.73 average unit cost, lowers gross margin 1.9 points and puts 3 products below the 20% target">    </p:cNvPr>
          <p:cNvPicPr>
            <a:picLocks noChangeAspect="1"/>
          </p:cNvPicPr>
          <p:nvPr/>
        </p:nvPicPr>
        <p:blipFill>
          <a:blip r:embed="rId1"/>
          <a:srcRect l="0" r="0" t="-12" b="-12"/>
          <a:stretch/>
        </p:blipFill>
        <p:spPr>
          <a:xfrm>
            <a:off x="4521200" y="812800"/>
            <a:ext cx="6858000" cy="4806950"/>
          </a:xfrm>
          <a:prstGeom prst="roundRect">
            <a:avLst>
              <a:gd name="adj" fmla="val 2114"/>
            </a:avLst>
          </a:prstGeom>
          <a:effectLst>
            <a:outerShdw sx="100000" sy="100000" kx="0" ky="0" algn="bl" rotWithShape="0" blurRad="406400" dist="152400" dir="5400000">
              <a:srgbClr val="000000">
                <a:alpha val="45000"/>
              </a:srgbClr>
            </a:outerShdw>
          </a:effectLst>
        </p:spPr>
      </p:pic>
      <p:sp>
        <p:nvSpPr>
          <p:cNvPr id="11" name="Text 8"/>
          <p:cNvSpPr/>
          <p:nvPr/>
        </p:nvSpPr>
        <p:spPr>
          <a:xfrm>
            <a:off x="812800" y="6238252"/>
            <a:ext cx="4125958"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Live product on Google Cloud · fictional demo data</a:t>
            </a:r>
            <a:endParaRPr lang="en-US" sz="1200" dirty="0"/>
          </a:p>
        </p:txBody>
      </p:sp>
      <p:sp>
        <p:nvSpPr>
          <p:cNvPr id="12" name="Text 9"/>
          <p:cNvSpPr/>
          <p:nvPr/>
        </p:nvSpPr>
        <p:spPr>
          <a:xfrm>
            <a:off x="11145498" y="6238252"/>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2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69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PRODUCT · SOURCING AND PRODUCTION PLAN</a:t>
            </a:r>
            <a:endParaRPr lang="en-US" sz="1200" dirty="0"/>
          </a:p>
        </p:txBody>
      </p:sp>
      <p:sp>
        <p:nvSpPr>
          <p:cNvPr id="3" name="Text 1"/>
          <p:cNvSpPr/>
          <p:nvPr>
            <p:ph type="title"/>
          </p:nvPr>
        </p:nvSpPr>
        <p:spPr>
          <a:xfrm>
            <a:off x="812800" y="1127696"/>
            <a:ext cx="10883393" cy="52812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6FA"/>
                </a:solidFill>
                <a:latin typeface="Space Grotesk" pitchFamily="34" charset="0"/>
                <a:ea typeface="Space Grotesk" pitchFamily="34" charset="-122"/>
                <a:cs typeface="Space Grotesk" pitchFamily="34" charset="-120"/>
              </a:rPr>
              <a:t>Find the next supplier. Re-plan the line.</a:t>
            </a:r>
            <a:endParaRPr lang="en-US" sz="3600" dirty="0"/>
          </a:p>
        </p:txBody>
      </p:sp>
      <p:pic>
        <p:nvPicPr>
          <p:cNvPr id="4" name="Image 0" descr="RippleOps Alternative Sourcing screen: five sourcing options scored 0 to 100, with one supplier blocked by a sanctions match">    </p:cNvPr>
          <p:cNvPicPr>
            <a:picLocks noChangeAspect="1"/>
          </p:cNvPicPr>
          <p:nvPr/>
        </p:nvPicPr>
        <p:blipFill>
          <a:blip r:embed="rId1"/>
          <a:srcRect l="0" r="0" t="-21" b="-21"/>
          <a:stretch/>
        </p:blipFill>
        <p:spPr>
          <a:xfrm>
            <a:off x="812800" y="1884425"/>
            <a:ext cx="5207000" cy="3650343"/>
          </a:xfrm>
          <a:prstGeom prst="roundRect">
            <a:avLst>
              <a:gd name="adj" fmla="val 2435"/>
            </a:avLst>
          </a:prstGeom>
          <a:effectLst>
            <a:outerShdw sx="100000" sy="100000" kx="0" ky="0" algn="bl" rotWithShape="0" blurRad="406400" dist="152400" dir="5400000">
              <a:srgbClr val="000000">
                <a:alpha val="45000"/>
              </a:srgbClr>
            </a:outerShdw>
          </a:effectLst>
        </p:spPr>
      </p:pic>
      <p:sp>
        <p:nvSpPr>
          <p:cNvPr id="5" name="Text 2"/>
          <p:cNvSpPr/>
          <p:nvPr/>
        </p:nvSpPr>
        <p:spPr>
          <a:xfrm>
            <a:off x="812800" y="5636363"/>
            <a:ext cx="5363210" cy="23103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7C9E0"/>
                </a:solidFill>
                <a:latin typeface="IBM Plex Sans" pitchFamily="34" charset="0"/>
                <a:ea typeface="IBM Plex Sans" pitchFamily="34" charset="-122"/>
                <a:cs typeface="IBM Plex Sans" pitchFamily="34" charset="-120"/>
              </a:rPr>
              <a:t>Every alternate supplier scored, with a sanctions block</a:t>
            </a:r>
            <a:endParaRPr lang="en-US" sz="1200" dirty="0"/>
          </a:p>
        </p:txBody>
      </p:sp>
      <p:pic>
        <p:nvPicPr>
          <p:cNvPr id="6" name="Image 1" descr="RippleOps Production Plan screen: a 13-week OR-Tools re-plan comparing fill rate, late unit-weeks and gross margin with the current schedule">    </p:cNvPr>
          <p:cNvPicPr>
            <a:picLocks noChangeAspect="1"/>
          </p:cNvPicPr>
          <p:nvPr/>
        </p:nvPicPr>
        <p:blipFill>
          <a:blip r:embed="rId2"/>
          <a:srcRect l="0" r="0" t="-21" b="-21"/>
          <a:stretch/>
        </p:blipFill>
        <p:spPr>
          <a:xfrm>
            <a:off x="6172200" y="1884425"/>
            <a:ext cx="5207000" cy="3650343"/>
          </a:xfrm>
          <a:prstGeom prst="roundRect">
            <a:avLst>
              <a:gd name="adj" fmla="val 2435"/>
            </a:avLst>
          </a:prstGeom>
          <a:effectLst>
            <a:outerShdw sx="100000" sy="100000" kx="0" ky="0" algn="bl" rotWithShape="0" blurRad="406400" dist="152400" dir="5400000">
              <a:srgbClr val="000000">
                <a:alpha val="45000"/>
              </a:srgbClr>
            </a:outerShdw>
          </a:effectLst>
        </p:spPr>
      </p:pic>
      <p:sp>
        <p:nvSpPr>
          <p:cNvPr id="7" name="Text 3"/>
          <p:cNvSpPr/>
          <p:nvPr/>
        </p:nvSpPr>
        <p:spPr>
          <a:xfrm>
            <a:off x="6172200" y="5636363"/>
            <a:ext cx="5363210" cy="23103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7C9E0"/>
                </a:solidFill>
                <a:latin typeface="IBM Plex Sans" pitchFamily="34" charset="0"/>
                <a:ea typeface="IBM Plex Sans" pitchFamily="34" charset="-122"/>
                <a:cs typeface="IBM Plex Sans" pitchFamily="34" charset="-120"/>
              </a:rPr>
              <a:t>OR-Tools re-plans 13 weeks of production; a person approves</a:t>
            </a:r>
            <a:endParaRPr lang="en-US" sz="1200" dirty="0"/>
          </a:p>
        </p:txBody>
      </p:sp>
      <p:sp>
        <p:nvSpPr>
          <p:cNvPr id="8" name="Text 4"/>
          <p:cNvSpPr/>
          <p:nvPr/>
        </p:nvSpPr>
        <p:spPr>
          <a:xfrm>
            <a:off x="812800" y="6238255"/>
            <a:ext cx="4125958"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Live product on Google Cloud · fictional demo data</a:t>
            </a:r>
            <a:endParaRPr lang="en-US" sz="1200" dirty="0"/>
          </a:p>
        </p:txBody>
      </p:sp>
      <p:sp>
        <p:nvSpPr>
          <p:cNvPr id="9" name="Text 5"/>
          <p:cNvSpPr/>
          <p:nvPr/>
        </p:nvSpPr>
        <p:spPr>
          <a:xfrm>
            <a:off x="11145498" y="6238255"/>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GEN AI IMPLEMENTATION</a:t>
            </a:r>
            <a:endParaRPr lang="en-US" sz="1200" dirty="0"/>
          </a:p>
        </p:txBody>
      </p:sp>
      <p:sp>
        <p:nvSpPr>
          <p:cNvPr id="3" name="Text 1"/>
          <p:cNvSpPr/>
          <p:nvPr>
            <p:ph type="title"/>
          </p:nvPr>
        </p:nvSpPr>
        <p:spPr>
          <a:xfrm>
            <a:off x="812800" y="1127751"/>
            <a:ext cx="10883393" cy="52829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Nine AI agents work the case for you</a:t>
            </a:r>
            <a:endParaRPr lang="en-US" sz="3600" dirty="0"/>
          </a:p>
        </p:txBody>
      </p:sp>
      <p:sp>
        <p:nvSpPr>
          <p:cNvPr id="4" name="Shape 2"/>
          <p:cNvSpPr/>
          <p:nvPr/>
        </p:nvSpPr>
        <p:spPr>
          <a:xfrm>
            <a:off x="812800" y="2780109"/>
            <a:ext cx="1905000" cy="1076892"/>
          </a:xfrm>
          <a:prstGeom prst="roundRect">
            <a:avLst>
              <a:gd name="adj" fmla="val 9435"/>
            </a:avLst>
          </a:prstGeom>
          <a:solidFill>
            <a:srgbClr val="12142B"/>
          </a:solidFill>
          <a:ln/>
        </p:spPr>
      </p:sp>
      <p:sp>
        <p:nvSpPr>
          <p:cNvPr id="5" name="Text 3"/>
          <p:cNvSpPr/>
          <p:nvPr/>
        </p:nvSpPr>
        <p:spPr>
          <a:xfrm>
            <a:off x="990600" y="2957909"/>
            <a:ext cx="160020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6FA"/>
                </a:solidFill>
                <a:latin typeface="Space Grotesk" pitchFamily="34" charset="0"/>
                <a:ea typeface="Space Grotesk" pitchFamily="34" charset="-122"/>
                <a:cs typeface="Space Grotesk" pitchFamily="34" charset="-120"/>
              </a:rPr>
              <a:t>Impact analyst</a:t>
            </a:r>
            <a:endParaRPr lang="en-US" sz="1600" dirty="0"/>
          </a:p>
        </p:txBody>
      </p:sp>
      <p:sp>
        <p:nvSpPr>
          <p:cNvPr id="6" name="Text 4"/>
          <p:cNvSpPr/>
          <p:nvPr/>
        </p:nvSpPr>
        <p:spPr>
          <a:xfrm>
            <a:off x="990600" y="3252508"/>
            <a:ext cx="1600200"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9E0"/>
                </a:solidFill>
                <a:latin typeface="IBM Plex Sans" pitchFamily="34" charset="0"/>
                <a:ea typeface="IBM Plex Sans" pitchFamily="34" charset="-122"/>
                <a:cs typeface="IBM Plex Sans" pitchFamily="34" charset="-120"/>
              </a:rPr>
              <a:t>Traces the BOM and sizes the exposure</a:t>
            </a:r>
            <a:endParaRPr lang="en-US" sz="1200" dirty="0"/>
          </a:p>
        </p:txBody>
      </p:sp>
      <p:pic>
        <p:nvPicPr>
          <p:cNvPr id="7" name="Image 0" descr="connector">    </p:cNvPr>
          <p:cNvPicPr>
            <a:picLocks noChangeAspect="1"/>
          </p:cNvPicPr>
          <p:nvPr/>
        </p:nvPicPr>
        <p:blipFill>
          <a:blip r:embed="rId1"/>
          <a:srcRect l="0" r="0" t="0" b="0"/>
          <a:stretch/>
        </p:blipFill>
        <p:spPr>
          <a:xfrm>
            <a:off x="2717800" y="3267757"/>
            <a:ext cx="355600" cy="101600"/>
          </a:xfrm>
          <a:prstGeom prst="rect">
            <a:avLst/>
          </a:prstGeom>
        </p:spPr>
      </p:pic>
      <p:sp>
        <p:nvSpPr>
          <p:cNvPr id="8" name="Text 5"/>
          <p:cNvSpPr/>
          <p:nvPr/>
        </p:nvSpPr>
        <p:spPr>
          <a:xfrm>
            <a:off x="3073400" y="1986248"/>
            <a:ext cx="6226556"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TWO TEAMS IN PARALLEL</a:t>
            </a:r>
            <a:endParaRPr lang="en-US" sz="1200" dirty="0"/>
          </a:p>
        </p:txBody>
      </p:sp>
      <p:sp>
        <p:nvSpPr>
          <p:cNvPr id="9" name="Shape 6"/>
          <p:cNvSpPr/>
          <p:nvPr/>
        </p:nvSpPr>
        <p:spPr>
          <a:xfrm>
            <a:off x="3079750" y="2332949"/>
            <a:ext cx="6032500" cy="1085963"/>
          </a:xfrm>
          <a:prstGeom prst="roundRect">
            <a:avLst>
              <a:gd name="adj" fmla="val 8771"/>
            </a:avLst>
          </a:prstGeom>
          <a:solidFill>
            <a:srgbClr val="FDFDFE"/>
          </a:solidFill>
          <a:ln w="12700">
            <a:solidFill>
              <a:srgbClr val="C7C9E0"/>
            </a:solidFill>
            <a:prstDash val="solid"/>
          </a:ln>
        </p:spPr>
      </p:sp>
      <p:sp>
        <p:nvSpPr>
          <p:cNvPr id="10" name="Text 7"/>
          <p:cNvSpPr/>
          <p:nvPr/>
        </p:nvSpPr>
        <p:spPr>
          <a:xfrm>
            <a:off x="3262086" y="2515282"/>
            <a:ext cx="58378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2B"/>
                </a:solidFill>
                <a:latin typeface="Space Grotesk" pitchFamily="34" charset="0"/>
                <a:ea typeface="Space Grotesk" pitchFamily="34" charset="-122"/>
                <a:cs typeface="Space Grotesk" pitchFamily="34" charset="-120"/>
              </a:rPr>
              <a:t>Sourcing team · 5 agents</a:t>
            </a:r>
            <a:endParaRPr lang="en-US" sz="1600" dirty="0"/>
          </a:p>
        </p:txBody>
      </p:sp>
      <p:sp>
        <p:nvSpPr>
          <p:cNvPr id="11" name="Text 8"/>
          <p:cNvSpPr/>
          <p:nvPr/>
        </p:nvSpPr>
        <p:spPr>
          <a:xfrm>
            <a:off x="3262086" y="2809875"/>
            <a:ext cx="5837864"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Scout finds options → three due-diligence agents check performance, sanctions and supplier news in parallel → evaluator scores each supplier</a:t>
            </a:r>
            <a:endParaRPr lang="en-US" sz="1200" dirty="0"/>
          </a:p>
        </p:txBody>
      </p:sp>
      <p:sp>
        <p:nvSpPr>
          <p:cNvPr id="12" name="Shape 9"/>
          <p:cNvSpPr/>
          <p:nvPr/>
        </p:nvSpPr>
        <p:spPr>
          <a:xfrm>
            <a:off x="3079750" y="3558611"/>
            <a:ext cx="6032500" cy="1085963"/>
          </a:xfrm>
          <a:prstGeom prst="roundRect">
            <a:avLst>
              <a:gd name="adj" fmla="val 8771"/>
            </a:avLst>
          </a:prstGeom>
          <a:solidFill>
            <a:srgbClr val="FDFDFE"/>
          </a:solidFill>
          <a:ln w="12700">
            <a:solidFill>
              <a:srgbClr val="C7C9E0"/>
            </a:solidFill>
            <a:prstDash val="solid"/>
          </a:ln>
        </p:spPr>
      </p:sp>
      <p:sp>
        <p:nvSpPr>
          <p:cNvPr id="13" name="Text 10"/>
          <p:cNvSpPr/>
          <p:nvPr/>
        </p:nvSpPr>
        <p:spPr>
          <a:xfrm>
            <a:off x="3262086" y="3740944"/>
            <a:ext cx="583786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2B"/>
                </a:solidFill>
                <a:latin typeface="Space Grotesk" pitchFamily="34" charset="0"/>
                <a:ea typeface="Space Grotesk" pitchFamily="34" charset="-122"/>
                <a:cs typeface="Space Grotesk" pitchFamily="34" charset="-120"/>
              </a:rPr>
              <a:t>Planning team · 2 agents</a:t>
            </a:r>
            <a:endParaRPr lang="en-US" sz="1600" dirty="0"/>
          </a:p>
        </p:txBody>
      </p:sp>
      <p:sp>
        <p:nvSpPr>
          <p:cNvPr id="14" name="Text 11"/>
          <p:cNvSpPr/>
          <p:nvPr/>
        </p:nvSpPr>
        <p:spPr>
          <a:xfrm>
            <a:off x="3262086" y="4035543"/>
            <a:ext cx="5837864"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Demand planner forecasts with TimesFM → production planner re-plans with OR-Tools and proposes a plan</a:t>
            </a:r>
            <a:endParaRPr lang="en-US" sz="1200" dirty="0"/>
          </a:p>
        </p:txBody>
      </p:sp>
      <p:pic>
        <p:nvPicPr>
          <p:cNvPr id="15" name="Image 1" descr="connector">    </p:cNvPr>
          <p:cNvPicPr>
            <a:picLocks noChangeAspect="1"/>
          </p:cNvPicPr>
          <p:nvPr/>
        </p:nvPicPr>
        <p:blipFill>
          <a:blip r:embed="rId2"/>
          <a:srcRect l="0" r="0" t="0" b="0"/>
          <a:stretch/>
        </p:blipFill>
        <p:spPr>
          <a:xfrm>
            <a:off x="9118601" y="3267757"/>
            <a:ext cx="355600" cy="101600"/>
          </a:xfrm>
          <a:prstGeom prst="rect">
            <a:avLst/>
          </a:prstGeom>
        </p:spPr>
      </p:pic>
      <p:sp>
        <p:nvSpPr>
          <p:cNvPr id="16" name="Shape 12"/>
          <p:cNvSpPr/>
          <p:nvPr/>
        </p:nvSpPr>
        <p:spPr>
          <a:xfrm>
            <a:off x="9474201" y="2658213"/>
            <a:ext cx="1905000" cy="1320687"/>
          </a:xfrm>
          <a:prstGeom prst="roundRect">
            <a:avLst>
              <a:gd name="adj" fmla="val 7693"/>
            </a:avLst>
          </a:prstGeom>
          <a:solidFill>
            <a:srgbClr val="12142B"/>
          </a:solidFill>
          <a:ln/>
        </p:spPr>
      </p:sp>
      <p:sp>
        <p:nvSpPr>
          <p:cNvPr id="17" name="Text 13"/>
          <p:cNvSpPr/>
          <p:nvPr/>
        </p:nvSpPr>
        <p:spPr>
          <a:xfrm>
            <a:off x="9652001" y="2836013"/>
            <a:ext cx="1600200" cy="5129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6FA"/>
                </a:solidFill>
                <a:latin typeface="Space Grotesk" pitchFamily="34" charset="0"/>
                <a:ea typeface="Space Grotesk" pitchFamily="34" charset="-122"/>
                <a:cs typeface="Space Grotesk" pitchFamily="34" charset="-120"/>
              </a:rPr>
              <a:t>Response coordinator</a:t>
            </a:r>
            <a:endParaRPr lang="en-US" sz="1600" dirty="0"/>
          </a:p>
        </p:txBody>
      </p:sp>
      <p:sp>
        <p:nvSpPr>
          <p:cNvPr id="18" name="Text 14"/>
          <p:cNvSpPr/>
          <p:nvPr/>
        </p:nvSpPr>
        <p:spPr>
          <a:xfrm>
            <a:off x="9652001" y="3374405"/>
            <a:ext cx="1600200"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9E0"/>
                </a:solidFill>
                <a:latin typeface="IBM Plex Sans" pitchFamily="34" charset="0"/>
                <a:ea typeface="IBM Plex Sans" pitchFamily="34" charset="-122"/>
                <a:cs typeface="IBM Plex Sans" pitchFamily="34" charset="-120"/>
              </a:rPr>
              <a:t>Writes the brief and the action plan</a:t>
            </a:r>
            <a:endParaRPr lang="en-US" sz="1200" dirty="0"/>
          </a:p>
        </p:txBody>
      </p:sp>
      <p:sp>
        <p:nvSpPr>
          <p:cNvPr id="19" name="Shape 15"/>
          <p:cNvSpPr/>
          <p:nvPr/>
        </p:nvSpPr>
        <p:spPr>
          <a:xfrm>
            <a:off x="812800" y="5016047"/>
            <a:ext cx="3420496" cy="0"/>
          </a:xfrm>
          <a:prstGeom prst="line">
            <a:avLst/>
          </a:prstGeom>
          <a:noFill/>
          <a:ln w="19050">
            <a:solidFill>
              <a:srgbClr val="4F46E5"/>
            </a:solidFill>
            <a:prstDash val="solid"/>
          </a:ln>
        </p:spPr>
      </p:sp>
      <p:sp>
        <p:nvSpPr>
          <p:cNvPr id="20" name="Text 16"/>
          <p:cNvSpPr/>
          <p:nvPr/>
        </p:nvSpPr>
        <p:spPr>
          <a:xfrm>
            <a:off x="812800" y="5126265"/>
            <a:ext cx="3523111"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Sequential and parallel agents share findings through ADK session state</a:t>
            </a:r>
            <a:endParaRPr lang="en-US" sz="1200" dirty="0"/>
          </a:p>
        </p:txBody>
      </p:sp>
      <p:sp>
        <p:nvSpPr>
          <p:cNvPr id="21" name="Shape 17"/>
          <p:cNvSpPr/>
          <p:nvPr/>
        </p:nvSpPr>
        <p:spPr>
          <a:xfrm>
            <a:off x="4385696" y="5016047"/>
            <a:ext cx="3420552" cy="0"/>
          </a:xfrm>
          <a:prstGeom prst="line">
            <a:avLst/>
          </a:prstGeom>
          <a:noFill/>
          <a:ln w="19050">
            <a:solidFill>
              <a:srgbClr val="4F46E5"/>
            </a:solidFill>
            <a:prstDash val="solid"/>
          </a:ln>
        </p:spPr>
      </p:sp>
      <p:sp>
        <p:nvSpPr>
          <p:cNvPr id="22" name="Text 18"/>
          <p:cNvSpPr/>
          <p:nvPr/>
        </p:nvSpPr>
        <p:spPr>
          <a:xfrm>
            <a:off x="4385696" y="5126265"/>
            <a:ext cx="352316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Every agent and tool step streams live to the UI</a:t>
            </a:r>
            <a:endParaRPr lang="en-US" sz="1200" dirty="0"/>
          </a:p>
        </p:txBody>
      </p:sp>
      <p:sp>
        <p:nvSpPr>
          <p:cNvPr id="23" name="Shape 19"/>
          <p:cNvSpPr/>
          <p:nvPr/>
        </p:nvSpPr>
        <p:spPr>
          <a:xfrm>
            <a:off x="7958648" y="5016047"/>
            <a:ext cx="3420552" cy="0"/>
          </a:xfrm>
          <a:prstGeom prst="line">
            <a:avLst/>
          </a:prstGeom>
          <a:noFill/>
          <a:ln w="19050">
            <a:solidFill>
              <a:srgbClr val="4F46E5"/>
            </a:solidFill>
            <a:prstDash val="solid"/>
          </a:ln>
        </p:spPr>
      </p:sp>
      <p:sp>
        <p:nvSpPr>
          <p:cNvPr id="24" name="Text 20"/>
          <p:cNvSpPr/>
          <p:nvPr/>
        </p:nvSpPr>
        <p:spPr>
          <a:xfrm>
            <a:off x="7958648" y="5126265"/>
            <a:ext cx="352316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The production plan is only proposed: a person approves it</a:t>
            </a:r>
            <a:endParaRPr lang="en-US" sz="1200" dirty="0"/>
          </a:p>
        </p:txBody>
      </p:sp>
      <p:sp>
        <p:nvSpPr>
          <p:cNvPr id="25" name="Text 21"/>
          <p:cNvSpPr/>
          <p:nvPr/>
        </p:nvSpPr>
        <p:spPr>
          <a:xfrm>
            <a:off x="812800" y="6238255"/>
            <a:ext cx="5093222"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Gemini 2.5 Flash on Vertex AI · Google Agent Development Kit</a:t>
            </a:r>
            <a:endParaRPr lang="en-US" sz="1200" dirty="0"/>
          </a:p>
        </p:txBody>
      </p:sp>
      <p:sp>
        <p:nvSpPr>
          <p:cNvPr id="26" name="Text 22"/>
          <p:cNvSpPr/>
          <p:nvPr/>
        </p:nvSpPr>
        <p:spPr>
          <a:xfrm>
            <a:off x="11145498" y="6238255"/>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42B"/>
        </a:solidFill>
      </p:bgPr>
    </p:bg>
    <p:spTree>
      <p:nvGrpSpPr>
        <p:cNvPr id="1" name=""/>
        <p:cNvGrpSpPr/>
        <p:nvPr/>
      </p:nvGrpSpPr>
      <p:grpSpPr>
        <a:xfrm>
          <a:off x="0" y="0"/>
          <a:ext cx="0" cy="0"/>
          <a:chOff x="0" y="0"/>
          <a:chExt cx="0" cy="0"/>
        </a:xfrm>
      </p:grpSpPr>
      <p:sp>
        <p:nvSpPr>
          <p:cNvPr id="2" name="Text 0"/>
          <p:cNvSpPr/>
          <p:nvPr/>
        </p:nvSpPr>
        <p:spPr>
          <a:xfrm>
            <a:off x="812800" y="812806"/>
            <a:ext cx="10883393" cy="23869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PRODUCT · AGENT BRIEF AND RESPONSE PLAN</a:t>
            </a:r>
            <a:endParaRPr lang="en-US" sz="1200" dirty="0"/>
          </a:p>
        </p:txBody>
      </p:sp>
      <p:sp>
        <p:nvSpPr>
          <p:cNvPr id="3" name="Text 1"/>
          <p:cNvSpPr/>
          <p:nvPr>
            <p:ph type="title"/>
          </p:nvPr>
        </p:nvSpPr>
        <p:spPr>
          <a:xfrm>
            <a:off x="812800" y="1127696"/>
            <a:ext cx="10883393" cy="52812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6FA"/>
                </a:solidFill>
                <a:latin typeface="Space Grotesk" pitchFamily="34" charset="0"/>
                <a:ea typeface="Space Grotesk" pitchFamily="34" charset="-122"/>
                <a:cs typeface="Space Grotesk" pitchFamily="34" charset="-120"/>
              </a:rPr>
              <a:t>Every team gets its next move</a:t>
            </a:r>
            <a:endParaRPr lang="en-US" sz="3600" dirty="0"/>
          </a:p>
        </p:txBody>
      </p:sp>
      <p:pic>
        <p:nvPicPr>
          <p:cNvPr id="4" name="Image 0" descr="RippleOps Agent Activity screen: 9 of 9 Google ADK agents finished, with an executive brief and each agent's tool calls">    </p:cNvPr>
          <p:cNvPicPr>
            <a:picLocks noChangeAspect="1"/>
          </p:cNvPicPr>
          <p:nvPr/>
        </p:nvPicPr>
        <p:blipFill>
          <a:blip r:embed="rId1"/>
          <a:srcRect l="0" r="0" t="-21" b="-21"/>
          <a:stretch/>
        </p:blipFill>
        <p:spPr>
          <a:xfrm>
            <a:off x="812800" y="1884425"/>
            <a:ext cx="5207000" cy="3650343"/>
          </a:xfrm>
          <a:prstGeom prst="roundRect">
            <a:avLst>
              <a:gd name="adj" fmla="val 2435"/>
            </a:avLst>
          </a:prstGeom>
          <a:effectLst>
            <a:outerShdw sx="100000" sy="100000" kx="0" ky="0" algn="bl" rotWithShape="0" blurRad="406400" dist="152400" dir="5400000">
              <a:srgbClr val="000000">
                <a:alpha val="45000"/>
              </a:srgbClr>
            </a:outerShdw>
          </a:effectLst>
        </p:spPr>
      </p:pic>
      <p:sp>
        <p:nvSpPr>
          <p:cNvPr id="5" name="Text 2"/>
          <p:cNvSpPr/>
          <p:nvPr/>
        </p:nvSpPr>
        <p:spPr>
          <a:xfrm>
            <a:off x="812800" y="5636363"/>
            <a:ext cx="5363210" cy="23103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7C9E0"/>
                </a:solidFill>
                <a:latin typeface="IBM Plex Sans" pitchFamily="34" charset="0"/>
                <a:ea typeface="IBM Plex Sans" pitchFamily="34" charset="-122"/>
                <a:cs typeface="IBM Plex Sans" pitchFamily="34" charset="-120"/>
              </a:rPr>
              <a:t>Nine agents deliver one executive brief, figures verified</a:t>
            </a:r>
            <a:endParaRPr lang="en-US" sz="1200" dirty="0"/>
          </a:p>
        </p:txBody>
      </p:sp>
      <p:pic>
        <p:nvPicPr>
          <p:cNvPr id="6" name="Image 1" descr="RippleOps Recommended Response screen: prioritized actions for procurement and engineering, each citing calculated facts">    </p:cNvPr>
          <p:cNvPicPr>
            <a:picLocks noChangeAspect="1"/>
          </p:cNvPicPr>
          <p:nvPr/>
        </p:nvPicPr>
        <p:blipFill>
          <a:blip r:embed="rId2"/>
          <a:srcRect l="0" r="0" t="-21" b="-21"/>
          <a:stretch/>
        </p:blipFill>
        <p:spPr>
          <a:xfrm>
            <a:off x="6172200" y="1884425"/>
            <a:ext cx="5207000" cy="3650343"/>
          </a:xfrm>
          <a:prstGeom prst="roundRect">
            <a:avLst>
              <a:gd name="adj" fmla="val 2435"/>
            </a:avLst>
          </a:prstGeom>
          <a:effectLst>
            <a:outerShdw sx="100000" sy="100000" kx="0" ky="0" algn="bl" rotWithShape="0" blurRad="406400" dist="152400" dir="5400000">
              <a:srgbClr val="000000">
                <a:alpha val="45000"/>
              </a:srgbClr>
            </a:outerShdw>
          </a:effectLst>
        </p:spPr>
      </p:pic>
      <p:sp>
        <p:nvSpPr>
          <p:cNvPr id="7" name="Text 3"/>
          <p:cNvSpPr/>
          <p:nvPr/>
        </p:nvSpPr>
        <p:spPr>
          <a:xfrm>
            <a:off x="6172200" y="5636363"/>
            <a:ext cx="5363210" cy="23103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7C9E0"/>
                </a:solidFill>
                <a:latin typeface="IBM Plex Sans" pitchFamily="34" charset="0"/>
                <a:ea typeface="IBM Plex Sans" pitchFamily="34" charset="-122"/>
                <a:cs typeface="IBM Plex Sans" pitchFamily="34" charset="-120"/>
              </a:rPr>
              <a:t>Actions by department, each citing the facts behind it</a:t>
            </a:r>
            <a:endParaRPr lang="en-US" sz="1200" dirty="0"/>
          </a:p>
        </p:txBody>
      </p:sp>
      <p:sp>
        <p:nvSpPr>
          <p:cNvPr id="8" name="Text 4"/>
          <p:cNvSpPr/>
          <p:nvPr/>
        </p:nvSpPr>
        <p:spPr>
          <a:xfrm>
            <a:off x="812800" y="6238255"/>
            <a:ext cx="4125958"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Live product on Google Cloud · fictional demo data</a:t>
            </a:r>
            <a:endParaRPr lang="en-US" sz="1200" dirty="0"/>
          </a:p>
        </p:txBody>
      </p:sp>
      <p:sp>
        <p:nvSpPr>
          <p:cNvPr id="9" name="Text 5"/>
          <p:cNvSpPr/>
          <p:nvPr/>
        </p:nvSpPr>
        <p:spPr>
          <a:xfrm>
            <a:off x="11145498" y="6238255"/>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DBC"/>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127745"/>
            <a:ext cx="11379200" cy="52829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Built end to end on Google Cloud and Google AI</a:t>
            </a:r>
            <a:endParaRPr lang="en-US" sz="3600" dirty="0"/>
          </a:p>
        </p:txBody>
      </p:sp>
      <p:sp>
        <p:nvSpPr>
          <p:cNvPr id="4" name="Shape 2"/>
          <p:cNvSpPr/>
          <p:nvPr/>
        </p:nvSpPr>
        <p:spPr>
          <a:xfrm>
            <a:off x="815975" y="2574466"/>
            <a:ext cx="1263650" cy="1540102"/>
          </a:xfrm>
          <a:prstGeom prst="roundRect">
            <a:avLst>
              <a:gd name="adj" fmla="val 7789"/>
            </a:avLst>
          </a:prstGeom>
          <a:solidFill>
            <a:srgbClr val="FDFDFE"/>
          </a:solidFill>
          <a:ln w="6350">
            <a:solidFill>
              <a:srgbClr val="DCDDEA"/>
            </a:solidFill>
            <a:prstDash val="solid"/>
          </a:ln>
        </p:spPr>
      </p:sp>
      <p:pic>
        <p:nvPicPr>
          <p:cNvPr id="5" name="Image 0" descr="Users">    </p:cNvPr>
          <p:cNvPicPr>
            <a:picLocks noChangeAspect="1"/>
          </p:cNvPicPr>
          <p:nvPr/>
        </p:nvPicPr>
        <p:blipFill>
          <a:blip r:embed="rId1"/>
          <a:srcRect l="0" r="0" t="0" b="0"/>
          <a:stretch/>
        </p:blipFill>
        <p:spPr>
          <a:xfrm>
            <a:off x="1244600" y="2752725"/>
            <a:ext cx="406400" cy="406400"/>
          </a:xfrm>
          <a:prstGeom prst="rect">
            <a:avLst/>
          </a:prstGeom>
        </p:spPr>
      </p:pic>
      <p:sp>
        <p:nvSpPr>
          <p:cNvPr id="6" name="Text 3"/>
          <p:cNvSpPr/>
          <p:nvPr/>
        </p:nvSpPr>
        <p:spPr>
          <a:xfrm>
            <a:off x="892629" y="3235325"/>
            <a:ext cx="1110343" cy="452097"/>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Business teams</a:t>
            </a:r>
            <a:endParaRPr lang="en-US" sz="1200" dirty="0"/>
          </a:p>
        </p:txBody>
      </p:sp>
      <p:sp>
        <p:nvSpPr>
          <p:cNvPr id="7" name="Text 4"/>
          <p:cNvSpPr/>
          <p:nvPr/>
        </p:nvSpPr>
        <p:spPr>
          <a:xfrm>
            <a:off x="1105858" y="3738221"/>
            <a:ext cx="683827" cy="22349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Browser</a:t>
            </a:r>
            <a:endParaRPr lang="en-US" sz="1200" dirty="0"/>
          </a:p>
        </p:txBody>
      </p:sp>
      <p:pic>
        <p:nvPicPr>
          <p:cNvPr id="8" name="Image 1" descr="connector">    </p:cNvPr>
          <p:cNvPicPr>
            <a:picLocks noChangeAspect="1"/>
          </p:cNvPicPr>
          <p:nvPr/>
        </p:nvPicPr>
        <p:blipFill>
          <a:blip r:embed="rId2"/>
          <a:srcRect l="0" r="0" t="0" b="0"/>
          <a:stretch/>
        </p:blipFill>
        <p:spPr>
          <a:xfrm>
            <a:off x="2082800" y="3293721"/>
            <a:ext cx="279400" cy="101600"/>
          </a:xfrm>
          <a:prstGeom prst="rect">
            <a:avLst/>
          </a:prstGeom>
        </p:spPr>
      </p:pic>
      <p:sp>
        <p:nvSpPr>
          <p:cNvPr id="9" name="Shape 5"/>
          <p:cNvSpPr/>
          <p:nvPr/>
        </p:nvSpPr>
        <p:spPr>
          <a:xfrm>
            <a:off x="2365375" y="2655770"/>
            <a:ext cx="1581150" cy="1377553"/>
          </a:xfrm>
          <a:prstGeom prst="roundRect">
            <a:avLst>
              <a:gd name="adj" fmla="val 7145"/>
            </a:avLst>
          </a:prstGeom>
          <a:solidFill>
            <a:srgbClr val="FDFDFE"/>
          </a:solidFill>
          <a:ln w="6350">
            <a:solidFill>
              <a:srgbClr val="DCDDEA"/>
            </a:solidFill>
            <a:prstDash val="solid"/>
          </a:ln>
        </p:spPr>
      </p:sp>
      <p:pic>
        <p:nvPicPr>
          <p:cNvPr id="10" name="Image 2" descr="Cloud Run icon">    </p:cNvPr>
          <p:cNvPicPr>
            <a:picLocks noChangeAspect="1"/>
          </p:cNvPicPr>
          <p:nvPr/>
        </p:nvPicPr>
        <p:blipFill>
          <a:blip r:embed="rId3"/>
          <a:srcRect l="0" r="0" t="0" b="0"/>
          <a:stretch/>
        </p:blipFill>
        <p:spPr>
          <a:xfrm>
            <a:off x="2927350" y="2834022"/>
            <a:ext cx="457200" cy="457200"/>
          </a:xfrm>
          <a:prstGeom prst="rect">
            <a:avLst/>
          </a:prstGeom>
        </p:spPr>
      </p:pic>
      <p:sp>
        <p:nvSpPr>
          <p:cNvPr id="11" name="Text 6"/>
          <p:cNvSpPr/>
          <p:nvPr/>
        </p:nvSpPr>
        <p:spPr>
          <a:xfrm>
            <a:off x="2720391" y="3367422"/>
            <a:ext cx="871061" cy="238749"/>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Cloud Run</a:t>
            </a:r>
            <a:endParaRPr lang="en-US" sz="1200" dirty="0"/>
          </a:p>
        </p:txBody>
      </p:sp>
      <p:sp>
        <p:nvSpPr>
          <p:cNvPr id="12" name="Text 7"/>
          <p:cNvSpPr/>
          <p:nvPr/>
        </p:nvSpPr>
        <p:spPr>
          <a:xfrm>
            <a:off x="2500364" y="3656974"/>
            <a:ext cx="1311116" cy="22349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Next.js web app</a:t>
            </a:r>
            <a:endParaRPr lang="en-US" sz="1200" dirty="0"/>
          </a:p>
        </p:txBody>
      </p:sp>
      <p:pic>
        <p:nvPicPr>
          <p:cNvPr id="13" name="Image 3" descr="connector">    </p:cNvPr>
          <p:cNvPicPr>
            <a:picLocks noChangeAspect="1"/>
          </p:cNvPicPr>
          <p:nvPr/>
        </p:nvPicPr>
        <p:blipFill>
          <a:blip r:embed="rId4"/>
          <a:srcRect l="0" r="0" t="0" b="0"/>
          <a:stretch/>
        </p:blipFill>
        <p:spPr>
          <a:xfrm>
            <a:off x="3949700" y="3293721"/>
            <a:ext cx="279400" cy="101600"/>
          </a:xfrm>
          <a:prstGeom prst="rect">
            <a:avLst/>
          </a:prstGeom>
        </p:spPr>
      </p:pic>
      <p:sp>
        <p:nvSpPr>
          <p:cNvPr id="14" name="Shape 8"/>
          <p:cNvSpPr/>
          <p:nvPr/>
        </p:nvSpPr>
        <p:spPr>
          <a:xfrm>
            <a:off x="4235450" y="1941792"/>
            <a:ext cx="3670300" cy="2805510"/>
          </a:xfrm>
          <a:prstGeom prst="roundRect">
            <a:avLst>
              <a:gd name="adj" fmla="val 3848"/>
            </a:avLst>
          </a:prstGeom>
          <a:solidFill>
            <a:srgbClr val="ECECF5"/>
          </a:solidFill>
          <a:ln w="12700">
            <a:solidFill>
              <a:srgbClr val="4F46E5"/>
            </a:solidFill>
            <a:prstDash val="solid"/>
          </a:ln>
        </p:spPr>
      </p:sp>
      <p:pic>
        <p:nvPicPr>
          <p:cNvPr id="15" name="Image 4" descr="Cloud Run icon">    </p:cNvPr>
          <p:cNvPicPr>
            <a:picLocks noChangeAspect="1"/>
          </p:cNvPicPr>
          <p:nvPr/>
        </p:nvPicPr>
        <p:blipFill>
          <a:blip r:embed="rId5"/>
          <a:srcRect l="0" r="0" t="0" b="0"/>
          <a:stretch/>
        </p:blipFill>
        <p:spPr>
          <a:xfrm>
            <a:off x="4392386" y="2098731"/>
            <a:ext cx="304800" cy="304800"/>
          </a:xfrm>
          <a:prstGeom prst="rect">
            <a:avLst/>
          </a:prstGeom>
        </p:spPr>
      </p:pic>
      <p:sp>
        <p:nvSpPr>
          <p:cNvPr id="16" name="Text 9"/>
          <p:cNvSpPr/>
          <p:nvPr/>
        </p:nvSpPr>
        <p:spPr>
          <a:xfrm>
            <a:off x="4798786" y="2144427"/>
            <a:ext cx="2627948"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API SERVICE · CLOUD RUN</a:t>
            </a:r>
            <a:endParaRPr lang="en-US" sz="1200" dirty="0"/>
          </a:p>
        </p:txBody>
      </p:sp>
      <p:sp>
        <p:nvSpPr>
          <p:cNvPr id="17" name="Shape 10"/>
          <p:cNvSpPr/>
          <p:nvPr/>
        </p:nvSpPr>
        <p:spPr>
          <a:xfrm>
            <a:off x="4392386" y="2505131"/>
            <a:ext cx="3356429" cy="627346"/>
          </a:xfrm>
          <a:prstGeom prst="roundRect">
            <a:avLst>
              <a:gd name="adj" fmla="val 12146"/>
            </a:avLst>
          </a:prstGeom>
          <a:solidFill>
            <a:srgbClr val="FDFDFE"/>
          </a:solidFill>
          <a:ln/>
        </p:spPr>
      </p:sp>
      <p:pic>
        <p:nvPicPr>
          <p:cNvPr id="18" name="Image 5" descr="Agent Development Kit logo">    </p:cNvPr>
          <p:cNvPicPr>
            <a:picLocks noChangeAspect="1"/>
          </p:cNvPicPr>
          <p:nvPr/>
        </p:nvPicPr>
        <p:blipFill>
          <a:blip r:embed="rId6"/>
          <a:srcRect l="0" r="0" t="0" b="0"/>
          <a:stretch/>
        </p:blipFill>
        <p:spPr>
          <a:xfrm>
            <a:off x="4519386" y="2615574"/>
            <a:ext cx="406400" cy="406400"/>
          </a:xfrm>
          <a:prstGeom prst="rect">
            <a:avLst/>
          </a:prstGeom>
        </p:spPr>
      </p:pic>
      <p:sp>
        <p:nvSpPr>
          <p:cNvPr id="19" name="Text 11"/>
          <p:cNvSpPr/>
          <p:nvPr/>
        </p:nvSpPr>
        <p:spPr>
          <a:xfrm>
            <a:off x="5052786" y="2606731"/>
            <a:ext cx="26461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Google ADK</a:t>
            </a:r>
            <a:endParaRPr lang="en-US" sz="1200" dirty="0"/>
          </a:p>
        </p:txBody>
      </p:sp>
      <p:sp>
        <p:nvSpPr>
          <p:cNvPr id="20" name="Text 12"/>
          <p:cNvSpPr/>
          <p:nvPr/>
        </p:nvSpPr>
        <p:spPr>
          <a:xfrm>
            <a:off x="5052786" y="2832776"/>
            <a:ext cx="2646100"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9-agent workflow, FastAPI</a:t>
            </a:r>
            <a:endParaRPr lang="en-US" sz="1200" dirty="0"/>
          </a:p>
        </p:txBody>
      </p:sp>
      <p:sp>
        <p:nvSpPr>
          <p:cNvPr id="21" name="Shape 13"/>
          <p:cNvSpPr/>
          <p:nvPr/>
        </p:nvSpPr>
        <p:spPr>
          <a:xfrm>
            <a:off x="4392386" y="3234072"/>
            <a:ext cx="3356429" cy="627346"/>
          </a:xfrm>
          <a:prstGeom prst="roundRect">
            <a:avLst>
              <a:gd name="adj" fmla="val 12146"/>
            </a:avLst>
          </a:prstGeom>
          <a:solidFill>
            <a:srgbClr val="FDFDFE"/>
          </a:solidFill>
          <a:ln/>
        </p:spPr>
      </p:sp>
      <p:pic>
        <p:nvPicPr>
          <p:cNvPr id="22" name="Image 6" descr="OR-Tools logo">    </p:cNvPr>
          <p:cNvPicPr>
            <a:picLocks noChangeAspect="1"/>
          </p:cNvPicPr>
          <p:nvPr/>
        </p:nvPicPr>
        <p:blipFill>
          <a:blip r:embed="rId7"/>
          <a:srcRect l="0" r="0" t="0" b="0"/>
          <a:stretch/>
        </p:blipFill>
        <p:spPr>
          <a:xfrm>
            <a:off x="4519386" y="3344521"/>
            <a:ext cx="406400" cy="406400"/>
          </a:xfrm>
          <a:prstGeom prst="rect">
            <a:avLst/>
          </a:prstGeom>
        </p:spPr>
      </p:pic>
      <p:sp>
        <p:nvSpPr>
          <p:cNvPr id="23" name="Text 14"/>
          <p:cNvSpPr/>
          <p:nvPr/>
        </p:nvSpPr>
        <p:spPr>
          <a:xfrm>
            <a:off x="5052786" y="3335672"/>
            <a:ext cx="26461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Google OR-Tools</a:t>
            </a:r>
            <a:endParaRPr lang="en-US" sz="1200" dirty="0"/>
          </a:p>
        </p:txBody>
      </p:sp>
      <p:sp>
        <p:nvSpPr>
          <p:cNvPr id="24" name="Text 15"/>
          <p:cNvSpPr/>
          <p:nvPr/>
        </p:nvSpPr>
        <p:spPr>
          <a:xfrm>
            <a:off x="5052786" y="3561724"/>
            <a:ext cx="2646100"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CP-SAT production re-plan</a:t>
            </a:r>
            <a:endParaRPr lang="en-US" sz="1200" dirty="0"/>
          </a:p>
        </p:txBody>
      </p:sp>
      <p:sp>
        <p:nvSpPr>
          <p:cNvPr id="25" name="Shape 16"/>
          <p:cNvSpPr/>
          <p:nvPr/>
        </p:nvSpPr>
        <p:spPr>
          <a:xfrm>
            <a:off x="4392386" y="3963020"/>
            <a:ext cx="3356429" cy="627346"/>
          </a:xfrm>
          <a:prstGeom prst="roundRect">
            <a:avLst>
              <a:gd name="adj" fmla="val 12146"/>
            </a:avLst>
          </a:prstGeom>
          <a:solidFill>
            <a:srgbClr val="FDFDFE"/>
          </a:solidFill>
          <a:ln/>
        </p:spPr>
      </p:sp>
      <p:pic>
        <p:nvPicPr>
          <p:cNvPr id="26" name="Image 7" descr="Settings">    </p:cNvPr>
          <p:cNvPicPr>
            <a:picLocks noChangeAspect="1"/>
          </p:cNvPicPr>
          <p:nvPr/>
        </p:nvPicPr>
        <p:blipFill>
          <a:blip r:embed="rId8"/>
          <a:srcRect l="0" r="0" t="0" b="0"/>
          <a:stretch/>
        </p:blipFill>
        <p:spPr>
          <a:xfrm>
            <a:off x="4519386" y="4073463"/>
            <a:ext cx="406400" cy="406400"/>
          </a:xfrm>
          <a:prstGeom prst="rect">
            <a:avLst/>
          </a:prstGeom>
        </p:spPr>
      </p:pic>
      <p:sp>
        <p:nvSpPr>
          <p:cNvPr id="27" name="Text 17"/>
          <p:cNvSpPr/>
          <p:nvPr/>
        </p:nvSpPr>
        <p:spPr>
          <a:xfrm>
            <a:off x="5052786" y="4064620"/>
            <a:ext cx="264610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Deterministic engines</a:t>
            </a:r>
            <a:endParaRPr lang="en-US" sz="1200" dirty="0"/>
          </a:p>
        </p:txBody>
      </p:sp>
      <p:sp>
        <p:nvSpPr>
          <p:cNvPr id="28" name="Text 18"/>
          <p:cNvSpPr/>
          <p:nvPr/>
        </p:nvSpPr>
        <p:spPr>
          <a:xfrm>
            <a:off x="5052786" y="4290671"/>
            <a:ext cx="2646100"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BOM, cost, scenario, risk</a:t>
            </a:r>
            <a:endParaRPr lang="en-US" sz="1200" dirty="0"/>
          </a:p>
        </p:txBody>
      </p:sp>
      <p:pic>
        <p:nvPicPr>
          <p:cNvPr id="29" name="Image 8" descr="connector">    </p:cNvPr>
          <p:cNvPicPr>
            <a:picLocks noChangeAspect="1"/>
          </p:cNvPicPr>
          <p:nvPr/>
        </p:nvPicPr>
        <p:blipFill>
          <a:blip r:embed="rId9"/>
          <a:srcRect l="0" r="0" t="0" b="0"/>
          <a:stretch/>
        </p:blipFill>
        <p:spPr>
          <a:xfrm>
            <a:off x="7912100" y="3293721"/>
            <a:ext cx="279400" cy="101600"/>
          </a:xfrm>
          <a:prstGeom prst="rect">
            <a:avLst/>
          </a:prstGeom>
        </p:spPr>
      </p:pic>
      <p:sp>
        <p:nvSpPr>
          <p:cNvPr id="30" name="Shape 19"/>
          <p:cNvSpPr/>
          <p:nvPr/>
        </p:nvSpPr>
        <p:spPr>
          <a:xfrm>
            <a:off x="8194675" y="2218017"/>
            <a:ext cx="3181350" cy="679053"/>
          </a:xfrm>
          <a:prstGeom prst="roundRect">
            <a:avLst>
              <a:gd name="adj" fmla="val 14494"/>
            </a:avLst>
          </a:prstGeom>
          <a:solidFill>
            <a:srgbClr val="FDFDFE"/>
          </a:solidFill>
          <a:ln w="6350">
            <a:solidFill>
              <a:srgbClr val="DCDDEA"/>
            </a:solidFill>
            <a:prstDash val="solid"/>
          </a:ln>
        </p:spPr>
      </p:sp>
      <p:pic>
        <p:nvPicPr>
          <p:cNvPr id="31" name="Image 9" descr="Vertex AI icon">    </p:cNvPr>
          <p:cNvPicPr>
            <a:picLocks noChangeAspect="1"/>
          </p:cNvPicPr>
          <p:nvPr/>
        </p:nvPicPr>
        <p:blipFill>
          <a:blip r:embed="rId10"/>
          <a:srcRect l="0" r="0" t="0" b="0"/>
          <a:stretch/>
        </p:blipFill>
        <p:spPr>
          <a:xfrm>
            <a:off x="8322129" y="2379718"/>
            <a:ext cx="355600" cy="355600"/>
          </a:xfrm>
          <a:prstGeom prst="rect">
            <a:avLst/>
          </a:prstGeom>
        </p:spPr>
      </p:pic>
      <p:pic>
        <p:nvPicPr>
          <p:cNvPr id="32" name="Image 10" descr="Gemini logo">    </p:cNvPr>
          <p:cNvPicPr>
            <a:picLocks noChangeAspect="1"/>
          </p:cNvPicPr>
          <p:nvPr/>
        </p:nvPicPr>
        <p:blipFill>
          <a:blip r:embed="rId11"/>
          <a:srcRect l="0" r="0" t="0" b="0"/>
          <a:stretch/>
        </p:blipFill>
        <p:spPr>
          <a:xfrm>
            <a:off x="8728529" y="2379718"/>
            <a:ext cx="355600" cy="355600"/>
          </a:xfrm>
          <a:prstGeom prst="rect">
            <a:avLst/>
          </a:prstGeom>
        </p:spPr>
      </p:pic>
      <p:sp>
        <p:nvSpPr>
          <p:cNvPr id="33" name="Text 20"/>
          <p:cNvSpPr/>
          <p:nvPr/>
        </p:nvSpPr>
        <p:spPr>
          <a:xfrm>
            <a:off x="9185729" y="2345469"/>
            <a:ext cx="2124728"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Vertex AI</a:t>
            </a:r>
            <a:endParaRPr lang="en-US" sz="1200" dirty="0"/>
          </a:p>
        </p:txBody>
      </p:sp>
      <p:sp>
        <p:nvSpPr>
          <p:cNvPr id="34" name="Text 21"/>
          <p:cNvSpPr/>
          <p:nvPr/>
        </p:nvSpPr>
        <p:spPr>
          <a:xfrm>
            <a:off x="9185729" y="2571521"/>
            <a:ext cx="2124728"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Gemini 2.5 Flash</a:t>
            </a:r>
            <a:endParaRPr lang="en-US" sz="1200" dirty="0"/>
          </a:p>
        </p:txBody>
      </p:sp>
      <p:sp>
        <p:nvSpPr>
          <p:cNvPr id="35" name="Shape 22"/>
          <p:cNvSpPr/>
          <p:nvPr/>
        </p:nvSpPr>
        <p:spPr>
          <a:xfrm>
            <a:off x="8194675" y="3005020"/>
            <a:ext cx="3181350" cy="679053"/>
          </a:xfrm>
          <a:prstGeom prst="roundRect">
            <a:avLst>
              <a:gd name="adj" fmla="val 14494"/>
            </a:avLst>
          </a:prstGeom>
          <a:solidFill>
            <a:srgbClr val="FDFDFE"/>
          </a:solidFill>
          <a:ln w="6350">
            <a:solidFill>
              <a:srgbClr val="DCDDEA"/>
            </a:solidFill>
            <a:prstDash val="solid"/>
          </a:ln>
        </p:spPr>
      </p:sp>
      <p:pic>
        <p:nvPicPr>
          <p:cNvPr id="36" name="Image 11" descr="BigQuery icon">    </p:cNvPr>
          <p:cNvPicPr>
            <a:picLocks noChangeAspect="1"/>
          </p:cNvPicPr>
          <p:nvPr/>
        </p:nvPicPr>
        <p:blipFill>
          <a:blip r:embed="rId12"/>
          <a:srcRect l="0" r="0" t="0" b="0"/>
          <a:stretch/>
        </p:blipFill>
        <p:spPr>
          <a:xfrm>
            <a:off x="8322129" y="3166721"/>
            <a:ext cx="355600" cy="355600"/>
          </a:xfrm>
          <a:prstGeom prst="rect">
            <a:avLst/>
          </a:prstGeom>
        </p:spPr>
      </p:pic>
      <p:sp>
        <p:nvSpPr>
          <p:cNvPr id="37" name="Text 23"/>
          <p:cNvSpPr/>
          <p:nvPr/>
        </p:nvSpPr>
        <p:spPr>
          <a:xfrm>
            <a:off x="8779329" y="3132472"/>
            <a:ext cx="254332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BigQuery</a:t>
            </a:r>
            <a:endParaRPr lang="en-US" sz="1200" dirty="0"/>
          </a:p>
        </p:txBody>
      </p:sp>
      <p:sp>
        <p:nvSpPr>
          <p:cNvPr id="38" name="Text 24"/>
          <p:cNvSpPr/>
          <p:nvPr/>
        </p:nvSpPr>
        <p:spPr>
          <a:xfrm>
            <a:off x="8779329" y="3358524"/>
            <a:ext cx="2543320"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Graph · AI.FORECAST</a:t>
            </a:r>
            <a:endParaRPr lang="en-US" sz="1200" dirty="0"/>
          </a:p>
        </p:txBody>
      </p:sp>
      <p:sp>
        <p:nvSpPr>
          <p:cNvPr id="39" name="Shape 25"/>
          <p:cNvSpPr/>
          <p:nvPr/>
        </p:nvSpPr>
        <p:spPr>
          <a:xfrm>
            <a:off x="8194675" y="3792023"/>
            <a:ext cx="3181350" cy="679053"/>
          </a:xfrm>
          <a:prstGeom prst="roundRect">
            <a:avLst>
              <a:gd name="adj" fmla="val 14494"/>
            </a:avLst>
          </a:prstGeom>
          <a:solidFill>
            <a:srgbClr val="FDFDFE"/>
          </a:solidFill>
          <a:ln w="6350">
            <a:solidFill>
              <a:srgbClr val="DCDDEA"/>
            </a:solidFill>
            <a:prstDash val="solid"/>
          </a:ln>
        </p:spPr>
      </p:sp>
      <p:pic>
        <p:nvPicPr>
          <p:cNvPr id="40" name="Image 12" descr="Link">    </p:cNvPr>
          <p:cNvPicPr>
            <a:picLocks noChangeAspect="1"/>
          </p:cNvPicPr>
          <p:nvPr/>
        </p:nvPicPr>
        <p:blipFill>
          <a:blip r:embed="rId13"/>
          <a:srcRect l="0" r="0" t="0" b="0"/>
          <a:stretch/>
        </p:blipFill>
        <p:spPr>
          <a:xfrm>
            <a:off x="8322129" y="3953725"/>
            <a:ext cx="355600" cy="355600"/>
          </a:xfrm>
          <a:prstGeom prst="rect">
            <a:avLst/>
          </a:prstGeom>
        </p:spPr>
      </p:pic>
      <p:sp>
        <p:nvSpPr>
          <p:cNvPr id="41" name="Text 26"/>
          <p:cNvSpPr/>
          <p:nvPr/>
        </p:nvSpPr>
        <p:spPr>
          <a:xfrm>
            <a:off x="8779329" y="3919475"/>
            <a:ext cx="2543320"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42B"/>
                </a:solidFill>
                <a:latin typeface="IBM Plex Sans" pitchFamily="34" charset="0"/>
                <a:ea typeface="IBM Plex Sans" pitchFamily="34" charset="-122"/>
                <a:cs typeface="IBM Plex Sans" pitchFamily="34" charset="-120"/>
              </a:rPr>
              <a:t>Connectors</a:t>
            </a:r>
            <a:endParaRPr lang="en-US" sz="1200" dirty="0"/>
          </a:p>
        </p:txBody>
      </p:sp>
      <p:sp>
        <p:nvSpPr>
          <p:cNvPr id="42" name="Text 27"/>
          <p:cNvSpPr/>
          <p:nvPr/>
        </p:nvSpPr>
        <p:spPr>
          <a:xfrm>
            <a:off x="8779329" y="4145527"/>
            <a:ext cx="2543320" cy="22349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68"/>
                </a:solidFill>
                <a:latin typeface="IBM Plex Sans" pitchFamily="34" charset="0"/>
                <a:ea typeface="IBM Plex Sans" pitchFamily="34" charset="-122"/>
                <a:cs typeface="IBM Plex Sans" pitchFamily="34" charset="-120"/>
              </a:rPr>
              <a:t>Catalog · sanctions · news</a:t>
            </a:r>
            <a:endParaRPr lang="en-US" sz="1200" dirty="0"/>
          </a:p>
        </p:txBody>
      </p:sp>
      <p:sp>
        <p:nvSpPr>
          <p:cNvPr id="43" name="Text 28"/>
          <p:cNvSpPr/>
          <p:nvPr/>
        </p:nvSpPr>
        <p:spPr>
          <a:xfrm>
            <a:off x="812800" y="6238249"/>
            <a:ext cx="514316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Product icons © Google, used to identify Google Cloud services</a:t>
            </a:r>
            <a:endParaRPr lang="en-US" sz="1200" dirty="0"/>
          </a:p>
        </p:txBody>
      </p:sp>
      <p:sp>
        <p:nvSpPr>
          <p:cNvPr id="44" name="Text 29"/>
          <p:cNvSpPr/>
          <p:nvPr/>
        </p:nvSpPr>
        <p:spPr>
          <a:xfrm>
            <a:off x="11145498" y="6238249"/>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TRUSTWORTHY BY DESIGN · AI REASONS, ENGINES CALCULATE</a:t>
            </a:r>
            <a:endParaRPr lang="en-US" sz="1200" dirty="0"/>
          </a:p>
        </p:txBody>
      </p:sp>
      <p:sp>
        <p:nvSpPr>
          <p:cNvPr id="3" name="Text 1"/>
          <p:cNvSpPr/>
          <p:nvPr>
            <p:ph type="title"/>
          </p:nvPr>
        </p:nvSpPr>
        <p:spPr>
          <a:xfrm>
            <a:off x="812800" y="1127745"/>
            <a:ext cx="10883393" cy="52829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Numbers your CFO can sign off on</a:t>
            </a:r>
            <a:endParaRPr lang="en-US" sz="3600" dirty="0"/>
          </a:p>
        </p:txBody>
      </p:sp>
      <p:sp>
        <p:nvSpPr>
          <p:cNvPr id="4" name="Shape 2"/>
          <p:cNvSpPr/>
          <p:nvPr/>
        </p:nvSpPr>
        <p:spPr>
          <a:xfrm>
            <a:off x="812800" y="1935442"/>
            <a:ext cx="10566401" cy="2315936"/>
          </a:xfrm>
          <a:prstGeom prst="roundRect">
            <a:avLst>
              <a:gd name="adj" fmla="val 3290"/>
            </a:avLst>
          </a:prstGeom>
          <a:solidFill>
            <a:srgbClr val="FDFDFE"/>
          </a:solidFill>
          <a:ln/>
        </p:spPr>
      </p:sp>
      <p:sp>
        <p:nvSpPr>
          <p:cNvPr id="5" name="Shape 3"/>
          <p:cNvSpPr/>
          <p:nvPr/>
        </p:nvSpPr>
        <p:spPr>
          <a:xfrm>
            <a:off x="812800" y="1935442"/>
            <a:ext cx="10566401" cy="2315936"/>
          </a:xfrm>
          <a:custGeom>
            <a:avLst/>
            <a:gdLst/>
            <a:ahLst/>
            <a:cxnLst/>
            <a:rect l="l" t="t" r="r" b="b"/>
            <a:pathLst>
              <a:path w="10566401" h="2315936">
                <a:moveTo>
                  <a:pt x="76200" y="2315936"/>
                </a:moveTo>
                <a:lnTo>
                  <a:pt x="76200" y="2315936"/>
                </a:lnTo>
                <a:arcTo hR="76200" wR="76200" stAng="5400000" swAng="5400000"/>
                <a:lnTo>
                  <a:pt x="0" y="76200"/>
                </a:lnTo>
                <a:arcTo hR="76200" wR="76200" stAng="10800000" swAng="5400000"/>
                <a:lnTo>
                  <a:pt x="10490201" y="0"/>
                </a:lnTo>
                <a:arcTo hR="76200" wR="76200" stAng="16200000" swAng="5400000"/>
                <a:lnTo>
                  <a:pt x="10566401" y="76200"/>
                </a:lnTo>
                <a:arcTo hR="65314" wR="76200" stAng="0" swAng="-5400000"/>
                <a:lnTo>
                  <a:pt x="76200" y="10886"/>
                </a:lnTo>
                <a:arcTo hR="65314" wR="65314" stAng="16200000" swAng="-5400000"/>
                <a:lnTo>
                  <a:pt x="10886" y="2239736"/>
                </a:lnTo>
                <a:arcTo hR="76200" wR="65314" stAng="10800000" swAng="-5400000"/>
                <a:close/>
              </a:path>
            </a:pathLst>
          </a:custGeom>
          <a:solidFill>
            <a:srgbClr val="141413">
              <a:alpha val="22000"/>
            </a:srgbClr>
          </a:solidFill>
          <a:ln/>
        </p:spPr>
      </p:sp>
      <p:sp>
        <p:nvSpPr>
          <p:cNvPr id="6" name="Shape 4"/>
          <p:cNvSpPr/>
          <p:nvPr/>
        </p:nvSpPr>
        <p:spPr>
          <a:xfrm>
            <a:off x="823686" y="1946327"/>
            <a:ext cx="10555515" cy="384175"/>
          </a:xfrm>
          <a:custGeom>
            <a:avLst/>
            <a:gdLst/>
            <a:ahLst/>
            <a:cxnLst/>
            <a:rect l="l" t="t" r="r" b="b"/>
            <a:pathLst>
              <a:path w="10555515" h="384175">
                <a:moveTo>
                  <a:pt x="0" y="65314"/>
                </a:moveTo>
                <a:arcTo hR="65314" wR="65314" stAng="10800000" swAng="5400000"/>
                <a:lnTo>
                  <a:pt x="10479315" y="0"/>
                </a:lnTo>
                <a:arcTo hR="76200" wR="76200" stAng="16200000" swAng="5400000"/>
                <a:lnTo>
                  <a:pt x="10555515" y="384175"/>
                </a:lnTo>
                <a:lnTo>
                  <a:pt x="0" y="384175"/>
                </a:lnTo>
                <a:close/>
              </a:path>
            </a:pathLst>
          </a:custGeom>
          <a:solidFill>
            <a:srgbClr val="EAEAEB"/>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686" y="1946327"/>
          <a:ext cx="10555515" cy="2305050"/>
        </p:xfrm>
        <a:graphic>
          <a:graphicData uri="http://schemas.openxmlformats.org/drawingml/2006/table">
            <a:tbl>
              <a:tblPr/>
              <a:tblGrid>
                <a:gridCol w="5277758"/>
                <a:gridCol w="5277758"/>
              </a:tblGrid>
              <a:tr h="384175">
                <a:tc>
                  <a:txBody>
                    <a:bodyPr/>
                    <a:lstStyle/>
                    <a:p>
                      <a:pPr indent="0" marL="0">
                        <a:lnSpc>
                          <a:spcPts val="1960"/>
                        </a:lnSpc>
                        <a:buNone/>
                      </a:pPr>
                      <a:r>
                        <a:rPr lang="en-US" sz="1400" b="1" dirty="0">
                          <a:solidFill>
                            <a:srgbClr val="4F46E5"/>
                          </a:solidFill>
                          <a:latin typeface="IBM Plex Sans" pitchFamily="34" charset="0"/>
                          <a:ea typeface="IBM Plex Sans" pitchFamily="34" charset="-122"/>
                          <a:cs typeface="IBM Plex Sans" pitchFamily="34" charset="-120"/>
                        </a:rPr>
                        <a:t>Gemini via Google ADK</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BBBBB"/>
                      </a:solidFill>
                      <a:prstDash val="solid"/>
                      <a:round/>
                      <a:headEnd type="none" w="med" len="med"/>
                      <a:tailEnd type="none" w="med" len="med"/>
                    </a:lnR>
                    <a:lnT w="0" cap="flat" cmpd="sng" algn="ctr">
                      <a:noFill/>
                    </a:lnT>
                    <a:lnB w="12700" cap="flat" cmpd="sng" algn="ctr">
                      <a:solidFill>
                        <a:srgbClr val="BBBBBB"/>
                      </a:solidFill>
                      <a:prstDash val="solid"/>
                      <a:round/>
                      <a:headEnd type="none" w="med" len="med"/>
                      <a:tailEnd type="none" w="med" len="med"/>
                    </a:lnB>
                  </a:tcPr>
                </a:tc>
                <a:tc>
                  <a:txBody>
                    <a:bodyPr/>
                    <a:lstStyle/>
                    <a:p>
                      <a:pPr indent="0" marL="0">
                        <a:lnSpc>
                          <a:spcPts val="1960"/>
                        </a:lnSpc>
                        <a:buNone/>
                      </a:pPr>
                      <a:r>
                        <a:rPr lang="en-US" sz="1400" b="1" dirty="0">
                          <a:solidFill>
                            <a:srgbClr val="4F46E5"/>
                          </a:solidFill>
                          <a:latin typeface="IBM Plex Sans" pitchFamily="34" charset="0"/>
                          <a:ea typeface="IBM Plex Sans" pitchFamily="34" charset="-122"/>
                          <a:cs typeface="IBM Plex Sans" pitchFamily="34" charset="-120"/>
                        </a:rPr>
                        <a:t>BigQuery, Python and OR-Tools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0" cap="flat" cmpd="sng" algn="ctr">
                      <a:noFill/>
                    </a:lnT>
                    <a:lnB w="12700" cap="flat" cmpd="sng" algn="ctr">
                      <a:solidFill>
                        <a:srgbClr val="BBBBBB"/>
                      </a:solidFill>
                      <a:prstDash val="solid"/>
                      <a:round/>
                      <a:headEnd type="none" w="med" len="med"/>
                      <a:tailEnd type="none" w="med" len="med"/>
                    </a:lnB>
                  </a:tcPr>
                </a:tc>
              </a:tr>
              <a:tr h="384175">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Reads supplier notices into structured events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ACACA"/>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Multi-level BOM trace with BigQuery Graph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r>
              <a:tr h="384175">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Chooses which tools to call, and in what order</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Cost roll-up, gross margin and scenarios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r>
              <a:tr h="384175">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Decides whether a bridge buy is worth testing</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Production re-plan with OR-Tools CP-SAT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r>
              <a:tr h="384175">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Explains forecasts, scorecards and plans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Demand forecast with BigQuery AI.FORECAST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r>
              <a:tr h="384175">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Writes findings, the brief and action wording</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indent="0" marL="0">
                        <a:lnSpc>
                          <a:spcPts val="1960"/>
                        </a:lnSpc>
                        <a:buNone/>
                      </a:pPr>
                      <a:r>
                        <a:rPr lang="en-US" sz="1400" dirty="0">
                          <a:solidFill>
                            <a:srgbClr val="12142B"/>
                          </a:solidFill>
                          <a:latin typeface="IBM Plex Sans" pitchFamily="34" charset="0"/>
                          <a:ea typeface="IBM Plex Sans" pitchFamily="34" charset="-122"/>
                          <a:cs typeface="IBM Plex Sans" pitchFamily="34" charset="-120"/>
                        </a:rPr>
                        <a:t>Supplier scores, compliance gate, risk levels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r>
            </a:tbl>
          </a:graphicData>
        </a:graphic>
      </p:graphicFrame>
      <p:sp>
        <p:nvSpPr>
          <p:cNvPr id="8" name="Shape 5"/>
          <p:cNvSpPr/>
          <p:nvPr/>
        </p:nvSpPr>
        <p:spPr>
          <a:xfrm>
            <a:off x="812800" y="4556181"/>
            <a:ext cx="10566401" cy="975292"/>
          </a:xfrm>
          <a:prstGeom prst="roundRect">
            <a:avLst>
              <a:gd name="adj" fmla="val 10417"/>
            </a:avLst>
          </a:prstGeom>
          <a:solidFill>
            <a:srgbClr val="12142B"/>
          </a:solidFill>
          <a:ln/>
        </p:spPr>
      </p:sp>
      <p:pic>
        <p:nvPicPr>
          <p:cNvPr id="9" name="Image 0" descr="Verified">    </p:cNvPr>
          <p:cNvPicPr>
            <a:picLocks noChangeAspect="1"/>
          </p:cNvPicPr>
          <p:nvPr/>
        </p:nvPicPr>
        <p:blipFill>
          <a:blip r:embed="rId1"/>
          <a:srcRect l="0" r="0" t="0" b="0"/>
          <a:stretch/>
        </p:blipFill>
        <p:spPr>
          <a:xfrm>
            <a:off x="1066800" y="4840622"/>
            <a:ext cx="406400" cy="406400"/>
          </a:xfrm>
          <a:prstGeom prst="rect">
            <a:avLst/>
          </a:prstGeom>
        </p:spPr>
      </p:pic>
      <p:sp>
        <p:nvSpPr>
          <p:cNvPr id="10" name="Text 6"/>
          <p:cNvSpPr/>
          <p:nvPr/>
        </p:nvSpPr>
        <p:spPr>
          <a:xfrm>
            <a:off x="1625600" y="4759381"/>
            <a:ext cx="9784589" cy="59429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6FA"/>
                </a:solidFill>
                <a:latin typeface="IBM Plex Sans" pitchFamily="34" charset="0"/>
                <a:ea typeface="IBM Plex Sans" pitchFamily="34" charset="-122"/>
                <a:cs typeface="IBM Plex Sans" pitchFamily="34" charset="-120"/>
              </a:rPr>
              <a:t>Grounding guardrail:</a:t>
            </a:r>
            <a:r>
              <a:rPr lang="en-US" sz="1600" dirty="0">
                <a:solidFill>
                  <a:srgbClr val="F6F6FA"/>
                </a:solidFill>
                <a:latin typeface="IBM Plex Sans" pitchFamily="34" charset="0"/>
                <a:ea typeface="IBM Plex Sans" pitchFamily="34" charset="-122"/>
                <a:cs typeface="IBM Plex Sans" pitchFamily="34" charset="-120"/>
              </a:rPr>
              <a:t> every number an agent writes is checked against tool output. Anything ungrounded falls back to the calculated finding.</a:t>
            </a:r>
            <a:endParaRPr lang="en-US" sz="1600" dirty="0"/>
          </a:p>
        </p:txBody>
      </p:sp>
      <p:sp>
        <p:nvSpPr>
          <p:cNvPr id="11" name="Text 7"/>
          <p:cNvSpPr/>
          <p:nvPr/>
        </p:nvSpPr>
        <p:spPr>
          <a:xfrm>
            <a:off x="812800" y="6238249"/>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12" name="Text 8"/>
          <p:cNvSpPr/>
          <p:nvPr/>
        </p:nvSpPr>
        <p:spPr>
          <a:xfrm>
            <a:off x="11145498" y="6238249"/>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WHO BENEFITS</a:t>
            </a:r>
            <a:endParaRPr lang="en-US" sz="1200" dirty="0"/>
          </a:p>
        </p:txBody>
      </p:sp>
      <p:sp>
        <p:nvSpPr>
          <p:cNvPr id="3" name="Text 1"/>
          <p:cNvSpPr/>
          <p:nvPr>
            <p:ph type="title"/>
          </p:nvPr>
        </p:nvSpPr>
        <p:spPr>
          <a:xfrm>
            <a:off x="812800" y="1127745"/>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Built for the teams that keep products shipping</a:t>
            </a:r>
            <a:endParaRPr lang="en-US" sz="3600" dirty="0"/>
          </a:p>
        </p:txBody>
      </p:sp>
      <p:sp>
        <p:nvSpPr>
          <p:cNvPr id="4" name="Shape 2"/>
          <p:cNvSpPr/>
          <p:nvPr/>
        </p:nvSpPr>
        <p:spPr>
          <a:xfrm>
            <a:off x="815975" y="2441519"/>
            <a:ext cx="2520950" cy="1519748"/>
          </a:xfrm>
          <a:prstGeom prst="roundRect">
            <a:avLst>
              <a:gd name="adj" fmla="val 6476"/>
            </a:avLst>
          </a:prstGeom>
          <a:solidFill>
            <a:srgbClr val="FDFDFE"/>
          </a:solidFill>
          <a:ln w="6350">
            <a:solidFill>
              <a:srgbClr val="DCDDEA"/>
            </a:solidFill>
            <a:prstDash val="solid"/>
          </a:ln>
        </p:spPr>
      </p:sp>
      <p:sp>
        <p:nvSpPr>
          <p:cNvPr id="5" name="Text 3"/>
          <p:cNvSpPr/>
          <p:nvPr/>
        </p:nvSpPr>
        <p:spPr>
          <a:xfrm>
            <a:off x="1019629" y="2645172"/>
            <a:ext cx="217705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PROCUREMENT</a:t>
            </a:r>
            <a:endParaRPr lang="en-US" sz="1200" dirty="0"/>
          </a:p>
        </p:txBody>
      </p:sp>
      <p:sp>
        <p:nvSpPr>
          <p:cNvPr id="6" name="Text 4"/>
          <p:cNvSpPr/>
          <p:nvPr/>
        </p:nvSpPr>
        <p:spPr>
          <a:xfrm>
            <a:off x="1019629" y="2934717"/>
            <a:ext cx="2177052" cy="84829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Last-time-buy size and a scored alternate supplier</a:t>
            </a:r>
            <a:endParaRPr lang="en-US" sz="1600" dirty="0"/>
          </a:p>
        </p:txBody>
      </p:sp>
      <p:sp>
        <p:nvSpPr>
          <p:cNvPr id="7" name="Shape 5"/>
          <p:cNvSpPr/>
          <p:nvPr/>
        </p:nvSpPr>
        <p:spPr>
          <a:xfrm>
            <a:off x="3495675" y="2441519"/>
            <a:ext cx="2520950" cy="1519748"/>
          </a:xfrm>
          <a:prstGeom prst="roundRect">
            <a:avLst>
              <a:gd name="adj" fmla="val 6476"/>
            </a:avLst>
          </a:prstGeom>
          <a:solidFill>
            <a:srgbClr val="FDFDFE"/>
          </a:solidFill>
          <a:ln w="6350">
            <a:solidFill>
              <a:srgbClr val="DCDDEA"/>
            </a:solidFill>
            <a:prstDash val="solid"/>
          </a:ln>
        </p:spPr>
      </p:sp>
      <p:sp>
        <p:nvSpPr>
          <p:cNvPr id="8" name="Text 6"/>
          <p:cNvSpPr/>
          <p:nvPr/>
        </p:nvSpPr>
        <p:spPr>
          <a:xfrm>
            <a:off x="3699329" y="2645172"/>
            <a:ext cx="217705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ENGINEERING</a:t>
            </a:r>
            <a:endParaRPr lang="en-US" sz="1200" dirty="0"/>
          </a:p>
        </p:txBody>
      </p:sp>
      <p:sp>
        <p:nvSpPr>
          <p:cNvPr id="9" name="Text 7"/>
          <p:cNvSpPr/>
          <p:nvPr/>
        </p:nvSpPr>
        <p:spPr>
          <a:xfrm>
            <a:off x="3699329" y="2934717"/>
            <a:ext cx="2177052" cy="84829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Exactly which assemblies need re-validation</a:t>
            </a:r>
            <a:endParaRPr lang="en-US" sz="1600" dirty="0"/>
          </a:p>
        </p:txBody>
      </p:sp>
      <p:sp>
        <p:nvSpPr>
          <p:cNvPr id="10" name="Shape 8"/>
          <p:cNvSpPr/>
          <p:nvPr/>
        </p:nvSpPr>
        <p:spPr>
          <a:xfrm>
            <a:off x="6175375" y="2441519"/>
            <a:ext cx="2520950" cy="1519748"/>
          </a:xfrm>
          <a:prstGeom prst="roundRect">
            <a:avLst>
              <a:gd name="adj" fmla="val 6476"/>
            </a:avLst>
          </a:prstGeom>
          <a:solidFill>
            <a:srgbClr val="FDFDFE"/>
          </a:solidFill>
          <a:ln w="6350">
            <a:solidFill>
              <a:srgbClr val="DCDDEA"/>
            </a:solidFill>
            <a:prstDash val="solid"/>
          </a:ln>
        </p:spPr>
      </p:sp>
      <p:sp>
        <p:nvSpPr>
          <p:cNvPr id="11" name="Text 9"/>
          <p:cNvSpPr/>
          <p:nvPr/>
        </p:nvSpPr>
        <p:spPr>
          <a:xfrm>
            <a:off x="6379029" y="2645172"/>
            <a:ext cx="217705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PLANNING</a:t>
            </a:r>
            <a:endParaRPr lang="en-US" sz="1200" dirty="0"/>
          </a:p>
        </p:txBody>
      </p:sp>
      <p:sp>
        <p:nvSpPr>
          <p:cNvPr id="12" name="Text 10"/>
          <p:cNvSpPr/>
          <p:nvPr/>
        </p:nvSpPr>
        <p:spPr>
          <a:xfrm>
            <a:off x="6379029" y="2934717"/>
            <a:ext cx="2177052" cy="84829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A re-plan that keeps lines running and customers served</a:t>
            </a:r>
            <a:endParaRPr lang="en-US" sz="1600" dirty="0"/>
          </a:p>
        </p:txBody>
      </p:sp>
      <p:sp>
        <p:nvSpPr>
          <p:cNvPr id="13" name="Shape 11"/>
          <p:cNvSpPr/>
          <p:nvPr/>
        </p:nvSpPr>
        <p:spPr>
          <a:xfrm>
            <a:off x="8855076" y="2441519"/>
            <a:ext cx="2520950" cy="1519748"/>
          </a:xfrm>
          <a:prstGeom prst="roundRect">
            <a:avLst>
              <a:gd name="adj" fmla="val 6476"/>
            </a:avLst>
          </a:prstGeom>
          <a:solidFill>
            <a:srgbClr val="FDFDFE"/>
          </a:solidFill>
          <a:ln w="6350">
            <a:solidFill>
              <a:srgbClr val="DCDDEA"/>
            </a:solidFill>
            <a:prstDash val="solid"/>
          </a:ln>
        </p:spPr>
      </p:sp>
      <p:sp>
        <p:nvSpPr>
          <p:cNvPr id="14" name="Text 12"/>
          <p:cNvSpPr/>
          <p:nvPr/>
        </p:nvSpPr>
        <p:spPr>
          <a:xfrm>
            <a:off x="9058729" y="2645172"/>
            <a:ext cx="217705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FINANCE &amp; SALES</a:t>
            </a:r>
            <a:endParaRPr lang="en-US" sz="1200" dirty="0"/>
          </a:p>
        </p:txBody>
      </p:sp>
      <p:sp>
        <p:nvSpPr>
          <p:cNvPr id="15" name="Text 13"/>
          <p:cNvSpPr/>
          <p:nvPr/>
        </p:nvSpPr>
        <p:spPr>
          <a:xfrm>
            <a:off x="9058729" y="2934717"/>
            <a:ext cx="2177052"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142B"/>
                </a:solidFill>
                <a:latin typeface="IBM Plex Sans" pitchFamily="34" charset="0"/>
                <a:ea typeface="IBM Plex Sans" pitchFamily="34" charset="-122"/>
                <a:cs typeface="IBM Plex Sans" pitchFamily="34" charset="-120"/>
              </a:rPr>
              <a:t>Margin impact before prices are re-quoted</a:t>
            </a:r>
            <a:endParaRPr lang="en-US" sz="1600" dirty="0"/>
          </a:p>
        </p:txBody>
      </p:sp>
      <p:sp>
        <p:nvSpPr>
          <p:cNvPr id="16" name="Shape 14"/>
          <p:cNvSpPr/>
          <p:nvPr/>
        </p:nvSpPr>
        <p:spPr>
          <a:xfrm>
            <a:off x="812800" y="4269240"/>
            <a:ext cx="10566401" cy="1264841"/>
          </a:xfrm>
          <a:prstGeom prst="roundRect">
            <a:avLst>
              <a:gd name="adj" fmla="val 8033"/>
            </a:avLst>
          </a:prstGeom>
          <a:solidFill>
            <a:srgbClr val="ECECF5"/>
          </a:solidFill>
          <a:ln/>
        </p:spPr>
      </p:sp>
      <p:sp>
        <p:nvSpPr>
          <p:cNvPr id="17" name="Shape 15"/>
          <p:cNvSpPr/>
          <p:nvPr/>
        </p:nvSpPr>
        <p:spPr>
          <a:xfrm>
            <a:off x="812800" y="4269240"/>
            <a:ext cx="10566401" cy="1264841"/>
          </a:xfrm>
          <a:custGeom>
            <a:avLst/>
            <a:gdLst/>
            <a:ahLst/>
            <a:cxnLst/>
            <a:rect l="l" t="t" r="r" b="b"/>
            <a:pathLst>
              <a:path w="10566401" h="1264841">
                <a:moveTo>
                  <a:pt x="101600" y="1264841"/>
                </a:moveTo>
                <a:lnTo>
                  <a:pt x="101600" y="1264841"/>
                </a:lnTo>
                <a:arcTo hR="101600" wR="101600" stAng="5400000" swAng="5400000"/>
                <a:lnTo>
                  <a:pt x="0" y="101600"/>
                </a:lnTo>
                <a:arcTo hR="101600" wR="101600" stAng="10800000" swAng="5400000"/>
                <a:lnTo>
                  <a:pt x="101600" y="0"/>
                </a:lnTo>
                <a:arcTo hR="101600" wR="63500" stAng="16200000" swAng="-5400000"/>
                <a:lnTo>
                  <a:pt x="38100" y="1163241"/>
                </a:lnTo>
                <a:arcTo hR="101600" wR="63500" stAng="10800000" swAng="-5400000"/>
                <a:close/>
              </a:path>
            </a:pathLst>
          </a:custGeom>
          <a:solidFill>
            <a:srgbClr val="4F46E5"/>
          </a:solidFill>
          <a:ln/>
        </p:spPr>
      </p:sp>
      <p:sp>
        <p:nvSpPr>
          <p:cNvPr id="18" name="Text 16"/>
          <p:cNvSpPr/>
          <p:nvPr/>
        </p:nvSpPr>
        <p:spPr>
          <a:xfrm>
            <a:off x="1103086" y="4472440"/>
            <a:ext cx="10322778"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FOR MANUFACTURING AND THE SUPPLY CHAIN</a:t>
            </a:r>
            <a:endParaRPr lang="en-US" sz="1200" dirty="0"/>
          </a:p>
        </p:txBody>
      </p:sp>
      <p:sp>
        <p:nvSpPr>
          <p:cNvPr id="19" name="Text 17"/>
          <p:cNvSpPr/>
          <p:nvPr/>
        </p:nvSpPr>
        <p:spPr>
          <a:xfrm>
            <a:off x="1103086" y="4761985"/>
            <a:ext cx="10322778" cy="59429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42B"/>
                </a:solidFill>
                <a:latin typeface="IBM Plex Sans" pitchFamily="34" charset="0"/>
                <a:ea typeface="IBM Plex Sans" pitchFamily="34" charset="-122"/>
                <a:cs typeface="IBM Plex Sans" pitchFamily="34" charset="-120"/>
              </a:rPr>
              <a:t>Faster, shared answers mean fewer line stoppages, fewer surprise shortages for customers, and more resilient supplier networks.</a:t>
            </a:r>
            <a:endParaRPr lang="en-US" sz="1600" dirty="0"/>
          </a:p>
        </p:txBody>
      </p:sp>
      <p:sp>
        <p:nvSpPr>
          <p:cNvPr id="20" name="Text 18"/>
          <p:cNvSpPr/>
          <p:nvPr/>
        </p:nvSpPr>
        <p:spPr>
          <a:xfrm>
            <a:off x="812800" y="6238249"/>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21" name="Text 19"/>
          <p:cNvSpPr/>
          <p:nvPr/>
        </p:nvSpPr>
        <p:spPr>
          <a:xfrm>
            <a:off x="11145498" y="6238249"/>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FEASIBILITY</a:t>
            </a:r>
            <a:endParaRPr lang="en-US" sz="1200" dirty="0"/>
          </a:p>
        </p:txBody>
      </p:sp>
      <p:sp>
        <p:nvSpPr>
          <p:cNvPr id="3" name="Text 1"/>
          <p:cNvSpPr/>
          <p:nvPr>
            <p:ph type="title"/>
          </p:nvPr>
        </p:nvSpPr>
        <p:spPr>
          <a:xfrm>
            <a:off x="812800" y="1127745"/>
            <a:ext cx="10883393" cy="52829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Not a concept. It runs today.</a:t>
            </a:r>
            <a:endParaRPr lang="en-US" sz="3600" dirty="0"/>
          </a:p>
        </p:txBody>
      </p:sp>
      <p:sp>
        <p:nvSpPr>
          <p:cNvPr id="4" name="Shape 2"/>
          <p:cNvSpPr/>
          <p:nvPr/>
        </p:nvSpPr>
        <p:spPr>
          <a:xfrm>
            <a:off x="815975" y="1989417"/>
            <a:ext cx="3414146" cy="1231503"/>
          </a:xfrm>
          <a:prstGeom prst="roundRect">
            <a:avLst>
              <a:gd name="adj" fmla="val 7992"/>
            </a:avLst>
          </a:prstGeom>
          <a:solidFill>
            <a:srgbClr val="FDFDFE"/>
          </a:solidFill>
          <a:ln w="6350">
            <a:solidFill>
              <a:srgbClr val="DCDDEA"/>
            </a:solidFill>
            <a:prstDash val="solid"/>
          </a:ln>
        </p:spPr>
      </p:sp>
      <p:sp>
        <p:nvSpPr>
          <p:cNvPr id="5" name="Text 3"/>
          <p:cNvSpPr/>
          <p:nvPr/>
        </p:nvSpPr>
        <p:spPr>
          <a:xfrm>
            <a:off x="1019629" y="2193075"/>
            <a:ext cx="3097044"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Live on Cloud Run</a:t>
            </a:r>
            <a:endParaRPr lang="en-US" sz="2200" dirty="0"/>
          </a:p>
        </p:txBody>
      </p:sp>
      <p:sp>
        <p:nvSpPr>
          <p:cNvPr id="6" name="Text 4"/>
          <p:cNvSpPr/>
          <p:nvPr/>
        </p:nvSpPr>
        <p:spPr>
          <a:xfrm>
            <a:off x="1019629" y="2590571"/>
            <a:ext cx="3097044"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Web app and agent API, deployed and public</a:t>
            </a:r>
            <a:endParaRPr lang="en-US" sz="1200" dirty="0"/>
          </a:p>
        </p:txBody>
      </p:sp>
      <p:sp>
        <p:nvSpPr>
          <p:cNvPr id="7" name="Shape 5"/>
          <p:cNvSpPr/>
          <p:nvPr/>
        </p:nvSpPr>
        <p:spPr>
          <a:xfrm>
            <a:off x="4388871" y="1989417"/>
            <a:ext cx="3414202" cy="1231503"/>
          </a:xfrm>
          <a:prstGeom prst="roundRect">
            <a:avLst>
              <a:gd name="adj" fmla="val 7992"/>
            </a:avLst>
          </a:prstGeom>
          <a:solidFill>
            <a:srgbClr val="FDFDFE"/>
          </a:solidFill>
          <a:ln w="6350">
            <a:solidFill>
              <a:srgbClr val="DCDDEA"/>
            </a:solidFill>
            <a:prstDash val="solid"/>
          </a:ln>
        </p:spPr>
      </p:sp>
      <p:sp>
        <p:nvSpPr>
          <p:cNvPr id="8" name="Text 6"/>
          <p:cNvSpPr/>
          <p:nvPr/>
        </p:nvSpPr>
        <p:spPr>
          <a:xfrm>
            <a:off x="4592524" y="2193075"/>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Gemini 2.5 Flash</a:t>
            </a:r>
            <a:endParaRPr lang="en-US" sz="2200" dirty="0"/>
          </a:p>
        </p:txBody>
      </p:sp>
      <p:sp>
        <p:nvSpPr>
          <p:cNvPr id="9" name="Text 7"/>
          <p:cNvSpPr/>
          <p:nvPr/>
        </p:nvSpPr>
        <p:spPr>
          <a:xfrm>
            <a:off x="4592524" y="2590571"/>
            <a:ext cx="3097102"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On Vertex AI: notice extraction, agent workflow and assistant</a:t>
            </a:r>
            <a:endParaRPr lang="en-US" sz="1200" dirty="0"/>
          </a:p>
        </p:txBody>
      </p:sp>
      <p:sp>
        <p:nvSpPr>
          <p:cNvPr id="10" name="Shape 8"/>
          <p:cNvSpPr/>
          <p:nvPr/>
        </p:nvSpPr>
        <p:spPr>
          <a:xfrm>
            <a:off x="7961823" y="1989417"/>
            <a:ext cx="3414202" cy="1231503"/>
          </a:xfrm>
          <a:prstGeom prst="roundRect">
            <a:avLst>
              <a:gd name="adj" fmla="val 7992"/>
            </a:avLst>
          </a:prstGeom>
          <a:solidFill>
            <a:srgbClr val="FDFDFE"/>
          </a:solidFill>
          <a:ln w="6350">
            <a:solidFill>
              <a:srgbClr val="DCDDEA"/>
            </a:solidFill>
            <a:prstDash val="solid"/>
          </a:ln>
        </p:spPr>
      </p:sp>
      <p:sp>
        <p:nvSpPr>
          <p:cNvPr id="11" name="Text 9"/>
          <p:cNvSpPr/>
          <p:nvPr/>
        </p:nvSpPr>
        <p:spPr>
          <a:xfrm>
            <a:off x="8165477" y="2193075"/>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BigQuery Graph</a:t>
            </a:r>
            <a:endParaRPr lang="en-US" sz="2200" dirty="0"/>
          </a:p>
        </p:txBody>
      </p:sp>
      <p:sp>
        <p:nvSpPr>
          <p:cNvPr id="12" name="Text 10"/>
          <p:cNvSpPr/>
          <p:nvPr/>
        </p:nvSpPr>
        <p:spPr>
          <a:xfrm>
            <a:off x="8165477" y="2590571"/>
            <a:ext cx="3097102"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17 tables; the BOM is traced with a GQL property-graph query</a:t>
            </a:r>
            <a:endParaRPr lang="en-US" sz="1200" dirty="0"/>
          </a:p>
        </p:txBody>
      </p:sp>
      <p:sp>
        <p:nvSpPr>
          <p:cNvPr id="13" name="Shape 11"/>
          <p:cNvSpPr/>
          <p:nvPr/>
        </p:nvSpPr>
        <p:spPr>
          <a:xfrm>
            <a:off x="815975" y="3379670"/>
            <a:ext cx="3414146" cy="1231503"/>
          </a:xfrm>
          <a:prstGeom prst="roundRect">
            <a:avLst>
              <a:gd name="adj" fmla="val 7992"/>
            </a:avLst>
          </a:prstGeom>
          <a:solidFill>
            <a:srgbClr val="FDFDFE"/>
          </a:solidFill>
          <a:ln w="6350">
            <a:solidFill>
              <a:srgbClr val="DCDDEA"/>
            </a:solidFill>
            <a:prstDash val="solid"/>
          </a:ln>
        </p:spPr>
      </p:sp>
      <p:sp>
        <p:nvSpPr>
          <p:cNvPr id="14" name="Text 12"/>
          <p:cNvSpPr/>
          <p:nvPr/>
        </p:nvSpPr>
        <p:spPr>
          <a:xfrm>
            <a:off x="1019629" y="3583329"/>
            <a:ext cx="3097044"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83 tests</a:t>
            </a:r>
            <a:endParaRPr lang="en-US" sz="2200" dirty="0"/>
          </a:p>
        </p:txBody>
      </p:sp>
      <p:sp>
        <p:nvSpPr>
          <p:cNvPr id="15" name="Text 13"/>
          <p:cNvSpPr/>
          <p:nvPr/>
        </p:nvSpPr>
        <p:spPr>
          <a:xfrm>
            <a:off x="1019629" y="3980824"/>
            <a:ext cx="3097044"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Unit, integration and API tests; demo figures asserted in CI</a:t>
            </a:r>
            <a:endParaRPr lang="en-US" sz="1200" dirty="0"/>
          </a:p>
        </p:txBody>
      </p:sp>
      <p:sp>
        <p:nvSpPr>
          <p:cNvPr id="16" name="Shape 14"/>
          <p:cNvSpPr/>
          <p:nvPr/>
        </p:nvSpPr>
        <p:spPr>
          <a:xfrm>
            <a:off x="4388871" y="3379670"/>
            <a:ext cx="3414202" cy="1231503"/>
          </a:xfrm>
          <a:prstGeom prst="roundRect">
            <a:avLst>
              <a:gd name="adj" fmla="val 7992"/>
            </a:avLst>
          </a:prstGeom>
          <a:solidFill>
            <a:srgbClr val="FDFDFE"/>
          </a:solidFill>
          <a:ln w="6350">
            <a:solidFill>
              <a:srgbClr val="DCDDEA"/>
            </a:solidFill>
            <a:prstDash val="solid"/>
          </a:ln>
        </p:spPr>
      </p:sp>
      <p:sp>
        <p:nvSpPr>
          <p:cNvPr id="17" name="Text 15"/>
          <p:cNvSpPr/>
          <p:nvPr/>
        </p:nvSpPr>
        <p:spPr>
          <a:xfrm>
            <a:off x="4592524" y="3583329"/>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9 of 9 agents</a:t>
            </a:r>
            <a:endParaRPr lang="en-US" sz="2200" dirty="0"/>
          </a:p>
        </p:txBody>
      </p:sp>
      <p:sp>
        <p:nvSpPr>
          <p:cNvPr id="18" name="Text 16"/>
          <p:cNvSpPr/>
          <p:nvPr/>
        </p:nvSpPr>
        <p:spPr>
          <a:xfrm>
            <a:off x="4592524" y="3980824"/>
            <a:ext cx="3097102"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The full ADK workflow runs live, with every step streamed</a:t>
            </a:r>
            <a:endParaRPr lang="en-US" sz="1200" dirty="0"/>
          </a:p>
        </p:txBody>
      </p:sp>
      <p:sp>
        <p:nvSpPr>
          <p:cNvPr id="19" name="Shape 17"/>
          <p:cNvSpPr/>
          <p:nvPr/>
        </p:nvSpPr>
        <p:spPr>
          <a:xfrm>
            <a:off x="7961823" y="3379670"/>
            <a:ext cx="3414202" cy="1231503"/>
          </a:xfrm>
          <a:prstGeom prst="roundRect">
            <a:avLst>
              <a:gd name="adj" fmla="val 7992"/>
            </a:avLst>
          </a:prstGeom>
          <a:solidFill>
            <a:srgbClr val="FDFDFE"/>
          </a:solidFill>
          <a:ln w="6350">
            <a:solidFill>
              <a:srgbClr val="DCDDEA"/>
            </a:solidFill>
            <a:prstDash val="solid"/>
          </a:ln>
        </p:spPr>
      </p:sp>
      <p:sp>
        <p:nvSpPr>
          <p:cNvPr id="20" name="Text 18"/>
          <p:cNvSpPr/>
          <p:nvPr/>
        </p:nvSpPr>
        <p:spPr>
          <a:xfrm>
            <a:off x="8165477" y="3583329"/>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Safe fallback</a:t>
            </a:r>
            <a:endParaRPr lang="en-US" sz="2200" dirty="0"/>
          </a:p>
        </p:txBody>
      </p:sp>
      <p:sp>
        <p:nvSpPr>
          <p:cNvPr id="21" name="Text 19"/>
          <p:cNvSpPr/>
          <p:nvPr/>
        </p:nvSpPr>
        <p:spPr>
          <a:xfrm>
            <a:off x="8165477" y="3980824"/>
            <a:ext cx="3097102"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68"/>
                </a:solidFill>
                <a:latin typeface="IBM Plex Sans" pitchFamily="34" charset="0"/>
                <a:ea typeface="IBM Plex Sans" pitchFamily="34" charset="-122"/>
                <a:cs typeface="IBM Plex Sans" pitchFamily="34" charset="-120"/>
              </a:rPr>
              <a:t>Without Gemini, the same tools run in order with calculated findings</a:t>
            </a:r>
            <a:endParaRPr lang="en-US" sz="1200" dirty="0"/>
          </a:p>
        </p:txBody>
      </p:sp>
      <p:sp>
        <p:nvSpPr>
          <p:cNvPr id="22" name="Text 20"/>
          <p:cNvSpPr/>
          <p:nvPr/>
        </p:nvSpPr>
        <p:spPr>
          <a:xfrm>
            <a:off x="812800" y="6238249"/>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23" name="Text 21"/>
          <p:cNvSpPr/>
          <p:nvPr/>
        </p:nvSpPr>
        <p:spPr>
          <a:xfrm>
            <a:off x="11145498" y="6238249"/>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SCALABILITY</a:t>
            </a:r>
            <a:endParaRPr lang="en-US" sz="1200" dirty="0"/>
          </a:p>
        </p:txBody>
      </p:sp>
      <p:sp>
        <p:nvSpPr>
          <p:cNvPr id="3" name="Text 1"/>
          <p:cNvSpPr/>
          <p:nvPr>
            <p:ph type="title"/>
          </p:nvPr>
        </p:nvSpPr>
        <p:spPr>
          <a:xfrm>
            <a:off x="812800" y="1127745"/>
            <a:ext cx="10883393" cy="103119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One engine for every change in the supply chain</a:t>
            </a:r>
            <a:endParaRPr lang="en-US" sz="3600" dirty="0"/>
          </a:p>
        </p:txBody>
      </p:sp>
      <p:sp>
        <p:nvSpPr>
          <p:cNvPr id="4" name="Shape 2"/>
          <p:cNvSpPr/>
          <p:nvPr/>
        </p:nvSpPr>
        <p:spPr>
          <a:xfrm>
            <a:off x="815975" y="2441519"/>
            <a:ext cx="3414146" cy="1825795"/>
          </a:xfrm>
          <a:prstGeom prst="roundRect">
            <a:avLst>
              <a:gd name="adj" fmla="val 5391"/>
            </a:avLst>
          </a:prstGeom>
          <a:solidFill>
            <a:srgbClr val="FDFDFE"/>
          </a:solidFill>
          <a:ln w="6350">
            <a:solidFill>
              <a:srgbClr val="DCDDEA"/>
            </a:solidFill>
            <a:prstDash val="solid"/>
          </a:ln>
        </p:spPr>
      </p:sp>
      <p:sp>
        <p:nvSpPr>
          <p:cNvPr id="5" name="Text 3"/>
          <p:cNvSpPr/>
          <p:nvPr/>
        </p:nvSpPr>
        <p:spPr>
          <a:xfrm>
            <a:off x="1019629" y="2645166"/>
            <a:ext cx="3097044"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Enterprise scale</a:t>
            </a:r>
            <a:endParaRPr lang="en-US" sz="2200" dirty="0"/>
          </a:p>
        </p:txBody>
      </p:sp>
      <p:sp>
        <p:nvSpPr>
          <p:cNvPr id="6" name="Text 4"/>
          <p:cNvSpPr/>
          <p:nvPr/>
        </p:nvSpPr>
        <p:spPr>
          <a:xfrm>
            <a:off x="1019629" y="3068073"/>
            <a:ext cx="3097044"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BigQuery and BigQuery Graph handle enterprise-size BOMs. Cloud Run scales the services on demand.</a:t>
            </a:r>
            <a:endParaRPr lang="en-US" sz="1400" dirty="0"/>
          </a:p>
        </p:txBody>
      </p:sp>
      <p:sp>
        <p:nvSpPr>
          <p:cNvPr id="7" name="Shape 5"/>
          <p:cNvSpPr/>
          <p:nvPr/>
        </p:nvSpPr>
        <p:spPr>
          <a:xfrm>
            <a:off x="4388871" y="2441519"/>
            <a:ext cx="3414202" cy="1825795"/>
          </a:xfrm>
          <a:prstGeom prst="roundRect">
            <a:avLst>
              <a:gd name="adj" fmla="val 5391"/>
            </a:avLst>
          </a:prstGeom>
          <a:solidFill>
            <a:srgbClr val="FDFDFE"/>
          </a:solidFill>
          <a:ln w="6350">
            <a:solidFill>
              <a:srgbClr val="DCDDEA"/>
            </a:solidFill>
            <a:prstDash val="solid"/>
          </a:ln>
        </p:spPr>
      </p:sp>
      <p:sp>
        <p:nvSpPr>
          <p:cNvPr id="8" name="Text 6"/>
          <p:cNvSpPr/>
          <p:nvPr/>
        </p:nvSpPr>
        <p:spPr>
          <a:xfrm>
            <a:off x="4592524" y="2645166"/>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Real systems</a:t>
            </a:r>
            <a:endParaRPr lang="en-US" sz="2200" dirty="0"/>
          </a:p>
        </p:txBody>
      </p:sp>
      <p:sp>
        <p:nvSpPr>
          <p:cNvPr id="9" name="Text 7"/>
          <p:cNvSpPr/>
          <p:nvPr/>
        </p:nvSpPr>
        <p:spPr>
          <a:xfrm>
            <a:off x="4592524" y="3068073"/>
            <a:ext cx="3097102" cy="102098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Connectors are interfaces today. DigiKey, Mouser, OpenSanctions or a news API plug into the same contract.</a:t>
            </a:r>
            <a:endParaRPr lang="en-US" sz="1400" dirty="0"/>
          </a:p>
        </p:txBody>
      </p:sp>
      <p:sp>
        <p:nvSpPr>
          <p:cNvPr id="10" name="Shape 8"/>
          <p:cNvSpPr/>
          <p:nvPr/>
        </p:nvSpPr>
        <p:spPr>
          <a:xfrm>
            <a:off x="7961823" y="2441519"/>
            <a:ext cx="3414202" cy="1825795"/>
          </a:xfrm>
          <a:prstGeom prst="roundRect">
            <a:avLst>
              <a:gd name="adj" fmla="val 5391"/>
            </a:avLst>
          </a:prstGeom>
          <a:solidFill>
            <a:srgbClr val="FDFDFE"/>
          </a:solidFill>
          <a:ln w="6350">
            <a:solidFill>
              <a:srgbClr val="DCDDEA"/>
            </a:solidFill>
            <a:prstDash val="solid"/>
          </a:ln>
        </p:spPr>
      </p:sp>
      <p:sp>
        <p:nvSpPr>
          <p:cNvPr id="11" name="Text 9"/>
          <p:cNvSpPr/>
          <p:nvPr/>
        </p:nvSpPr>
        <p:spPr>
          <a:xfrm>
            <a:off x="8165477" y="2645166"/>
            <a:ext cx="3097102"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Every change</a:t>
            </a:r>
            <a:endParaRPr lang="en-US" sz="2200" dirty="0"/>
          </a:p>
        </p:txBody>
      </p:sp>
      <p:sp>
        <p:nvSpPr>
          <p:cNvPr id="12" name="Text 10"/>
          <p:cNvSpPr/>
          <p:nvPr/>
        </p:nvSpPr>
        <p:spPr>
          <a:xfrm>
            <a:off x="8165477" y="3068073"/>
            <a:ext cx="309710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The same loop covers tariffs, commodity spikes, freight disruption and supplier failure.</a:t>
            </a:r>
            <a:endParaRPr lang="en-US" sz="1400" dirty="0"/>
          </a:p>
        </p:txBody>
      </p:sp>
      <p:sp>
        <p:nvSpPr>
          <p:cNvPr id="13" name="Text 11"/>
          <p:cNvSpPr/>
          <p:nvPr/>
        </p:nvSpPr>
        <p:spPr>
          <a:xfrm>
            <a:off x="812800" y="4575293"/>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42B"/>
                </a:solidFill>
                <a:latin typeface="IBM Plex Sans" pitchFamily="34" charset="0"/>
                <a:ea typeface="IBM Plex Sans" pitchFamily="34" charset="-122"/>
                <a:cs typeface="IBM Plex Sans" pitchFamily="34" charset="-120"/>
              </a:rPr>
              <a:t>Next:</a:t>
            </a:r>
            <a:r>
              <a:rPr lang="en-US" sz="1400" dirty="0">
                <a:solidFill>
                  <a:srgbClr val="12142B"/>
                </a:solidFill>
                <a:latin typeface="IBM Plex Sans" pitchFamily="34" charset="0"/>
                <a:ea typeface="IBM Plex Sans" pitchFamily="34" charset="-122"/>
                <a:cs typeface="IBM Plex Sans" pitchFamily="34" charset="-120"/>
              </a:rPr>
              <a:t> ERP and PLM connectors · write-back of approved actions · continuous monitoring of supplier feeds</a:t>
            </a:r>
            <a:endParaRPr lang="en-US" sz="1400" dirty="0"/>
          </a:p>
        </p:txBody>
      </p:sp>
      <p:sp>
        <p:nvSpPr>
          <p:cNvPr id="14" name="Text 12"/>
          <p:cNvSpPr/>
          <p:nvPr/>
        </p:nvSpPr>
        <p:spPr>
          <a:xfrm>
            <a:off x="812800" y="6238249"/>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15" name="Text 13"/>
          <p:cNvSpPr/>
          <p:nvPr/>
        </p:nvSpPr>
        <p:spPr>
          <a:xfrm>
            <a:off x="11145498" y="6238249"/>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TEAM</a:t>
            </a:r>
            <a:endParaRPr lang="en-US" sz="1200" dirty="0"/>
          </a:p>
        </p:txBody>
      </p:sp>
      <p:sp>
        <p:nvSpPr>
          <p:cNvPr id="3" name="Text 1"/>
          <p:cNvSpPr/>
          <p:nvPr>
            <p:ph type="title"/>
          </p:nvPr>
        </p:nvSpPr>
        <p:spPr>
          <a:xfrm>
            <a:off x="812800" y="1127758"/>
            <a:ext cx="10883393" cy="52829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42B"/>
                </a:solidFill>
                <a:latin typeface="Space Grotesk" pitchFamily="34" charset="0"/>
                <a:ea typeface="Space Grotesk" pitchFamily="34" charset="-122"/>
                <a:cs typeface="Space Grotesk" pitchFamily="34" charset="-120"/>
              </a:rPr>
              <a:t>The team behind RippleOps</a:t>
            </a:r>
            <a:endParaRPr lang="en-US" sz="3600" dirty="0"/>
          </a:p>
        </p:txBody>
      </p:sp>
      <p:sp>
        <p:nvSpPr>
          <p:cNvPr id="4" name="Shape 2"/>
          <p:cNvSpPr/>
          <p:nvPr/>
        </p:nvSpPr>
        <p:spPr>
          <a:xfrm>
            <a:off x="815975" y="2040223"/>
            <a:ext cx="3414146" cy="2608149"/>
          </a:xfrm>
          <a:prstGeom prst="roundRect">
            <a:avLst>
              <a:gd name="adj" fmla="val 3774"/>
            </a:avLst>
          </a:prstGeom>
          <a:solidFill>
            <a:srgbClr val="FDFDFE"/>
          </a:solidFill>
          <a:ln w="6350">
            <a:solidFill>
              <a:srgbClr val="DCDDEA"/>
            </a:solidFill>
            <a:prstDash val="solid"/>
          </a:ln>
        </p:spPr>
      </p:sp>
      <p:sp>
        <p:nvSpPr>
          <p:cNvPr id="5" name="Shape 3"/>
          <p:cNvSpPr/>
          <p:nvPr/>
        </p:nvSpPr>
        <p:spPr>
          <a:xfrm>
            <a:off x="1070429" y="2294682"/>
            <a:ext cx="762000" cy="762000"/>
          </a:xfrm>
          <a:prstGeom prst="roundRect">
            <a:avLst>
              <a:gd name="adj" fmla="val 50000"/>
            </a:avLst>
          </a:prstGeom>
          <a:solidFill>
            <a:srgbClr val="ECECF5"/>
          </a:solidFill>
          <a:ln/>
        </p:spPr>
      </p:sp>
      <p:pic>
        <p:nvPicPr>
          <p:cNvPr id="6" name="Image 0" descr="Users">    </p:cNvPr>
          <p:cNvPicPr>
            <a:picLocks noChangeAspect="1"/>
          </p:cNvPicPr>
          <p:nvPr/>
        </p:nvPicPr>
        <p:blipFill>
          <a:blip r:embed="rId1"/>
          <a:srcRect l="0" r="0" t="0" b="0"/>
          <a:stretch/>
        </p:blipFill>
        <p:spPr>
          <a:xfrm>
            <a:off x="1273629" y="2497882"/>
            <a:ext cx="355600" cy="355600"/>
          </a:xfrm>
          <a:prstGeom prst="rect">
            <a:avLst/>
          </a:prstGeom>
        </p:spPr>
      </p:pic>
      <p:sp>
        <p:nvSpPr>
          <p:cNvPr id="7" name="Text 4"/>
          <p:cNvSpPr/>
          <p:nvPr/>
        </p:nvSpPr>
        <p:spPr>
          <a:xfrm>
            <a:off x="1070429" y="3158282"/>
            <a:ext cx="2992396"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[Name]</a:t>
            </a:r>
            <a:endParaRPr lang="en-US" sz="2200" dirty="0"/>
          </a:p>
        </p:txBody>
      </p:sp>
      <p:sp>
        <p:nvSpPr>
          <p:cNvPr id="8" name="Text 5"/>
          <p:cNvSpPr/>
          <p:nvPr/>
        </p:nvSpPr>
        <p:spPr>
          <a:xfrm>
            <a:off x="1070429" y="3581177"/>
            <a:ext cx="2992396"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[ROLE]</a:t>
            </a:r>
            <a:endParaRPr lang="en-US" sz="1200" dirty="0"/>
          </a:p>
        </p:txBody>
      </p:sp>
      <p:sp>
        <p:nvSpPr>
          <p:cNvPr id="9" name="Text 6"/>
          <p:cNvSpPr/>
          <p:nvPr/>
        </p:nvSpPr>
        <p:spPr>
          <a:xfrm>
            <a:off x="1070429" y="3896122"/>
            <a:ext cx="2992396"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[One line on background and what they built]</a:t>
            </a:r>
            <a:endParaRPr lang="en-US" sz="1400" dirty="0"/>
          </a:p>
        </p:txBody>
      </p:sp>
      <p:sp>
        <p:nvSpPr>
          <p:cNvPr id="10" name="Shape 7"/>
          <p:cNvSpPr/>
          <p:nvPr/>
        </p:nvSpPr>
        <p:spPr>
          <a:xfrm>
            <a:off x="4388871" y="2040223"/>
            <a:ext cx="3414202" cy="2608149"/>
          </a:xfrm>
          <a:prstGeom prst="roundRect">
            <a:avLst>
              <a:gd name="adj" fmla="val 3774"/>
            </a:avLst>
          </a:prstGeom>
          <a:solidFill>
            <a:srgbClr val="FDFDFE"/>
          </a:solidFill>
          <a:ln w="6350">
            <a:solidFill>
              <a:srgbClr val="DCDDEA"/>
            </a:solidFill>
            <a:prstDash val="solid"/>
          </a:ln>
        </p:spPr>
      </p:sp>
      <p:sp>
        <p:nvSpPr>
          <p:cNvPr id="11" name="Shape 8"/>
          <p:cNvSpPr/>
          <p:nvPr/>
        </p:nvSpPr>
        <p:spPr>
          <a:xfrm>
            <a:off x="4643324" y="2294682"/>
            <a:ext cx="762000" cy="762000"/>
          </a:xfrm>
          <a:prstGeom prst="roundRect">
            <a:avLst>
              <a:gd name="adj" fmla="val 50000"/>
            </a:avLst>
          </a:prstGeom>
          <a:solidFill>
            <a:srgbClr val="ECECF5"/>
          </a:solidFill>
          <a:ln/>
        </p:spPr>
      </p:sp>
      <p:pic>
        <p:nvPicPr>
          <p:cNvPr id="12" name="Image 1" descr="Users">    </p:cNvPr>
          <p:cNvPicPr>
            <a:picLocks noChangeAspect="1"/>
          </p:cNvPicPr>
          <p:nvPr/>
        </p:nvPicPr>
        <p:blipFill>
          <a:blip r:embed="rId2"/>
          <a:srcRect l="0" r="0" t="0" b="0"/>
          <a:stretch/>
        </p:blipFill>
        <p:spPr>
          <a:xfrm>
            <a:off x="4846524" y="2497882"/>
            <a:ext cx="355600" cy="355600"/>
          </a:xfrm>
          <a:prstGeom prst="rect">
            <a:avLst/>
          </a:prstGeom>
        </p:spPr>
      </p:pic>
      <p:sp>
        <p:nvSpPr>
          <p:cNvPr id="13" name="Text 9"/>
          <p:cNvSpPr/>
          <p:nvPr/>
        </p:nvSpPr>
        <p:spPr>
          <a:xfrm>
            <a:off x="4643324" y="3158282"/>
            <a:ext cx="2992454"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[Name]</a:t>
            </a:r>
            <a:endParaRPr lang="en-US" sz="2200" dirty="0"/>
          </a:p>
        </p:txBody>
      </p:sp>
      <p:sp>
        <p:nvSpPr>
          <p:cNvPr id="14" name="Text 10"/>
          <p:cNvSpPr/>
          <p:nvPr/>
        </p:nvSpPr>
        <p:spPr>
          <a:xfrm>
            <a:off x="4643324" y="3581177"/>
            <a:ext cx="299245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[ROLE]</a:t>
            </a:r>
            <a:endParaRPr lang="en-US" sz="1200" dirty="0"/>
          </a:p>
        </p:txBody>
      </p:sp>
      <p:sp>
        <p:nvSpPr>
          <p:cNvPr id="15" name="Text 11"/>
          <p:cNvSpPr/>
          <p:nvPr/>
        </p:nvSpPr>
        <p:spPr>
          <a:xfrm>
            <a:off x="4643324" y="3896122"/>
            <a:ext cx="2992454"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[One line on background and what they built]</a:t>
            </a:r>
            <a:endParaRPr lang="en-US" sz="1400" dirty="0"/>
          </a:p>
        </p:txBody>
      </p:sp>
      <p:sp>
        <p:nvSpPr>
          <p:cNvPr id="16" name="Shape 12"/>
          <p:cNvSpPr/>
          <p:nvPr/>
        </p:nvSpPr>
        <p:spPr>
          <a:xfrm>
            <a:off x="7961823" y="2040223"/>
            <a:ext cx="3414202" cy="2608149"/>
          </a:xfrm>
          <a:prstGeom prst="roundRect">
            <a:avLst>
              <a:gd name="adj" fmla="val 3774"/>
            </a:avLst>
          </a:prstGeom>
          <a:solidFill>
            <a:srgbClr val="FDFDFE"/>
          </a:solidFill>
          <a:ln w="6350">
            <a:solidFill>
              <a:srgbClr val="DCDDEA"/>
            </a:solidFill>
            <a:prstDash val="solid"/>
          </a:ln>
        </p:spPr>
      </p:sp>
      <p:sp>
        <p:nvSpPr>
          <p:cNvPr id="17" name="Shape 13"/>
          <p:cNvSpPr/>
          <p:nvPr/>
        </p:nvSpPr>
        <p:spPr>
          <a:xfrm>
            <a:off x="8216277" y="2294682"/>
            <a:ext cx="762000" cy="762000"/>
          </a:xfrm>
          <a:prstGeom prst="roundRect">
            <a:avLst>
              <a:gd name="adj" fmla="val 50000"/>
            </a:avLst>
          </a:prstGeom>
          <a:solidFill>
            <a:srgbClr val="ECECF5"/>
          </a:solidFill>
          <a:ln/>
        </p:spPr>
      </p:sp>
      <p:pic>
        <p:nvPicPr>
          <p:cNvPr id="18" name="Image 2" descr="Users">    </p:cNvPr>
          <p:cNvPicPr>
            <a:picLocks noChangeAspect="1"/>
          </p:cNvPicPr>
          <p:nvPr/>
        </p:nvPicPr>
        <p:blipFill>
          <a:blip r:embed="rId3"/>
          <a:srcRect l="0" r="0" t="0" b="0"/>
          <a:stretch/>
        </p:blipFill>
        <p:spPr>
          <a:xfrm>
            <a:off x="8419477" y="2497882"/>
            <a:ext cx="355600" cy="355600"/>
          </a:xfrm>
          <a:prstGeom prst="rect">
            <a:avLst/>
          </a:prstGeom>
        </p:spPr>
      </p:pic>
      <p:sp>
        <p:nvSpPr>
          <p:cNvPr id="19" name="Text 14"/>
          <p:cNvSpPr/>
          <p:nvPr/>
        </p:nvSpPr>
        <p:spPr>
          <a:xfrm>
            <a:off x="8216277" y="3158282"/>
            <a:ext cx="2992454" cy="346699"/>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2142B"/>
                </a:solidFill>
                <a:latin typeface="Space Grotesk" pitchFamily="34" charset="0"/>
                <a:ea typeface="Space Grotesk" pitchFamily="34" charset="-122"/>
                <a:cs typeface="Space Grotesk" pitchFamily="34" charset="-120"/>
              </a:rPr>
              <a:t>[Name]</a:t>
            </a:r>
            <a:endParaRPr lang="en-US" sz="2200" dirty="0"/>
          </a:p>
        </p:txBody>
      </p:sp>
      <p:sp>
        <p:nvSpPr>
          <p:cNvPr id="20" name="Text 15"/>
          <p:cNvSpPr/>
          <p:nvPr/>
        </p:nvSpPr>
        <p:spPr>
          <a:xfrm>
            <a:off x="8216277" y="3581177"/>
            <a:ext cx="299245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46E5"/>
                </a:solidFill>
                <a:latin typeface="IBM Plex Sans" pitchFamily="34" charset="0"/>
                <a:ea typeface="IBM Plex Sans" pitchFamily="34" charset="-122"/>
                <a:cs typeface="IBM Plex Sans" pitchFamily="34" charset="-120"/>
              </a:rPr>
              <a:t>[ROLE]</a:t>
            </a:r>
            <a:endParaRPr lang="en-US" sz="1200" dirty="0"/>
          </a:p>
        </p:txBody>
      </p:sp>
      <p:sp>
        <p:nvSpPr>
          <p:cNvPr id="21" name="Text 16"/>
          <p:cNvSpPr/>
          <p:nvPr/>
        </p:nvSpPr>
        <p:spPr>
          <a:xfrm>
            <a:off x="8216277" y="3896122"/>
            <a:ext cx="2992454" cy="5231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68"/>
                </a:solidFill>
                <a:latin typeface="IBM Plex Sans" pitchFamily="34" charset="0"/>
                <a:ea typeface="IBM Plex Sans" pitchFamily="34" charset="-122"/>
                <a:cs typeface="IBM Plex Sans" pitchFamily="34" charset="-120"/>
              </a:rPr>
              <a:t>[One line on background and what they built]</a:t>
            </a:r>
            <a:endParaRPr lang="en-US" sz="1400" dirty="0"/>
          </a:p>
        </p:txBody>
      </p:sp>
      <p:sp>
        <p:nvSpPr>
          <p:cNvPr id="22" name="Text 17"/>
          <p:cNvSpPr/>
          <p:nvPr/>
        </p:nvSpPr>
        <p:spPr>
          <a:xfrm>
            <a:off x="812800" y="6238255"/>
            <a:ext cx="2670266"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RippleOps · AI Builder Cup 2026</a:t>
            </a:r>
            <a:endParaRPr lang="en-US" sz="1200" dirty="0"/>
          </a:p>
        </p:txBody>
      </p:sp>
      <p:sp>
        <p:nvSpPr>
          <p:cNvPr id="23" name="Text 18"/>
          <p:cNvSpPr/>
          <p:nvPr/>
        </p:nvSpPr>
        <p:spPr>
          <a:xfrm>
            <a:off x="11145498" y="6238255"/>
            <a:ext cx="233703" cy="23874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E88"/>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4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1" cy="6858000"/>
          </a:xfrm>
          <a:prstGeom prst="rect">
            <a:avLst/>
          </a:prstGeom>
        </p:spPr>
      </p:pic>
      <p:sp>
        <p:nvSpPr>
          <p:cNvPr id="3" name="Text 0"/>
          <p:cNvSpPr/>
          <p:nvPr/>
        </p:nvSpPr>
        <p:spPr>
          <a:xfrm>
            <a:off x="5495041" y="2220007"/>
            <a:ext cx="1201919" cy="238749"/>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RIPPLEOPS</a:t>
            </a:r>
            <a:endParaRPr lang="en-US" sz="1200" dirty="0"/>
          </a:p>
        </p:txBody>
      </p:sp>
      <p:sp>
        <p:nvSpPr>
          <p:cNvPr id="4" name="Text 1"/>
          <p:cNvSpPr/>
          <p:nvPr>
            <p:ph type="title"/>
          </p:nvPr>
        </p:nvSpPr>
        <p:spPr>
          <a:xfrm>
            <a:off x="3079370" y="2687365"/>
            <a:ext cx="6033203" cy="1076892"/>
          </a:xfrm>
          <a:prstGeom prst="rect">
            <a:avLst/>
          </a:prstGeom>
          <a:noFill/>
          <a:ln/>
        </p:spPr>
        <p:txBody>
          <a:bodyPr wrap="square" lIns="0" tIns="0" rIns="0" bIns="0" rtlCol="0" anchor="t">
            <a:normAutofit/>
          </a:bodyPr>
          <a:lstStyle/>
          <a:p>
            <a:pPr algn="ctr" indent="0" marL="0">
              <a:lnSpc>
                <a:spcPts val="4140"/>
              </a:lnSpc>
              <a:buNone/>
            </a:pPr>
            <a:r>
              <a:rPr lang="en-US" sz="3600" b="1" i="0" dirty="0">
                <a:solidFill>
                  <a:srgbClr val="FDFDFE"/>
                </a:solidFill>
                <a:latin typeface="Space Grotesk" pitchFamily="34" charset="0"/>
                <a:ea typeface="Space Grotesk" pitchFamily="34" charset="-122"/>
                <a:cs typeface="Space Grotesk" pitchFamily="34" charset="-120"/>
              </a:rPr>
              <a:t>One change. Every impact.</a:t>
            </a:r>
            <a:endParaRPr lang="en-US" sz="3600" dirty="0"/>
          </a:p>
          <a:p>
            <a:pPr algn="ctr" indent="0" marL="0">
              <a:lnSpc>
                <a:spcPts val="4140"/>
              </a:lnSpc>
              <a:buNone/>
            </a:pPr>
            <a:r>
              <a:rPr lang="en-US" sz="3600" b="1" i="0" dirty="0">
                <a:solidFill>
                  <a:srgbClr val="FDFDFE"/>
                </a:solidFill>
                <a:latin typeface="Space Grotesk" pitchFamily="34" charset="0"/>
                <a:ea typeface="Space Grotesk" pitchFamily="34" charset="-122"/>
                <a:cs typeface="Space Grotesk" pitchFamily="34" charset="-120"/>
              </a:rPr>
              <a:t>One decision.</a:t>
            </a:r>
            <a:endParaRPr lang="en-US" sz="3600" dirty="0"/>
          </a:p>
        </p:txBody>
      </p:sp>
      <p:sp>
        <p:nvSpPr>
          <p:cNvPr id="5" name="Text 2"/>
          <p:cNvSpPr/>
          <p:nvPr/>
        </p:nvSpPr>
        <p:spPr>
          <a:xfrm>
            <a:off x="2666325" y="3992848"/>
            <a:ext cx="6859293" cy="309846"/>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DBA74"/>
                </a:solidFill>
                <a:latin typeface="IBM Plex Sans" pitchFamily="34" charset="0"/>
                <a:ea typeface="IBM Plex Sans" pitchFamily="34" charset="-122"/>
                <a:cs typeface="IBM Plex Sans" pitchFamily="34" charset="-120"/>
              </a:rPr>
              <a:t>Live demo</a:t>
            </a:r>
            <a:r>
              <a:rPr lang="en-US" sz="1600" dirty="0">
                <a:solidFill>
                  <a:srgbClr val="C7C9E0"/>
                </a:solidFill>
                <a:latin typeface="IBM Plex Sans" pitchFamily="34" charset="0"/>
                <a:ea typeface="IBM Plex Sans" pitchFamily="34" charset="-122"/>
                <a:cs typeface="IBM Plex Sans" pitchFamily="34" charset="-120"/>
              </a:rPr>
              <a:t> rippleops-web-273776274235.us-central1.run.app</a:t>
            </a:r>
            <a:endParaRPr lang="en-US" sz="1600" dirty="0"/>
          </a:p>
        </p:txBody>
      </p:sp>
      <p:sp>
        <p:nvSpPr>
          <p:cNvPr id="6" name="Text 3"/>
          <p:cNvSpPr/>
          <p:nvPr/>
        </p:nvSpPr>
        <p:spPr>
          <a:xfrm>
            <a:off x="3439279" y="4353496"/>
            <a:ext cx="5313385" cy="309846"/>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DBA74"/>
                </a:solidFill>
                <a:latin typeface="IBM Plex Sans" pitchFamily="34" charset="0"/>
                <a:ea typeface="IBM Plex Sans" pitchFamily="34" charset="-122"/>
                <a:cs typeface="IBM Plex Sans" pitchFamily="34" charset="-120"/>
              </a:rPr>
              <a:t>Code</a:t>
            </a:r>
            <a:r>
              <a:rPr lang="en-US" sz="1600" dirty="0">
                <a:solidFill>
                  <a:srgbClr val="C7C9E0"/>
                </a:solidFill>
                <a:latin typeface="IBM Plex Sans" pitchFamily="34" charset="0"/>
                <a:ea typeface="IBM Plex Sans" pitchFamily="34" charset="-122"/>
                <a:cs typeface="IBM Plex Sans" pitchFamily="34" charset="-120"/>
              </a:rPr>
              <a:t> github.com/victorchangwork052/rippleops</a:t>
            </a:r>
            <a:endParaRPr lang="en-US" sz="1600" dirty="0"/>
          </a:p>
        </p:txBody>
      </p:sp>
    </p:spTree>
  </p:cSld>
  <p:clrMapOvr>
    <a:masterClrMapping/>
  </p:clrMapOvr>
</p:sld>
</file>

<file path=ppt/theme/theme1.xml><?xml version="1.0" encoding="utf-8"?>
<a:theme xmlns:a="http://schemas.openxmlformats.org/drawingml/2006/main" name="RippleOps — Proposal">
  <a:themeElements>
    <a:clrScheme name="RippleOps — Proposal">
      <a:dk1>
        <a:srgbClr val="12142B"/>
      </a:dk1>
      <a:lt1>
        <a:srgbClr val="F6F6FA"/>
      </a:lt1>
      <a:dk2>
        <a:srgbClr val="4B4D5F"/>
      </a:dk2>
      <a:lt2>
        <a:srgbClr val="DFDFE5"/>
      </a:lt2>
      <a:accent1>
        <a:srgbClr val="4F46E5"/>
      </a:accent1>
      <a:accent2>
        <a:srgbClr val="3F37C9"/>
      </a:accent2>
      <a:accent3>
        <a:srgbClr val="FDBA74"/>
      </a:accent3>
      <a:accent4>
        <a:srgbClr val="A5B4FC"/>
      </a:accent4>
      <a:accent5>
        <a:srgbClr val="C2410C"/>
      </a:accent5>
      <a:accent6>
        <a:srgbClr val="9A3412"/>
      </a:accent6>
      <a:hlink>
        <a:srgbClr val="0563C1"/>
      </a:hlink>
      <a:folHlink>
        <a:srgbClr val="954F72"/>
      </a:folHlink>
    </a:clrScheme>
    <a:fontScheme name="RippleOps — Proposal">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RippleOps — Proposal</dc:title>
  <dc:subject/>
  <dc:creator/>
  <cp:lastModifiedBy/>
  <cp:revision>1</cp:revision>
  <dcterms:created xsi:type="dcterms:W3CDTF">2026-10-04T04:32:14Z</dcterms:created>
  <dcterms:modified xsi:type="dcterms:W3CDTF">2026-10-04T04:32:14Z</dcterms:modified>
</cp:coreProperties>
</file>