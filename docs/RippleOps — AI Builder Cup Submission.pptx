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8" r:id="rId3"/>
    <p:sldId id="259" r:id="rId4"/>
    <p:sldId id="260" r:id="rId5"/>
    <p:sldId id="261" r:id="rId6"/>
    <p:sldId id="262" r:id="rId7"/>
    <p:sldId id="263" r:id="rId8"/>
    <p:sldId id="270" r:id="rId9"/>
    <p:sldId id="274" r:id="rId10"/>
    <p:sldId id="264" r:id="rId11"/>
    <p:sldId id="265" r:id="rId12"/>
    <p:sldId id="266" r:id="rId13"/>
    <p:sldId id="273" r:id="rId14"/>
    <p:sldId id="272" r:id="rId15"/>
    <p:sldId id="267" r:id="rId16"/>
    <p:sldId id="268" r:id="rId17"/>
    <p:sldId id="269" r:id="rId18"/>
    <p:sldId id="271" r:id="rId19"/>
  </p:sldIdLst>
  <p:sldSz cx="9144000" cy="5143500" type="screen16x9"/>
  <p:notesSz cx="6858000" cy="9144000"/>
  <p:embeddedFontLst>
    <p:embeddedFont>
      <p:font typeface="Google Sans Flex" panose="02020500000000000000" charset="0"/>
      <p:regular r:id="rId21"/>
      <p:bold r:id="rId22"/>
    </p:embeddedFont>
    <p:embeddedFont>
      <p:font typeface="Google Sans Flex SemiBold" panose="02020500000000000000"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439" y="4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1"/>
  <c:style val="2"/>
  <c:chart>
    <c:title>
      <c:tx>
        <c:rich>
          <a:bodyPr/>
          <a:lstStyle/>
          <a:p>
            <a:pPr algn="l"/>
            <a:r>
              <a:rPr sz="1000" b="1">
                <a:solidFill>
                  <a:srgbClr val="202124"/>
                </a:solidFill>
                <a:latin typeface="Arial"/>
              </a:rPr>
              <a:t>Median response, live API (ms, n = 5)</a:t>
            </a:r>
          </a:p>
        </c:rich>
      </c:tx>
      <c:overlay val="0"/>
    </c:title>
    <c:autoTitleDeleted val="0"/>
    <c:plotArea>
      <c:layout/>
      <c:barChart>
        <c:barDir val="bar"/>
        <c:grouping val="clustered"/>
        <c:varyColors val="1"/>
        <c:ser>
          <c:idx val="0"/>
          <c:order val="0"/>
          <c:tx>
            <c:strRef>
              <c:f>Sheet1!$B$1</c:f>
              <c:strCache>
                <c:ptCount val="1"/>
                <c:pt idx="0">
                  <c:v>Median latency (ms)</c:v>
                </c:pt>
              </c:strCache>
            </c:strRef>
          </c:tx>
          <c:spPr>
            <a:solidFill>
              <a:srgbClr val="4285F4"/>
            </a:solidFill>
          </c:spPr>
          <c:invertIfNegative val="1"/>
          <c:dPt>
            <c:idx val="6"/>
            <c:invertIfNegative val="1"/>
            <c:bubble3D val="0"/>
            <c:spPr>
              <a:solidFill>
                <a:srgbClr val="FBBC04"/>
              </a:solidFill>
            </c:spPr>
            <c:extLst>
              <c:ext xmlns:c16="http://schemas.microsoft.com/office/drawing/2014/chart" uri="{C3380CC4-5D6E-409C-BE32-E72D297353CC}">
                <c16:uniqueId val="{00000001-6655-4BD8-A91F-FBF632B5A679}"/>
              </c:ext>
            </c:extLst>
          </c:dPt>
          <c:dLbls>
            <c:numFmt formatCode="0" sourceLinked="0"/>
            <c:spPr>
              <a:noFill/>
              <a:ln>
                <a:noFill/>
              </a:ln>
              <a:effectLst/>
            </c:spPr>
            <c:txPr>
              <a:bodyPr/>
              <a:lstStyle/>
              <a:p>
                <a:pPr>
                  <a:defRPr sz="900">
                    <a:solidFill>
                      <a:srgbClr val="202124"/>
                    </a:solidFill>
                    <a:latin typeface="Arial"/>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Actions</c:v>
                </c:pt>
                <c:pt idx="1">
                  <c:v>Sourcing</c:v>
                </c:pt>
                <c:pt idx="2">
                  <c:v>Health</c:v>
                </c:pt>
                <c:pt idx="3">
                  <c:v>Event detail</c:v>
                </c:pt>
                <c:pt idx="4">
                  <c:v>Agent run (stored)</c:v>
                </c:pt>
                <c:pt idx="5">
                  <c:v>Impact analysis</c:v>
                </c:pt>
                <c:pt idx="6">
                  <c:v>Production plan</c:v>
                </c:pt>
              </c:strCache>
            </c:strRef>
          </c:cat>
          <c:val>
            <c:numRef>
              <c:f>Sheet1!$B$2:$B$8</c:f>
              <c:numCache>
                <c:formatCode>General</c:formatCode>
                <c:ptCount val="7"/>
                <c:pt idx="0">
                  <c:v>256</c:v>
                </c:pt>
                <c:pt idx="1">
                  <c:v>262</c:v>
                </c:pt>
                <c:pt idx="2">
                  <c:v>269</c:v>
                </c:pt>
                <c:pt idx="3">
                  <c:v>275</c:v>
                </c:pt>
                <c:pt idx="4">
                  <c:v>284</c:v>
                </c:pt>
                <c:pt idx="5">
                  <c:v>294</c:v>
                </c:pt>
                <c:pt idx="6">
                  <c:v>797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655-4BD8-A91F-FBF632B5A67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ADCE0"/>
            </a:solidFill>
          </a:ln>
        </c:spPr>
        <c:txPr>
          <a:bodyPr/>
          <a:lstStyle/>
          <a:p>
            <a:pPr>
              <a:defRPr sz="900">
                <a:solidFill>
                  <a:srgbClr val="5F6368"/>
                </a:solidFill>
                <a:latin typeface="Arial"/>
              </a:defRPr>
            </a:pPr>
            <a:endParaRPr lang="zh-TW"/>
          </a:p>
        </c:txPr>
        <c:crossAx val="-2113994440"/>
        <c:crosses val="autoZero"/>
        <c:auto val="1"/>
        <c:lblAlgn val="ctr"/>
        <c:lblOffset val="100"/>
        <c:noMultiLvlLbl val="0"/>
      </c:catAx>
      <c:valAx>
        <c:axId val="-2113994440"/>
        <c:scaling>
          <c:orientation val="minMax"/>
          <c:max val="95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Team Ripple Effect, led by Victor Chang. Problem: one supplier change takes days and six teams to understand; RippleOps answers it in minutes.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RippleOps traces a supplier change through every product, prices the impact, and hands each team an action plan. In the demo, NovaChip ends MCU-X100: 12 SKUs, $4.2M revenue exposed, 58 days of stock, 4 products with no approved alternative.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Sources: Z2Data, "Components Are Going EOL Without Product Change Notifications at Alarming Rates" (March 2026). McKinsey Global Institute, "Risk, resilience, and rebalancing in global value chains" (August 2020). Resilinc 2024 disruption release and 2025 annual report. AlixPartners semiconductor shortage forecast (September 2021).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Every number in these features comes from deterministic engines; Gemini reads, plans, chooses tools and explains. An Ask RippleOps assistant answers questions over the same tools.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Blue steps are driven by Gemini agents that call typed tools; green steps are pure calculation; the decision belongs to a person. The bottom row shows what each step produced in the MCU-X100 demo.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six main screens of the live prototype, in the order a planner uses them. The Snapshots slides show each screen in detail.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browser talks to a Next.js app on Cloud Run, which proxies to a FastAPI service on Cloud Run running the Google ADK agents. Agents call Gemini 2.5 Flash on Vertex AI to reason and call typed tools to calculate: BigQuery holds 17 business tables, BigQuery Graph traces the BOM, AI.FORECAST (TimesFM) forecasts demand, and OR-Tools re-plans production.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fb085bff3c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fb085bff3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SequentialAgent: impact analyst, then a ParallelAgent with the sourcing team (scout, three parallel due-diligence agents, evaluator) and the planning team (demand planner, production planner), then the response coordinator. Gemini 2.5 Flash on Vertex AI. Gemini decides which tools to call; the tools calculate.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Finance and procurement cannot act on a number a language model guessed. Gemini never does business arithmetic; quantities, costs and margins come from deterministic code, and a guardrail checks every figure in AI text.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Google ADK orchestrates nine Gemini agents; BigQuery and BigQuery Graph hold and trace the data; OR-Tools optimizes; everything is deployed on Cloud Run. Versions are the ones pinned in the repository.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Assumptions: one site, about 200 change events a month, the current Cloud Run sizing (API 1 vCPU / 2 GiB with one warm instance; web scales to zero) and a BigQuery Enterprise reservation with a 0-slot baseline. These are estimates, not quotes.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Screens from the live deployment on Cloud Run, using the fictional MCU-X100 dataset.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Screens from the live deployment on Cloud Run, using the fictional MCU-X100 dataset.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Screens from the live deployment on Cloud Run, using the fictional MCU-X100 dataset.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Measured on 13 October 2026 against the live Cloud Run deployment (five GET requests per endpoint, cached analysis). The production plan endpoint includes the OR-Tools comparison. Agent run time depends on Gemini latency: 13 to 94 seconds observed, 18.5 seconds on the latest run. 92 backend tests pass locally in about 15 seconds.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connectors are interfaces today, so real APIs plug in without changing the agents. The same loop covers tariffs, commodity spikes, freight disruption and supplier failure.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Shortcut: /demo/mcu-x100 loads the demo scenario in one step. The app also runs locally without Google Cloud credentials.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Thank you. RippleOps: one change, every impact, one decision.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2.png"/><Relationship Id="rId7"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10" Type="http://schemas.openxmlformats.org/officeDocument/2006/relationships/image" Target="../media/image22.jpg"/><Relationship Id="rId4" Type="http://schemas.openxmlformats.org/officeDocument/2006/relationships/image" Target="../media/image3.png"/><Relationship Id="rId9" Type="http://schemas.openxmlformats.org/officeDocument/2006/relationships/image" Target="../media/image21.jp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3.png"/><Relationship Id="rId9" Type="http://schemas.openxmlformats.org/officeDocument/2006/relationships/image" Target="../media/image27.png"/><Relationship Id="rId1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hyperlink" Target="https://drive.google.com/file/d/1c1dxjsODO5XLfD-MqT9WZJLhYdOSqMGH/view?usp=sharing" TargetMode="External"/><Relationship Id="rId3" Type="http://schemas.openxmlformats.org/officeDocument/2006/relationships/image" Target="../media/image2.png"/><Relationship Id="rId7"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github.com/victorchangwork052/rippleops" TargetMode="External"/><Relationship Id="rId5" Type="http://schemas.openxmlformats.org/officeDocument/2006/relationships/image" Target="../media/image43.png"/><Relationship Id="rId10" Type="http://schemas.openxmlformats.org/officeDocument/2006/relationships/hyperlink" Target="https://rippleops-web-273776274235.us-central1.run.app" TargetMode="External"/><Relationship Id="rId4" Type="http://schemas.openxmlformats.org/officeDocument/2006/relationships/image" Target="../media/image3.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latin typeface="Arial"/>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marL="914400" lvl="1" indent="-342900" algn="l" rtl="0">
              <a:spcBef>
                <a:spcPts val="0"/>
              </a:spcBef>
              <a:spcAft>
                <a:spcPts val="0"/>
              </a:spcAft>
              <a:buSzPts val="1800"/>
              <a:buFont typeface="Google Sans Flex"/>
              <a:buAutoNum type="alphaLcPeriod"/>
            </a:pPr>
            <a:r>
              <a:rPr lang="en-GB" sz="1600">
                <a:latin typeface="Arial"/>
                <a:ea typeface="Google Sans Flex"/>
                <a:cs typeface="Google Sans Flex"/>
                <a:sym typeface="Google Sans Flex"/>
              </a:rPr>
              <a:t>Team name: </a:t>
            </a:r>
            <a:r>
              <a:rPr sz="1600" b="1">
                <a:solidFill>
                  <a:srgbClr val="202124"/>
                </a:solidFill>
                <a:latin typeface="Arial"/>
              </a:rPr>
              <a:t>Ripple Effect</a:t>
            </a:r>
            <a:endParaRPr sz="180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600">
                <a:latin typeface="Arial"/>
                <a:ea typeface="Google Sans Flex"/>
                <a:cs typeface="Google Sans Flex"/>
                <a:sym typeface="Google Sans Flex"/>
              </a:rPr>
              <a:t>Team leader name: </a:t>
            </a:r>
            <a:r>
              <a:rPr sz="1600" b="1">
                <a:solidFill>
                  <a:srgbClr val="202124"/>
                </a:solidFill>
                <a:latin typeface="Arial"/>
              </a:rPr>
              <a:t>Victor Chang</a:t>
            </a:r>
            <a:endParaRPr sz="180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600">
                <a:latin typeface="Arial"/>
                <a:ea typeface="Google Sans Flex"/>
                <a:cs typeface="Google Sans Flex"/>
                <a:sym typeface="Google Sans Flex"/>
              </a:rPr>
              <a:t>Problem Statement: </a:t>
            </a:r>
            <a:endParaRPr sz="1800">
              <a:latin typeface="Google Sans Flex"/>
              <a:ea typeface="Google Sans Flex"/>
              <a:cs typeface="Google Sans Flex"/>
              <a:sym typeface="Google Sans Flex"/>
            </a:endParaRPr>
          </a:p>
          <a:p>
            <a:pPr marL="914400" lvl="1" indent="0" algn="l" rtl="0">
              <a:spcBef>
                <a:spcPts val="300"/>
              </a:spcBef>
              <a:spcAft>
                <a:spcPts val="0"/>
              </a:spcAft>
              <a:buNone/>
            </a:pPr>
            <a:r>
              <a:rPr sz="1300">
                <a:solidFill>
                  <a:srgbClr val="5F6368"/>
                </a:solidFill>
                <a:latin typeface="Arial"/>
              </a:rPr>
              <a:t>Supplier changes, such as a discontinued part or a jump in copper and freight costs, take days and six teams to trace to products, margins and customers. Manufacturers need that answer, and a plan, before the first meeting.</a:t>
            </a:r>
            <a:endParaRPr sz="1800">
              <a:latin typeface="Google Sans Flex"/>
              <a:ea typeface="Google Sans Flex"/>
              <a:cs typeface="Google Sans Flex"/>
              <a:sym typeface="Google Sans Flex"/>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Brief about the idea</a:t>
            </a:r>
          </a:p>
        </p:txBody>
      </p:sp>
      <p:sp>
        <p:nvSpPr>
          <p:cNvPr id="72"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One supplier notice in, one approved response plan out</a:t>
            </a:r>
          </a:p>
        </p:txBody>
      </p:sp>
      <p:sp>
        <p:nvSpPr>
          <p:cNvPr id="73" name="TextBox 72"/>
          <p:cNvSpPr txBox="1"/>
          <p:nvPr/>
        </p:nvSpPr>
        <p:spPr>
          <a:xfrm>
            <a:off x="365760" y="1463040"/>
            <a:ext cx="4572000" cy="658368"/>
          </a:xfrm>
          <a:prstGeom prst="rect">
            <a:avLst/>
          </a:prstGeom>
          <a:noFill/>
        </p:spPr>
        <p:txBody>
          <a:bodyPr wrap="square" lIns="0" tIns="0" rIns="0" bIns="0" anchor="t">
            <a:noAutofit/>
          </a:bodyPr>
          <a:lstStyle/>
          <a:p>
            <a:pPr algn="l">
              <a:lnSpc>
                <a:spcPct val="110000"/>
              </a:lnSpc>
            </a:pPr>
            <a:r>
              <a:rPr sz="1250" b="0">
                <a:solidFill>
                  <a:srgbClr val="202124"/>
                </a:solidFill>
                <a:latin typeface="Arial"/>
              </a:rPr>
              <a:t>RippleOps is an AI change-impact agent for manufacturers. When a supplier discontinues a part, or raw-material and freight costs move, it:</a:t>
            </a:r>
          </a:p>
        </p:txBody>
      </p:sp>
      <p:sp>
        <p:nvSpPr>
          <p:cNvPr id="74" name="Oval 73"/>
          <p:cNvSpPr/>
          <p:nvPr/>
        </p:nvSpPr>
        <p:spPr>
          <a:xfrm>
            <a:off x="365760" y="2240280"/>
            <a:ext cx="420624" cy="420624"/>
          </a:xfrm>
          <a:prstGeom prst="ellipse">
            <a:avLst/>
          </a:prstGeom>
          <a:solidFill>
            <a:srgbClr val="4285F4"/>
          </a:solidFill>
          <a:ln>
            <a:noFill/>
          </a:ln>
        </p:spPr>
        <p:txBody>
          <a:bodyPr rtlCol="0" anchor="ctr"/>
          <a:lstStyle/>
          <a:p>
            <a:pPr algn="ctr"/>
            <a:endParaRPr/>
          </a:p>
        </p:txBody>
      </p:sp>
      <p:pic>
        <p:nvPicPr>
          <p:cNvPr id="75" name="Picture 74" descr="Network_w.png"/>
          <p:cNvPicPr>
            <a:picLocks noChangeAspect="1"/>
          </p:cNvPicPr>
          <p:nvPr/>
        </p:nvPicPr>
        <p:blipFill>
          <a:blip r:embed="rId4"/>
          <a:stretch>
            <a:fillRect/>
          </a:stretch>
        </p:blipFill>
        <p:spPr>
          <a:xfrm>
            <a:off x="458297" y="2332817"/>
            <a:ext cx="235549" cy="235549"/>
          </a:xfrm>
          <a:prstGeom prst="rect">
            <a:avLst/>
          </a:prstGeom>
        </p:spPr>
      </p:pic>
      <p:sp>
        <p:nvSpPr>
          <p:cNvPr id="76" name="TextBox 75"/>
          <p:cNvSpPr txBox="1"/>
          <p:nvPr/>
        </p:nvSpPr>
        <p:spPr>
          <a:xfrm>
            <a:off x="914400" y="2221992"/>
            <a:ext cx="4023360" cy="457200"/>
          </a:xfrm>
          <a:prstGeom prst="rect">
            <a:avLst/>
          </a:prstGeom>
          <a:noFill/>
        </p:spPr>
        <p:txBody>
          <a:bodyPr wrap="square" lIns="0" tIns="0" rIns="0" bIns="0" anchor="ctr">
            <a:noAutofit/>
          </a:bodyPr>
          <a:lstStyle/>
          <a:p>
            <a:pPr algn="l"/>
            <a:r>
              <a:rPr sz="1150" b="1">
                <a:solidFill>
                  <a:srgbClr val="202124"/>
                </a:solidFill>
                <a:latin typeface="Arial"/>
              </a:rPr>
              <a:t>Traces </a:t>
            </a:r>
            <a:r>
              <a:rPr sz="1150" b="0">
                <a:solidFill>
                  <a:srgbClr val="202124"/>
                </a:solidFill>
                <a:latin typeface="Arial"/>
              </a:rPr>
              <a:t>every level and path of the bill of materials, with BigQuery Graph</a:t>
            </a:r>
          </a:p>
        </p:txBody>
      </p:sp>
      <p:sp>
        <p:nvSpPr>
          <p:cNvPr id="77" name="Oval 76"/>
          <p:cNvSpPr/>
          <p:nvPr/>
        </p:nvSpPr>
        <p:spPr>
          <a:xfrm>
            <a:off x="365760" y="2880360"/>
            <a:ext cx="420624" cy="420624"/>
          </a:xfrm>
          <a:prstGeom prst="ellipse">
            <a:avLst/>
          </a:prstGeom>
          <a:solidFill>
            <a:srgbClr val="34A853"/>
          </a:solidFill>
          <a:ln>
            <a:noFill/>
          </a:ln>
        </p:spPr>
        <p:txBody>
          <a:bodyPr rtlCol="0" anchor="ctr"/>
          <a:lstStyle/>
          <a:p>
            <a:pPr algn="ctr"/>
            <a:endParaRPr/>
          </a:p>
        </p:txBody>
      </p:sp>
      <p:pic>
        <p:nvPicPr>
          <p:cNvPr id="78" name="Picture 77" descr="Calculator_w.png"/>
          <p:cNvPicPr>
            <a:picLocks noChangeAspect="1"/>
          </p:cNvPicPr>
          <p:nvPr/>
        </p:nvPicPr>
        <p:blipFill>
          <a:blip r:embed="rId5"/>
          <a:stretch>
            <a:fillRect/>
          </a:stretch>
        </p:blipFill>
        <p:spPr>
          <a:xfrm>
            <a:off x="458297" y="2972897"/>
            <a:ext cx="235549" cy="235549"/>
          </a:xfrm>
          <a:prstGeom prst="rect">
            <a:avLst/>
          </a:prstGeom>
        </p:spPr>
      </p:pic>
      <p:sp>
        <p:nvSpPr>
          <p:cNvPr id="79" name="TextBox 78"/>
          <p:cNvSpPr txBox="1"/>
          <p:nvPr/>
        </p:nvSpPr>
        <p:spPr>
          <a:xfrm>
            <a:off x="914400" y="2862072"/>
            <a:ext cx="4023360" cy="457200"/>
          </a:xfrm>
          <a:prstGeom prst="rect">
            <a:avLst/>
          </a:prstGeom>
          <a:noFill/>
        </p:spPr>
        <p:txBody>
          <a:bodyPr wrap="square" lIns="0" tIns="0" rIns="0" bIns="0" anchor="ctr">
            <a:noAutofit/>
          </a:bodyPr>
          <a:lstStyle/>
          <a:p>
            <a:pPr algn="l"/>
            <a:r>
              <a:rPr sz="1150" b="1">
                <a:solidFill>
                  <a:srgbClr val="202124"/>
                </a:solidFill>
                <a:latin typeface="Arial"/>
              </a:rPr>
              <a:t>Prices </a:t>
            </a:r>
            <a:r>
              <a:rPr sz="1150" b="0">
                <a:solidFill>
                  <a:srgbClr val="202124"/>
                </a:solidFill>
                <a:latin typeface="Arial"/>
              </a:rPr>
              <a:t>cost, margin, revenue at risk and stock coverage, deterministically</a:t>
            </a:r>
          </a:p>
        </p:txBody>
      </p:sp>
      <p:sp>
        <p:nvSpPr>
          <p:cNvPr id="80" name="Oval 79"/>
          <p:cNvSpPr/>
          <p:nvPr/>
        </p:nvSpPr>
        <p:spPr>
          <a:xfrm>
            <a:off x="365760" y="3520440"/>
            <a:ext cx="420624" cy="420624"/>
          </a:xfrm>
          <a:prstGeom prst="ellipse">
            <a:avLst/>
          </a:prstGeom>
          <a:solidFill>
            <a:srgbClr val="FBBC04"/>
          </a:solidFill>
          <a:ln>
            <a:noFill/>
          </a:ln>
        </p:spPr>
        <p:txBody>
          <a:bodyPr rtlCol="0" anchor="ctr"/>
          <a:lstStyle/>
          <a:p>
            <a:pPr algn="ctr"/>
            <a:endParaRPr/>
          </a:p>
        </p:txBody>
      </p:sp>
      <p:pic>
        <p:nvPicPr>
          <p:cNvPr id="81" name="Picture 80" descr="Bot_w.png"/>
          <p:cNvPicPr>
            <a:picLocks noChangeAspect="1"/>
          </p:cNvPicPr>
          <p:nvPr/>
        </p:nvPicPr>
        <p:blipFill>
          <a:blip r:embed="rId6"/>
          <a:stretch>
            <a:fillRect/>
          </a:stretch>
        </p:blipFill>
        <p:spPr>
          <a:xfrm>
            <a:off x="458297" y="3612977"/>
            <a:ext cx="235549" cy="235549"/>
          </a:xfrm>
          <a:prstGeom prst="rect">
            <a:avLst/>
          </a:prstGeom>
        </p:spPr>
      </p:pic>
      <p:sp>
        <p:nvSpPr>
          <p:cNvPr id="82" name="TextBox 81"/>
          <p:cNvSpPr txBox="1"/>
          <p:nvPr/>
        </p:nvSpPr>
        <p:spPr>
          <a:xfrm>
            <a:off x="914400" y="3502152"/>
            <a:ext cx="4023360" cy="457200"/>
          </a:xfrm>
          <a:prstGeom prst="rect">
            <a:avLst/>
          </a:prstGeom>
          <a:noFill/>
        </p:spPr>
        <p:txBody>
          <a:bodyPr wrap="square" lIns="0" tIns="0" rIns="0" bIns="0" anchor="ctr">
            <a:noAutofit/>
          </a:bodyPr>
          <a:lstStyle/>
          <a:p>
            <a:pPr algn="l"/>
            <a:r>
              <a:rPr sz="1150" b="1">
                <a:solidFill>
                  <a:srgbClr val="202124"/>
                </a:solidFill>
                <a:latin typeface="Arial"/>
              </a:rPr>
              <a:t>Responds </a:t>
            </a:r>
            <a:r>
              <a:rPr sz="1150" b="0">
                <a:solidFill>
                  <a:srgbClr val="202124"/>
                </a:solidFill>
                <a:latin typeface="Arial"/>
              </a:rPr>
              <a:t>with nine Google ADK agents that source alternatives and re-plan production</a:t>
            </a:r>
          </a:p>
        </p:txBody>
      </p:sp>
      <p:sp>
        <p:nvSpPr>
          <p:cNvPr id="83" name="Oval 82"/>
          <p:cNvSpPr/>
          <p:nvPr/>
        </p:nvSpPr>
        <p:spPr>
          <a:xfrm>
            <a:off x="365760" y="4160520"/>
            <a:ext cx="420624" cy="420624"/>
          </a:xfrm>
          <a:prstGeom prst="ellipse">
            <a:avLst/>
          </a:prstGeom>
          <a:solidFill>
            <a:srgbClr val="EA4335"/>
          </a:solidFill>
          <a:ln>
            <a:noFill/>
          </a:ln>
        </p:spPr>
        <p:txBody>
          <a:bodyPr rtlCol="0" anchor="ctr"/>
          <a:lstStyle/>
          <a:p>
            <a:pPr algn="ctr"/>
            <a:endParaRPr/>
          </a:p>
        </p:txBody>
      </p:sp>
      <p:pic>
        <p:nvPicPr>
          <p:cNvPr id="84" name="Picture 83" descr="UserCheck_w.png"/>
          <p:cNvPicPr>
            <a:picLocks noChangeAspect="1"/>
          </p:cNvPicPr>
          <p:nvPr/>
        </p:nvPicPr>
        <p:blipFill>
          <a:blip r:embed="rId7"/>
          <a:stretch>
            <a:fillRect/>
          </a:stretch>
        </p:blipFill>
        <p:spPr>
          <a:xfrm>
            <a:off x="458297" y="4253057"/>
            <a:ext cx="235549" cy="235549"/>
          </a:xfrm>
          <a:prstGeom prst="rect">
            <a:avLst/>
          </a:prstGeom>
        </p:spPr>
      </p:pic>
      <p:sp>
        <p:nvSpPr>
          <p:cNvPr id="85" name="TextBox 84"/>
          <p:cNvSpPr txBox="1"/>
          <p:nvPr/>
        </p:nvSpPr>
        <p:spPr>
          <a:xfrm>
            <a:off x="914400" y="4142232"/>
            <a:ext cx="4023360" cy="457200"/>
          </a:xfrm>
          <a:prstGeom prst="rect">
            <a:avLst/>
          </a:prstGeom>
          <a:noFill/>
        </p:spPr>
        <p:txBody>
          <a:bodyPr wrap="square" lIns="0" tIns="0" rIns="0" bIns="0" anchor="ctr">
            <a:noAutofit/>
          </a:bodyPr>
          <a:lstStyle/>
          <a:p>
            <a:pPr algn="l"/>
            <a:r>
              <a:rPr sz="1150" b="1">
                <a:solidFill>
                  <a:srgbClr val="202124"/>
                </a:solidFill>
                <a:latin typeface="Arial"/>
              </a:rPr>
              <a:t>Hands off </a:t>
            </a:r>
            <a:r>
              <a:rPr sz="1150" b="0">
                <a:solidFill>
                  <a:srgbClr val="202124"/>
                </a:solidFill>
                <a:latin typeface="Arial"/>
              </a:rPr>
              <a:t>owned actions to every team; a person approves the plan</a:t>
            </a:r>
          </a:p>
        </p:txBody>
      </p:sp>
      <p:sp>
        <p:nvSpPr>
          <p:cNvPr id="86" name="Rounded Rectangle 85"/>
          <p:cNvSpPr/>
          <p:nvPr/>
        </p:nvSpPr>
        <p:spPr>
          <a:xfrm>
            <a:off x="5257800" y="1463040"/>
            <a:ext cx="3520440" cy="3337560"/>
          </a:xfrm>
          <a:prstGeom prst="roundRect">
            <a:avLst>
              <a:gd name="adj" fmla="val 2191"/>
            </a:avLst>
          </a:prstGeom>
          <a:solidFill>
            <a:srgbClr val="F8F9FA"/>
          </a:solidFill>
          <a:ln>
            <a:noFill/>
          </a:ln>
        </p:spPr>
        <p:txBody>
          <a:bodyPr rtlCol="0" anchor="ctr"/>
          <a:lstStyle/>
          <a:p>
            <a:pPr algn="ctr"/>
            <a:endParaRPr/>
          </a:p>
        </p:txBody>
      </p:sp>
      <p:sp>
        <p:nvSpPr>
          <p:cNvPr id="87" name="TextBox 86"/>
          <p:cNvSpPr txBox="1"/>
          <p:nvPr/>
        </p:nvSpPr>
        <p:spPr>
          <a:xfrm>
            <a:off x="5440680" y="1600200"/>
            <a:ext cx="3200400" cy="228600"/>
          </a:xfrm>
          <a:prstGeom prst="rect">
            <a:avLst/>
          </a:prstGeom>
          <a:noFill/>
        </p:spPr>
        <p:txBody>
          <a:bodyPr wrap="square" lIns="0" tIns="0" rIns="0" bIns="0" anchor="t">
            <a:noAutofit/>
          </a:bodyPr>
          <a:lstStyle/>
          <a:p>
            <a:pPr algn="l"/>
            <a:r>
              <a:rPr sz="900" b="1">
                <a:solidFill>
                  <a:srgbClr val="1A73E8"/>
                </a:solidFill>
                <a:latin typeface="Arial"/>
              </a:rPr>
              <a:t>DEMO · NOVACHIP ENDS MCU-X100</a:t>
            </a:r>
          </a:p>
        </p:txBody>
      </p:sp>
      <p:sp>
        <p:nvSpPr>
          <p:cNvPr id="88" name="Rounded Rectangle 87"/>
          <p:cNvSpPr/>
          <p:nvPr/>
        </p:nvSpPr>
        <p:spPr>
          <a:xfrm>
            <a:off x="5440680" y="1920240"/>
            <a:ext cx="1508760" cy="1188720"/>
          </a:xfrm>
          <a:prstGeom prst="roundRect">
            <a:avLst>
              <a:gd name="adj" fmla="val 6153"/>
            </a:avLst>
          </a:prstGeom>
          <a:solidFill>
            <a:srgbClr val="FFFFFF"/>
          </a:solidFill>
          <a:ln w="9525">
            <a:solidFill>
              <a:srgbClr val="DADCE0"/>
            </a:solidFill>
          </a:ln>
        </p:spPr>
        <p:txBody>
          <a:bodyPr rtlCol="0" anchor="ctr"/>
          <a:lstStyle/>
          <a:p>
            <a:pPr algn="ctr"/>
            <a:endParaRPr/>
          </a:p>
        </p:txBody>
      </p:sp>
      <p:sp>
        <p:nvSpPr>
          <p:cNvPr id="89" name="TextBox 88"/>
          <p:cNvSpPr txBox="1"/>
          <p:nvPr/>
        </p:nvSpPr>
        <p:spPr>
          <a:xfrm>
            <a:off x="5568696" y="2029968"/>
            <a:ext cx="1280160" cy="438912"/>
          </a:xfrm>
          <a:prstGeom prst="rect">
            <a:avLst/>
          </a:prstGeom>
          <a:noFill/>
        </p:spPr>
        <p:txBody>
          <a:bodyPr wrap="square" lIns="0" tIns="0" rIns="0" bIns="0" anchor="t">
            <a:noAutofit/>
          </a:bodyPr>
          <a:lstStyle/>
          <a:p>
            <a:pPr algn="l"/>
            <a:r>
              <a:rPr sz="2400" b="1">
                <a:solidFill>
                  <a:srgbClr val="4285F4"/>
                </a:solidFill>
                <a:latin typeface="Arial"/>
              </a:rPr>
              <a:t>12</a:t>
            </a:r>
          </a:p>
        </p:txBody>
      </p:sp>
      <p:sp>
        <p:nvSpPr>
          <p:cNvPr id="90" name="TextBox 89"/>
          <p:cNvSpPr txBox="1"/>
          <p:nvPr/>
        </p:nvSpPr>
        <p:spPr>
          <a:xfrm>
            <a:off x="5568696" y="2523744"/>
            <a:ext cx="1280160" cy="502920"/>
          </a:xfrm>
          <a:prstGeom prst="rect">
            <a:avLst/>
          </a:prstGeom>
          <a:noFill/>
        </p:spPr>
        <p:txBody>
          <a:bodyPr wrap="square" lIns="0" tIns="0" rIns="0" bIns="0" anchor="t">
            <a:noAutofit/>
          </a:bodyPr>
          <a:lstStyle/>
          <a:p>
            <a:pPr algn="l"/>
            <a:r>
              <a:rPr sz="950" b="0">
                <a:solidFill>
                  <a:srgbClr val="5F6368"/>
                </a:solidFill>
                <a:latin typeface="Arial"/>
              </a:rPr>
              <a:t>affected SKUs in 3 product families</a:t>
            </a:r>
          </a:p>
        </p:txBody>
      </p:sp>
      <p:sp>
        <p:nvSpPr>
          <p:cNvPr id="91" name="Rounded Rectangle 90"/>
          <p:cNvSpPr/>
          <p:nvPr/>
        </p:nvSpPr>
        <p:spPr>
          <a:xfrm>
            <a:off x="7086600" y="1920240"/>
            <a:ext cx="1508760" cy="1188720"/>
          </a:xfrm>
          <a:prstGeom prst="roundRect">
            <a:avLst>
              <a:gd name="adj" fmla="val 6153"/>
            </a:avLst>
          </a:prstGeom>
          <a:solidFill>
            <a:srgbClr val="FFFFFF"/>
          </a:solidFill>
          <a:ln w="9525">
            <a:solidFill>
              <a:srgbClr val="DADCE0"/>
            </a:solidFill>
          </a:ln>
        </p:spPr>
        <p:txBody>
          <a:bodyPr rtlCol="0" anchor="ctr"/>
          <a:lstStyle/>
          <a:p>
            <a:pPr algn="ctr"/>
            <a:endParaRPr/>
          </a:p>
        </p:txBody>
      </p:sp>
      <p:sp>
        <p:nvSpPr>
          <p:cNvPr id="92" name="TextBox 91"/>
          <p:cNvSpPr txBox="1"/>
          <p:nvPr/>
        </p:nvSpPr>
        <p:spPr>
          <a:xfrm>
            <a:off x="7214616" y="2029968"/>
            <a:ext cx="1280160" cy="438912"/>
          </a:xfrm>
          <a:prstGeom prst="rect">
            <a:avLst/>
          </a:prstGeom>
          <a:noFill/>
        </p:spPr>
        <p:txBody>
          <a:bodyPr wrap="square" lIns="0" tIns="0" rIns="0" bIns="0" anchor="t">
            <a:noAutofit/>
          </a:bodyPr>
          <a:lstStyle/>
          <a:p>
            <a:pPr algn="l"/>
            <a:r>
              <a:rPr sz="2400" b="1">
                <a:solidFill>
                  <a:srgbClr val="EA4335"/>
                </a:solidFill>
                <a:latin typeface="Arial"/>
              </a:rPr>
              <a:t>$4.2M</a:t>
            </a:r>
          </a:p>
        </p:txBody>
      </p:sp>
      <p:sp>
        <p:nvSpPr>
          <p:cNvPr id="93" name="TextBox 92"/>
          <p:cNvSpPr txBox="1"/>
          <p:nvPr/>
        </p:nvSpPr>
        <p:spPr>
          <a:xfrm>
            <a:off x="7214616" y="2523744"/>
            <a:ext cx="1280160" cy="502920"/>
          </a:xfrm>
          <a:prstGeom prst="rect">
            <a:avLst/>
          </a:prstGeom>
          <a:noFill/>
        </p:spPr>
        <p:txBody>
          <a:bodyPr wrap="square" lIns="0" tIns="0" rIns="0" bIns="0" anchor="t">
            <a:noAutofit/>
          </a:bodyPr>
          <a:lstStyle/>
          <a:p>
            <a:pPr algn="l"/>
            <a:r>
              <a:rPr sz="950" b="0">
                <a:solidFill>
                  <a:srgbClr val="5F6368"/>
                </a:solidFill>
                <a:latin typeface="Arial"/>
              </a:rPr>
              <a:t>revenue exposed over the next 6 months</a:t>
            </a:r>
          </a:p>
        </p:txBody>
      </p:sp>
      <p:sp>
        <p:nvSpPr>
          <p:cNvPr id="94" name="Rounded Rectangle 93"/>
          <p:cNvSpPr/>
          <p:nvPr/>
        </p:nvSpPr>
        <p:spPr>
          <a:xfrm>
            <a:off x="5440680" y="3246120"/>
            <a:ext cx="1508760" cy="1188720"/>
          </a:xfrm>
          <a:prstGeom prst="roundRect">
            <a:avLst>
              <a:gd name="adj" fmla="val 6153"/>
            </a:avLst>
          </a:prstGeom>
          <a:solidFill>
            <a:srgbClr val="FFFFFF"/>
          </a:solidFill>
          <a:ln w="9525">
            <a:solidFill>
              <a:srgbClr val="DADCE0"/>
            </a:solidFill>
          </a:ln>
        </p:spPr>
        <p:txBody>
          <a:bodyPr rtlCol="0" anchor="ctr"/>
          <a:lstStyle/>
          <a:p>
            <a:pPr algn="ctr"/>
            <a:endParaRPr/>
          </a:p>
        </p:txBody>
      </p:sp>
      <p:sp>
        <p:nvSpPr>
          <p:cNvPr id="95" name="TextBox 94"/>
          <p:cNvSpPr txBox="1"/>
          <p:nvPr/>
        </p:nvSpPr>
        <p:spPr>
          <a:xfrm>
            <a:off x="5568696" y="3355848"/>
            <a:ext cx="1280160" cy="438912"/>
          </a:xfrm>
          <a:prstGeom prst="rect">
            <a:avLst/>
          </a:prstGeom>
          <a:noFill/>
        </p:spPr>
        <p:txBody>
          <a:bodyPr wrap="square" lIns="0" tIns="0" rIns="0" bIns="0" anchor="t">
            <a:noAutofit/>
          </a:bodyPr>
          <a:lstStyle/>
          <a:p>
            <a:pPr algn="l"/>
            <a:r>
              <a:rPr sz="2400" b="1">
                <a:solidFill>
                  <a:srgbClr val="B06000"/>
                </a:solidFill>
                <a:latin typeface="Arial"/>
              </a:rPr>
              <a:t>58 days</a:t>
            </a:r>
          </a:p>
        </p:txBody>
      </p:sp>
      <p:sp>
        <p:nvSpPr>
          <p:cNvPr id="96" name="TextBox 95"/>
          <p:cNvSpPr txBox="1"/>
          <p:nvPr/>
        </p:nvSpPr>
        <p:spPr>
          <a:xfrm>
            <a:off x="5568696" y="3849624"/>
            <a:ext cx="1280160" cy="502920"/>
          </a:xfrm>
          <a:prstGeom prst="rect">
            <a:avLst/>
          </a:prstGeom>
          <a:noFill/>
        </p:spPr>
        <p:txBody>
          <a:bodyPr wrap="square" lIns="0" tIns="0" rIns="0" bIns="0" anchor="t">
            <a:noAutofit/>
          </a:bodyPr>
          <a:lstStyle/>
          <a:p>
            <a:pPr algn="l"/>
            <a:r>
              <a:rPr sz="950" b="0">
                <a:solidFill>
                  <a:srgbClr val="5F6368"/>
                </a:solidFill>
                <a:latin typeface="Arial"/>
              </a:rPr>
              <a:t>of MCU-X100 inventory left</a:t>
            </a:r>
          </a:p>
        </p:txBody>
      </p:sp>
      <p:sp>
        <p:nvSpPr>
          <p:cNvPr id="97" name="Rounded Rectangle 96"/>
          <p:cNvSpPr/>
          <p:nvPr/>
        </p:nvSpPr>
        <p:spPr>
          <a:xfrm>
            <a:off x="7086600" y="3246120"/>
            <a:ext cx="1508760" cy="1188720"/>
          </a:xfrm>
          <a:prstGeom prst="roundRect">
            <a:avLst>
              <a:gd name="adj" fmla="val 6153"/>
            </a:avLst>
          </a:prstGeom>
          <a:solidFill>
            <a:srgbClr val="FFFFFF"/>
          </a:solidFill>
          <a:ln w="9525">
            <a:solidFill>
              <a:srgbClr val="DADCE0"/>
            </a:solidFill>
          </a:ln>
        </p:spPr>
        <p:txBody>
          <a:bodyPr rtlCol="0" anchor="ctr"/>
          <a:lstStyle/>
          <a:p>
            <a:pPr algn="ctr"/>
            <a:endParaRPr/>
          </a:p>
        </p:txBody>
      </p:sp>
      <p:sp>
        <p:nvSpPr>
          <p:cNvPr id="98" name="TextBox 97"/>
          <p:cNvSpPr txBox="1"/>
          <p:nvPr/>
        </p:nvSpPr>
        <p:spPr>
          <a:xfrm>
            <a:off x="7214616" y="3355848"/>
            <a:ext cx="1280160" cy="438912"/>
          </a:xfrm>
          <a:prstGeom prst="rect">
            <a:avLst/>
          </a:prstGeom>
          <a:noFill/>
        </p:spPr>
        <p:txBody>
          <a:bodyPr wrap="square" lIns="0" tIns="0" rIns="0" bIns="0" anchor="t">
            <a:noAutofit/>
          </a:bodyPr>
          <a:lstStyle/>
          <a:p>
            <a:pPr algn="l"/>
            <a:r>
              <a:rPr sz="2400" b="1">
                <a:solidFill>
                  <a:srgbClr val="34A853"/>
                </a:solidFill>
                <a:latin typeface="Arial"/>
              </a:rPr>
              <a:t>4</a:t>
            </a:r>
          </a:p>
        </p:txBody>
      </p:sp>
      <p:sp>
        <p:nvSpPr>
          <p:cNvPr id="99" name="TextBox 98"/>
          <p:cNvSpPr txBox="1"/>
          <p:nvPr/>
        </p:nvSpPr>
        <p:spPr>
          <a:xfrm>
            <a:off x="7214616" y="3849624"/>
            <a:ext cx="1280160" cy="502920"/>
          </a:xfrm>
          <a:prstGeom prst="rect">
            <a:avLst/>
          </a:prstGeom>
          <a:noFill/>
        </p:spPr>
        <p:txBody>
          <a:bodyPr wrap="square" lIns="0" tIns="0" rIns="0" bIns="0" anchor="t">
            <a:noAutofit/>
          </a:bodyPr>
          <a:lstStyle/>
          <a:p>
            <a:pPr algn="l"/>
            <a:r>
              <a:rPr sz="950" b="0">
                <a:solidFill>
                  <a:srgbClr val="5F6368"/>
                </a:solidFill>
                <a:latin typeface="Arial"/>
              </a:rPr>
              <a:t>products with no approved alternative</a:t>
            </a:r>
          </a:p>
        </p:txBody>
      </p:sp>
      <p:sp>
        <p:nvSpPr>
          <p:cNvPr id="100" name="TextBox 99"/>
          <p:cNvSpPr txBox="1"/>
          <p:nvPr/>
        </p:nvSpPr>
        <p:spPr>
          <a:xfrm>
            <a:off x="5440680" y="4599432"/>
            <a:ext cx="3200400" cy="182880"/>
          </a:xfrm>
          <a:prstGeom prst="rect">
            <a:avLst/>
          </a:prstGeom>
          <a:noFill/>
        </p:spPr>
        <p:txBody>
          <a:bodyPr wrap="square" lIns="0" tIns="0" rIns="0" bIns="0" anchor="t">
            <a:noAutofit/>
          </a:bodyPr>
          <a:lstStyle/>
          <a:p>
            <a:pPr algn="l"/>
            <a:r>
              <a:rPr sz="800" b="0">
                <a:solidFill>
                  <a:srgbClr val="5F6368"/>
                </a:solidFill>
                <a:latin typeface="Arial"/>
              </a:rPr>
              <a:t>Fictional seeded dataset · figures asserted by tests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Opportunities</a:t>
            </a:r>
          </a:p>
        </p:txBody>
      </p:sp>
      <p:sp>
        <p:nvSpPr>
          <p:cNvPr id="80"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From days of spreadsheets to one calculated, shared answer</a:t>
            </a:r>
          </a:p>
        </p:txBody>
      </p:sp>
      <p:sp>
        <p:nvSpPr>
          <p:cNvPr id="81" name="Rounded Rectangle 80"/>
          <p:cNvSpPr/>
          <p:nvPr/>
        </p:nvSpPr>
        <p:spPr>
          <a:xfrm>
            <a:off x="365760" y="1417320"/>
            <a:ext cx="2679192" cy="2286000"/>
          </a:xfrm>
          <a:prstGeom prst="roundRect">
            <a:avLst>
              <a:gd name="adj" fmla="val 3200"/>
            </a:avLst>
          </a:prstGeom>
          <a:solidFill>
            <a:srgbClr val="F8F9FA"/>
          </a:solidFill>
          <a:ln>
            <a:noFill/>
          </a:ln>
        </p:spPr>
        <p:txBody>
          <a:bodyPr rtlCol="0" anchor="ctr"/>
          <a:lstStyle/>
          <a:p>
            <a:pPr algn="ctr"/>
            <a:endParaRPr/>
          </a:p>
        </p:txBody>
      </p:sp>
      <p:sp>
        <p:nvSpPr>
          <p:cNvPr id="82" name="Oval 81"/>
          <p:cNvSpPr/>
          <p:nvPr/>
        </p:nvSpPr>
        <p:spPr>
          <a:xfrm>
            <a:off x="530352" y="1572768"/>
            <a:ext cx="384048" cy="384048"/>
          </a:xfrm>
          <a:prstGeom prst="ellipse">
            <a:avLst/>
          </a:prstGeom>
          <a:solidFill>
            <a:srgbClr val="4285F4"/>
          </a:solidFill>
          <a:ln>
            <a:noFill/>
          </a:ln>
        </p:spPr>
        <p:txBody>
          <a:bodyPr rtlCol="0" anchor="ctr"/>
          <a:lstStyle/>
          <a:p>
            <a:pPr algn="ctr"/>
            <a:endParaRPr/>
          </a:p>
        </p:txBody>
      </p:sp>
      <p:pic>
        <p:nvPicPr>
          <p:cNvPr id="83" name="Picture 82" descr="Layers_w.png"/>
          <p:cNvPicPr>
            <a:picLocks noChangeAspect="1"/>
          </p:cNvPicPr>
          <p:nvPr/>
        </p:nvPicPr>
        <p:blipFill>
          <a:blip r:embed="rId5"/>
          <a:stretch>
            <a:fillRect/>
          </a:stretch>
        </p:blipFill>
        <p:spPr>
          <a:xfrm>
            <a:off x="614842" y="1657258"/>
            <a:ext cx="215066" cy="215066"/>
          </a:xfrm>
          <a:prstGeom prst="rect">
            <a:avLst/>
          </a:prstGeom>
        </p:spPr>
      </p:pic>
      <p:sp>
        <p:nvSpPr>
          <p:cNvPr id="84" name="TextBox 83"/>
          <p:cNvSpPr txBox="1"/>
          <p:nvPr/>
        </p:nvSpPr>
        <p:spPr>
          <a:xfrm>
            <a:off x="1042416" y="1572768"/>
            <a:ext cx="1911095" cy="384048"/>
          </a:xfrm>
          <a:prstGeom prst="rect">
            <a:avLst/>
          </a:prstGeom>
          <a:noFill/>
        </p:spPr>
        <p:txBody>
          <a:bodyPr wrap="square" lIns="0" tIns="0" rIns="0" bIns="0" anchor="ctr">
            <a:noAutofit/>
          </a:bodyPr>
          <a:lstStyle/>
          <a:p>
            <a:pPr algn="l"/>
            <a:r>
              <a:rPr sz="1200" b="1">
                <a:solidFill>
                  <a:srgbClr val="202124"/>
                </a:solidFill>
                <a:latin typeface="Arial"/>
              </a:rPr>
              <a:t>How is it different?</a:t>
            </a:r>
          </a:p>
        </p:txBody>
      </p:sp>
      <p:sp>
        <p:nvSpPr>
          <p:cNvPr id="85" name="TextBox 84"/>
          <p:cNvSpPr txBox="1"/>
          <p:nvPr/>
        </p:nvSpPr>
        <p:spPr>
          <a:xfrm>
            <a:off x="548640" y="2121408"/>
            <a:ext cx="2359152" cy="1508760"/>
          </a:xfrm>
          <a:prstGeom prst="rect">
            <a:avLst/>
          </a:prstGeom>
          <a:noFill/>
        </p:spPr>
        <p:txBody>
          <a:bodyPr wrap="square" lIns="0" tIns="0" rIns="0" bIns="0" anchor="t">
            <a:noAutofit/>
          </a:bodyPr>
          <a:lstStyle/>
          <a:p>
            <a:pPr marL="146304" indent="-146304" algn="l">
              <a:spcAft>
                <a:spcPts val="500"/>
              </a:spcAft>
              <a:buClr>
                <a:srgbClr val="4285F4"/>
              </a:buClr>
              <a:buFont typeface="Arial"/>
              <a:buChar char="•"/>
            </a:pPr>
            <a:r>
              <a:rPr sz="1050" b="0">
                <a:solidFill>
                  <a:srgbClr val="202124"/>
                </a:solidFill>
                <a:latin typeface="Arial"/>
              </a:rPr>
              <a:t>ERP and PLM store the BOM; they do not trace a change to margin and customers</a:t>
            </a:r>
          </a:p>
          <a:p>
            <a:pPr marL="146304" indent="-146304" algn="l">
              <a:spcAft>
                <a:spcPts val="500"/>
              </a:spcAft>
              <a:buClr>
                <a:srgbClr val="4285F4"/>
              </a:buClr>
              <a:buFont typeface="Arial"/>
              <a:buChar char="•"/>
            </a:pPr>
            <a:r>
              <a:rPr sz="1050" b="0">
                <a:solidFill>
                  <a:srgbClr val="202124"/>
                </a:solidFill>
                <a:latin typeface="Arial"/>
              </a:rPr>
              <a:t>Chatbots guess numbers; RippleOps calculates them and checks every AI figure</a:t>
            </a:r>
          </a:p>
          <a:p>
            <a:pPr marL="146304" indent="-146304" algn="l">
              <a:spcAft>
                <a:spcPts val="500"/>
              </a:spcAft>
              <a:buClr>
                <a:srgbClr val="4285F4"/>
              </a:buClr>
              <a:buFont typeface="Arial"/>
              <a:buChar char="•"/>
            </a:pPr>
            <a:r>
              <a:rPr sz="1050" b="0">
                <a:solidFill>
                  <a:srgbClr val="202124"/>
                </a:solidFill>
                <a:latin typeface="Arial"/>
              </a:rPr>
              <a:t>One flow across sourcing, planning and finance, not one team’s view</a:t>
            </a:r>
          </a:p>
        </p:txBody>
      </p:sp>
      <p:sp>
        <p:nvSpPr>
          <p:cNvPr id="86" name="Rounded Rectangle 85"/>
          <p:cNvSpPr/>
          <p:nvPr/>
        </p:nvSpPr>
        <p:spPr>
          <a:xfrm>
            <a:off x="3232403" y="1417320"/>
            <a:ext cx="2679192" cy="2286000"/>
          </a:xfrm>
          <a:prstGeom prst="roundRect">
            <a:avLst>
              <a:gd name="adj" fmla="val 3200"/>
            </a:avLst>
          </a:prstGeom>
          <a:solidFill>
            <a:srgbClr val="F8F9FA"/>
          </a:solidFill>
          <a:ln>
            <a:noFill/>
          </a:ln>
        </p:spPr>
        <p:txBody>
          <a:bodyPr rtlCol="0" anchor="ctr"/>
          <a:lstStyle/>
          <a:p>
            <a:pPr algn="ctr"/>
            <a:endParaRPr/>
          </a:p>
        </p:txBody>
      </p:sp>
      <p:sp>
        <p:nvSpPr>
          <p:cNvPr id="87" name="Oval 86"/>
          <p:cNvSpPr/>
          <p:nvPr/>
        </p:nvSpPr>
        <p:spPr>
          <a:xfrm>
            <a:off x="3396996" y="1572768"/>
            <a:ext cx="384048" cy="384048"/>
          </a:xfrm>
          <a:prstGeom prst="ellipse">
            <a:avLst/>
          </a:prstGeom>
          <a:solidFill>
            <a:srgbClr val="34A853"/>
          </a:solidFill>
          <a:ln>
            <a:noFill/>
          </a:ln>
        </p:spPr>
        <p:txBody>
          <a:bodyPr rtlCol="0" anchor="ctr"/>
          <a:lstStyle/>
          <a:p>
            <a:pPr algn="ctr"/>
            <a:endParaRPr/>
          </a:p>
        </p:txBody>
      </p:sp>
      <p:pic>
        <p:nvPicPr>
          <p:cNvPr id="88" name="Picture 87" descr="Workflow_w.png"/>
          <p:cNvPicPr>
            <a:picLocks noChangeAspect="1"/>
          </p:cNvPicPr>
          <p:nvPr/>
        </p:nvPicPr>
        <p:blipFill>
          <a:blip r:embed="rId6"/>
          <a:stretch>
            <a:fillRect/>
          </a:stretch>
        </p:blipFill>
        <p:spPr>
          <a:xfrm>
            <a:off x="3481486" y="1657258"/>
            <a:ext cx="215066" cy="215066"/>
          </a:xfrm>
          <a:prstGeom prst="rect">
            <a:avLst/>
          </a:prstGeom>
        </p:spPr>
      </p:pic>
      <p:sp>
        <p:nvSpPr>
          <p:cNvPr id="89" name="TextBox 88"/>
          <p:cNvSpPr txBox="1"/>
          <p:nvPr/>
        </p:nvSpPr>
        <p:spPr>
          <a:xfrm>
            <a:off x="3909059" y="1572768"/>
            <a:ext cx="1911095" cy="384048"/>
          </a:xfrm>
          <a:prstGeom prst="rect">
            <a:avLst/>
          </a:prstGeom>
          <a:noFill/>
        </p:spPr>
        <p:txBody>
          <a:bodyPr wrap="square" lIns="0" tIns="0" rIns="0" bIns="0" anchor="ctr">
            <a:noAutofit/>
          </a:bodyPr>
          <a:lstStyle/>
          <a:p>
            <a:pPr algn="l"/>
            <a:r>
              <a:rPr sz="1200" b="1">
                <a:solidFill>
                  <a:srgbClr val="202124"/>
                </a:solidFill>
                <a:latin typeface="Arial"/>
              </a:rPr>
              <a:t>How does it solve the problem?</a:t>
            </a:r>
          </a:p>
        </p:txBody>
      </p:sp>
      <p:sp>
        <p:nvSpPr>
          <p:cNvPr id="90" name="TextBox 89"/>
          <p:cNvSpPr txBox="1"/>
          <p:nvPr/>
        </p:nvSpPr>
        <p:spPr>
          <a:xfrm>
            <a:off x="3415284" y="2121408"/>
            <a:ext cx="2359152" cy="1508760"/>
          </a:xfrm>
          <a:prstGeom prst="rect">
            <a:avLst/>
          </a:prstGeom>
          <a:noFill/>
        </p:spPr>
        <p:txBody>
          <a:bodyPr wrap="square" lIns="0" tIns="0" rIns="0" bIns="0" anchor="t">
            <a:noAutofit/>
          </a:bodyPr>
          <a:lstStyle/>
          <a:p>
            <a:pPr marL="146304" indent="-146304" algn="l">
              <a:spcAft>
                <a:spcPts val="500"/>
              </a:spcAft>
              <a:buClr>
                <a:srgbClr val="34A853"/>
              </a:buClr>
              <a:buFont typeface="Arial"/>
              <a:buChar char="•"/>
            </a:pPr>
            <a:r>
              <a:rPr sz="1050" b="0">
                <a:solidFill>
                  <a:srgbClr val="202124"/>
                </a:solidFill>
                <a:latin typeface="Arial"/>
              </a:rPr>
              <a:t>Gemini reads the notice; BigQuery Graph finds the true quantity per product</a:t>
            </a:r>
          </a:p>
          <a:p>
            <a:pPr marL="146304" indent="-146304" algn="l">
              <a:spcAft>
                <a:spcPts val="500"/>
              </a:spcAft>
              <a:buClr>
                <a:srgbClr val="34A853"/>
              </a:buClr>
              <a:buFont typeface="Arial"/>
              <a:buChar char="•"/>
            </a:pPr>
            <a:r>
              <a:rPr sz="1050" b="0">
                <a:solidFill>
                  <a:srgbClr val="202124"/>
                </a:solidFill>
                <a:latin typeface="Arial"/>
              </a:rPr>
              <a:t>Simulates swaps and cost moves, scores suppliers, re-plans 13 weeks</a:t>
            </a:r>
          </a:p>
          <a:p>
            <a:pPr marL="146304" indent="-146304" algn="l">
              <a:spcAft>
                <a:spcPts val="500"/>
              </a:spcAft>
              <a:buClr>
                <a:srgbClr val="34A853"/>
              </a:buClr>
              <a:buFont typeface="Arial"/>
              <a:buChar char="•"/>
            </a:pPr>
            <a:r>
              <a:rPr sz="1050" b="0">
                <a:solidFill>
                  <a:srgbClr val="202124"/>
                </a:solidFill>
                <a:latin typeface="Arial"/>
              </a:rPr>
              <a:t>Writes owned, prioritized actions for every team</a:t>
            </a:r>
          </a:p>
        </p:txBody>
      </p:sp>
      <p:sp>
        <p:nvSpPr>
          <p:cNvPr id="91" name="Rounded Rectangle 90"/>
          <p:cNvSpPr/>
          <p:nvPr/>
        </p:nvSpPr>
        <p:spPr>
          <a:xfrm>
            <a:off x="6099048" y="1417320"/>
            <a:ext cx="2679192" cy="2286000"/>
          </a:xfrm>
          <a:prstGeom prst="roundRect">
            <a:avLst>
              <a:gd name="adj" fmla="val 3200"/>
            </a:avLst>
          </a:prstGeom>
          <a:solidFill>
            <a:srgbClr val="F8F9FA"/>
          </a:solidFill>
          <a:ln>
            <a:noFill/>
          </a:ln>
        </p:spPr>
        <p:txBody>
          <a:bodyPr rtlCol="0" anchor="ctr"/>
          <a:lstStyle/>
          <a:p>
            <a:pPr algn="ctr"/>
            <a:endParaRPr/>
          </a:p>
        </p:txBody>
      </p:sp>
      <p:sp>
        <p:nvSpPr>
          <p:cNvPr id="92" name="Oval 91"/>
          <p:cNvSpPr/>
          <p:nvPr/>
        </p:nvSpPr>
        <p:spPr>
          <a:xfrm>
            <a:off x="6263640" y="1572768"/>
            <a:ext cx="384048" cy="384048"/>
          </a:xfrm>
          <a:prstGeom prst="ellipse">
            <a:avLst/>
          </a:prstGeom>
          <a:solidFill>
            <a:srgbClr val="EA4335"/>
          </a:solidFill>
          <a:ln>
            <a:noFill/>
          </a:ln>
        </p:spPr>
        <p:txBody>
          <a:bodyPr rtlCol="0" anchor="ctr"/>
          <a:lstStyle/>
          <a:p>
            <a:pPr algn="ctr"/>
            <a:endParaRPr/>
          </a:p>
        </p:txBody>
      </p:sp>
      <p:pic>
        <p:nvPicPr>
          <p:cNvPr id="93" name="Picture 92" descr="ShieldCheck_w.png"/>
          <p:cNvPicPr>
            <a:picLocks noChangeAspect="1"/>
          </p:cNvPicPr>
          <p:nvPr/>
        </p:nvPicPr>
        <p:blipFill>
          <a:blip r:embed="rId7"/>
          <a:stretch>
            <a:fillRect/>
          </a:stretch>
        </p:blipFill>
        <p:spPr>
          <a:xfrm>
            <a:off x="6348130" y="1657258"/>
            <a:ext cx="215066" cy="215066"/>
          </a:xfrm>
          <a:prstGeom prst="rect">
            <a:avLst/>
          </a:prstGeom>
        </p:spPr>
      </p:pic>
      <p:sp>
        <p:nvSpPr>
          <p:cNvPr id="94" name="TextBox 93"/>
          <p:cNvSpPr txBox="1"/>
          <p:nvPr/>
        </p:nvSpPr>
        <p:spPr>
          <a:xfrm>
            <a:off x="6775703" y="1572768"/>
            <a:ext cx="1911095" cy="384048"/>
          </a:xfrm>
          <a:prstGeom prst="rect">
            <a:avLst/>
          </a:prstGeom>
          <a:noFill/>
        </p:spPr>
        <p:txBody>
          <a:bodyPr wrap="square" lIns="0" tIns="0" rIns="0" bIns="0" anchor="ctr">
            <a:noAutofit/>
          </a:bodyPr>
          <a:lstStyle/>
          <a:p>
            <a:pPr algn="l"/>
            <a:r>
              <a:rPr sz="1200" b="1">
                <a:solidFill>
                  <a:srgbClr val="202124"/>
                </a:solidFill>
                <a:latin typeface="Arial"/>
              </a:rPr>
              <a:t>USP</a:t>
            </a:r>
          </a:p>
        </p:txBody>
      </p:sp>
      <p:sp>
        <p:nvSpPr>
          <p:cNvPr id="95" name="TextBox 94"/>
          <p:cNvSpPr txBox="1"/>
          <p:nvPr/>
        </p:nvSpPr>
        <p:spPr>
          <a:xfrm>
            <a:off x="6281928" y="2121408"/>
            <a:ext cx="2359152" cy="1508760"/>
          </a:xfrm>
          <a:prstGeom prst="rect">
            <a:avLst/>
          </a:prstGeom>
          <a:noFill/>
        </p:spPr>
        <p:txBody>
          <a:bodyPr wrap="square" lIns="0" tIns="0" rIns="0" bIns="0" anchor="t">
            <a:noAutofit/>
          </a:bodyPr>
          <a:lstStyle/>
          <a:p>
            <a:pPr marL="146304" indent="-146304" algn="l">
              <a:spcAft>
                <a:spcPts val="500"/>
              </a:spcAft>
              <a:buClr>
                <a:srgbClr val="EA4335"/>
              </a:buClr>
              <a:buFont typeface="Arial"/>
              <a:buChar char="•"/>
            </a:pPr>
            <a:r>
              <a:rPr sz="1050" b="0">
                <a:solidFill>
                  <a:srgbClr val="202124"/>
                </a:solidFill>
                <a:latin typeface="Arial"/>
              </a:rPr>
              <a:t>AI reasons, engines calculate: figures a CFO can sign off on</a:t>
            </a:r>
          </a:p>
          <a:p>
            <a:pPr marL="146304" indent="-146304" algn="l">
              <a:spcAft>
                <a:spcPts val="500"/>
              </a:spcAft>
              <a:buClr>
                <a:srgbClr val="EA4335"/>
              </a:buClr>
              <a:buFont typeface="Arial"/>
              <a:buChar char="•"/>
            </a:pPr>
            <a:r>
              <a:rPr sz="1050" b="0">
                <a:solidFill>
                  <a:srgbClr val="202124"/>
                </a:solidFill>
                <a:latin typeface="Arial"/>
              </a:rPr>
              <a:t>Nine Google ADK agents, streamed live, with a human approval step</a:t>
            </a:r>
          </a:p>
          <a:p>
            <a:pPr marL="146304" indent="-146304" algn="l">
              <a:spcAft>
                <a:spcPts val="500"/>
              </a:spcAft>
              <a:buClr>
                <a:srgbClr val="EA4335"/>
              </a:buClr>
              <a:buFont typeface="Arial"/>
              <a:buChar char="•"/>
            </a:pPr>
            <a:r>
              <a:rPr sz="1050" b="0">
                <a:solidFill>
                  <a:srgbClr val="202124"/>
                </a:solidFill>
                <a:latin typeface="Arial"/>
              </a:rPr>
              <a:t>Live end to end on Google Cloud today</a:t>
            </a:r>
          </a:p>
        </p:txBody>
      </p:sp>
      <p:sp>
        <p:nvSpPr>
          <p:cNvPr id="96" name="TextBox 95"/>
          <p:cNvSpPr txBox="1"/>
          <p:nvPr/>
        </p:nvSpPr>
        <p:spPr>
          <a:xfrm>
            <a:off x="365760" y="3840480"/>
            <a:ext cx="2743200" cy="182880"/>
          </a:xfrm>
          <a:prstGeom prst="rect">
            <a:avLst/>
          </a:prstGeom>
          <a:noFill/>
        </p:spPr>
        <p:txBody>
          <a:bodyPr wrap="square" lIns="0" tIns="0" rIns="0" bIns="0" anchor="t">
            <a:noAutofit/>
          </a:bodyPr>
          <a:lstStyle/>
          <a:p>
            <a:pPr algn="l"/>
            <a:r>
              <a:rPr sz="900" b="1">
                <a:solidFill>
                  <a:srgbClr val="1A73E8"/>
                </a:solidFill>
                <a:latin typeface="Arial"/>
              </a:rPr>
              <a:t>WHY NOW</a:t>
            </a:r>
          </a:p>
        </p:txBody>
      </p:sp>
      <p:sp>
        <p:nvSpPr>
          <p:cNvPr id="97" name="TextBox 96"/>
          <p:cNvSpPr txBox="1"/>
          <p:nvPr/>
        </p:nvSpPr>
        <p:spPr>
          <a:xfrm>
            <a:off x="365760" y="4041648"/>
            <a:ext cx="2011680" cy="292608"/>
          </a:xfrm>
          <a:prstGeom prst="rect">
            <a:avLst/>
          </a:prstGeom>
          <a:noFill/>
        </p:spPr>
        <p:txBody>
          <a:bodyPr wrap="square" lIns="0" tIns="0" rIns="0" bIns="0" anchor="t">
            <a:noAutofit/>
          </a:bodyPr>
          <a:lstStyle/>
          <a:p>
            <a:pPr algn="l"/>
            <a:r>
              <a:rPr sz="1700" b="1">
                <a:solidFill>
                  <a:srgbClr val="4285F4"/>
                </a:solidFill>
                <a:latin typeface="Arial"/>
              </a:rPr>
              <a:t>52%</a:t>
            </a:r>
          </a:p>
        </p:txBody>
      </p:sp>
      <p:sp>
        <p:nvSpPr>
          <p:cNvPr id="98" name="TextBox 97"/>
          <p:cNvSpPr txBox="1"/>
          <p:nvPr/>
        </p:nvSpPr>
        <p:spPr>
          <a:xfrm>
            <a:off x="365760" y="4343400"/>
            <a:ext cx="1965960" cy="310896"/>
          </a:xfrm>
          <a:prstGeom prst="rect">
            <a:avLst/>
          </a:prstGeom>
          <a:noFill/>
        </p:spPr>
        <p:txBody>
          <a:bodyPr wrap="square" lIns="0" tIns="0" rIns="0" bIns="0" anchor="t">
            <a:noAutofit/>
          </a:bodyPr>
          <a:lstStyle/>
          <a:p>
            <a:pPr algn="l"/>
            <a:r>
              <a:rPr sz="850" b="0">
                <a:solidFill>
                  <a:srgbClr val="202124"/>
                </a:solidFill>
                <a:latin typeface="Arial"/>
              </a:rPr>
              <a:t>of electronic parts discontinued in 2025 had no end-of-life notice</a:t>
            </a:r>
          </a:p>
        </p:txBody>
      </p:sp>
      <p:sp>
        <p:nvSpPr>
          <p:cNvPr id="99" name="TextBox 98"/>
          <p:cNvSpPr txBox="1"/>
          <p:nvPr/>
        </p:nvSpPr>
        <p:spPr>
          <a:xfrm>
            <a:off x="365760" y="4672584"/>
            <a:ext cx="1965960" cy="146304"/>
          </a:xfrm>
          <a:prstGeom prst="rect">
            <a:avLst/>
          </a:prstGeom>
          <a:noFill/>
        </p:spPr>
        <p:txBody>
          <a:bodyPr wrap="square" lIns="0" tIns="0" rIns="0" bIns="0" anchor="t">
            <a:noAutofit/>
          </a:bodyPr>
          <a:lstStyle/>
          <a:p>
            <a:pPr algn="l"/>
            <a:r>
              <a:rPr sz="750" b="0">
                <a:solidFill>
                  <a:srgbClr val="5F6368"/>
                </a:solidFill>
                <a:latin typeface="Arial"/>
              </a:rPr>
              <a:t>Z2Data, 2026</a:t>
            </a:r>
          </a:p>
        </p:txBody>
      </p:sp>
      <p:sp>
        <p:nvSpPr>
          <p:cNvPr id="100" name="TextBox 99"/>
          <p:cNvSpPr txBox="1"/>
          <p:nvPr/>
        </p:nvSpPr>
        <p:spPr>
          <a:xfrm>
            <a:off x="2496312" y="4041648"/>
            <a:ext cx="2011680" cy="292608"/>
          </a:xfrm>
          <a:prstGeom prst="rect">
            <a:avLst/>
          </a:prstGeom>
          <a:noFill/>
        </p:spPr>
        <p:txBody>
          <a:bodyPr wrap="square" lIns="0" tIns="0" rIns="0" bIns="0" anchor="t">
            <a:noAutofit/>
          </a:bodyPr>
          <a:lstStyle/>
          <a:p>
            <a:pPr algn="l"/>
            <a:r>
              <a:rPr sz="1700" b="1">
                <a:solidFill>
                  <a:srgbClr val="34A853"/>
                </a:solidFill>
                <a:latin typeface="Arial"/>
              </a:rPr>
              <a:t>45%</a:t>
            </a:r>
          </a:p>
        </p:txBody>
      </p:sp>
      <p:sp>
        <p:nvSpPr>
          <p:cNvPr id="101" name="TextBox 100"/>
          <p:cNvSpPr txBox="1"/>
          <p:nvPr/>
        </p:nvSpPr>
        <p:spPr>
          <a:xfrm>
            <a:off x="2496312" y="4343400"/>
            <a:ext cx="1965960" cy="310896"/>
          </a:xfrm>
          <a:prstGeom prst="rect">
            <a:avLst/>
          </a:prstGeom>
          <a:noFill/>
        </p:spPr>
        <p:txBody>
          <a:bodyPr wrap="square" lIns="0" tIns="0" rIns="0" bIns="0" anchor="t">
            <a:noAutofit/>
          </a:bodyPr>
          <a:lstStyle/>
          <a:p>
            <a:pPr algn="l"/>
            <a:r>
              <a:rPr sz="850" b="0">
                <a:solidFill>
                  <a:srgbClr val="202124"/>
                </a:solidFill>
                <a:latin typeface="Arial"/>
              </a:rPr>
              <a:t>of one year’s profits lost to supply disruptions per decade</a:t>
            </a:r>
          </a:p>
        </p:txBody>
      </p:sp>
      <p:sp>
        <p:nvSpPr>
          <p:cNvPr id="102" name="TextBox 101"/>
          <p:cNvSpPr txBox="1"/>
          <p:nvPr/>
        </p:nvSpPr>
        <p:spPr>
          <a:xfrm>
            <a:off x="2496312" y="4672584"/>
            <a:ext cx="1965960" cy="146304"/>
          </a:xfrm>
          <a:prstGeom prst="rect">
            <a:avLst/>
          </a:prstGeom>
          <a:noFill/>
        </p:spPr>
        <p:txBody>
          <a:bodyPr wrap="square" lIns="0" tIns="0" rIns="0" bIns="0" anchor="t">
            <a:noAutofit/>
          </a:bodyPr>
          <a:lstStyle/>
          <a:p>
            <a:pPr algn="l"/>
            <a:r>
              <a:rPr sz="750" b="0">
                <a:solidFill>
                  <a:srgbClr val="5F6368"/>
                </a:solidFill>
                <a:latin typeface="Arial"/>
              </a:rPr>
              <a:t>McKinsey Global Institute, 2020</a:t>
            </a:r>
          </a:p>
        </p:txBody>
      </p:sp>
      <p:sp>
        <p:nvSpPr>
          <p:cNvPr id="103" name="TextBox 102"/>
          <p:cNvSpPr txBox="1"/>
          <p:nvPr/>
        </p:nvSpPr>
        <p:spPr>
          <a:xfrm>
            <a:off x="4626864" y="4041648"/>
            <a:ext cx="2011680" cy="292608"/>
          </a:xfrm>
          <a:prstGeom prst="rect">
            <a:avLst/>
          </a:prstGeom>
          <a:noFill/>
        </p:spPr>
        <p:txBody>
          <a:bodyPr wrap="square" lIns="0" tIns="0" rIns="0" bIns="0" anchor="t">
            <a:noAutofit/>
          </a:bodyPr>
          <a:lstStyle/>
          <a:p>
            <a:pPr algn="l"/>
            <a:r>
              <a:rPr sz="1700" b="1">
                <a:solidFill>
                  <a:srgbClr val="B06000"/>
                </a:solidFill>
                <a:latin typeface="Arial"/>
              </a:rPr>
              <a:t>26,225</a:t>
            </a:r>
          </a:p>
        </p:txBody>
      </p:sp>
      <p:sp>
        <p:nvSpPr>
          <p:cNvPr id="104" name="TextBox 103"/>
          <p:cNvSpPr txBox="1"/>
          <p:nvPr/>
        </p:nvSpPr>
        <p:spPr>
          <a:xfrm>
            <a:off x="4626864" y="4343400"/>
            <a:ext cx="1965960" cy="310896"/>
          </a:xfrm>
          <a:prstGeom prst="rect">
            <a:avLst/>
          </a:prstGeom>
          <a:noFill/>
        </p:spPr>
        <p:txBody>
          <a:bodyPr wrap="square" lIns="0" tIns="0" rIns="0" bIns="0" anchor="t">
            <a:noAutofit/>
          </a:bodyPr>
          <a:lstStyle/>
          <a:p>
            <a:pPr algn="l"/>
            <a:r>
              <a:rPr sz="850" b="0">
                <a:solidFill>
                  <a:srgbClr val="202124"/>
                </a:solidFill>
                <a:latin typeface="Arial"/>
              </a:rPr>
              <a:t>supply chain disruption alerts in 2025, up from 22,522</a:t>
            </a:r>
          </a:p>
        </p:txBody>
      </p:sp>
      <p:sp>
        <p:nvSpPr>
          <p:cNvPr id="105" name="TextBox 104"/>
          <p:cNvSpPr txBox="1"/>
          <p:nvPr/>
        </p:nvSpPr>
        <p:spPr>
          <a:xfrm>
            <a:off x="4626864" y="4672584"/>
            <a:ext cx="1965960" cy="146304"/>
          </a:xfrm>
          <a:prstGeom prst="rect">
            <a:avLst/>
          </a:prstGeom>
          <a:noFill/>
        </p:spPr>
        <p:txBody>
          <a:bodyPr wrap="square" lIns="0" tIns="0" rIns="0" bIns="0" anchor="t">
            <a:noAutofit/>
          </a:bodyPr>
          <a:lstStyle/>
          <a:p>
            <a:pPr algn="l"/>
            <a:r>
              <a:rPr sz="750" b="0">
                <a:solidFill>
                  <a:srgbClr val="5F6368"/>
                </a:solidFill>
                <a:latin typeface="Arial"/>
              </a:rPr>
              <a:t>Resilinc EventWatch, 2025</a:t>
            </a:r>
          </a:p>
        </p:txBody>
      </p:sp>
      <p:sp>
        <p:nvSpPr>
          <p:cNvPr id="106" name="TextBox 105"/>
          <p:cNvSpPr txBox="1"/>
          <p:nvPr/>
        </p:nvSpPr>
        <p:spPr>
          <a:xfrm>
            <a:off x="6757416" y="4041648"/>
            <a:ext cx="2011680" cy="292608"/>
          </a:xfrm>
          <a:prstGeom prst="rect">
            <a:avLst/>
          </a:prstGeom>
          <a:noFill/>
        </p:spPr>
        <p:txBody>
          <a:bodyPr wrap="square" lIns="0" tIns="0" rIns="0" bIns="0" anchor="t">
            <a:noAutofit/>
          </a:bodyPr>
          <a:lstStyle/>
          <a:p>
            <a:pPr algn="l"/>
            <a:r>
              <a:rPr sz="1700" b="1">
                <a:solidFill>
                  <a:srgbClr val="EA4335"/>
                </a:solidFill>
                <a:latin typeface="Arial"/>
              </a:rPr>
              <a:t>$210B</a:t>
            </a:r>
          </a:p>
        </p:txBody>
      </p:sp>
      <p:sp>
        <p:nvSpPr>
          <p:cNvPr id="107" name="TextBox 106"/>
          <p:cNvSpPr txBox="1"/>
          <p:nvPr/>
        </p:nvSpPr>
        <p:spPr>
          <a:xfrm>
            <a:off x="6757416" y="4343400"/>
            <a:ext cx="1965960" cy="310896"/>
          </a:xfrm>
          <a:prstGeom prst="rect">
            <a:avLst/>
          </a:prstGeom>
          <a:noFill/>
        </p:spPr>
        <p:txBody>
          <a:bodyPr wrap="square" lIns="0" tIns="0" rIns="0" bIns="0" anchor="t">
            <a:noAutofit/>
          </a:bodyPr>
          <a:lstStyle/>
          <a:p>
            <a:pPr algn="l"/>
            <a:r>
              <a:rPr sz="850" b="0">
                <a:solidFill>
                  <a:srgbClr val="202124"/>
                </a:solidFill>
                <a:latin typeface="Arial"/>
              </a:rPr>
              <a:t>auto revenue lost to the 2021 chip shortage</a:t>
            </a:r>
          </a:p>
        </p:txBody>
      </p:sp>
      <p:sp>
        <p:nvSpPr>
          <p:cNvPr id="108" name="TextBox 107"/>
          <p:cNvSpPr txBox="1"/>
          <p:nvPr/>
        </p:nvSpPr>
        <p:spPr>
          <a:xfrm>
            <a:off x="6757416" y="4672584"/>
            <a:ext cx="1965960" cy="146304"/>
          </a:xfrm>
          <a:prstGeom prst="rect">
            <a:avLst/>
          </a:prstGeom>
          <a:noFill/>
        </p:spPr>
        <p:txBody>
          <a:bodyPr wrap="square" lIns="0" tIns="0" rIns="0" bIns="0" anchor="t">
            <a:noAutofit/>
          </a:bodyPr>
          <a:lstStyle/>
          <a:p>
            <a:pPr algn="l"/>
            <a:r>
              <a:rPr sz="750" b="0">
                <a:solidFill>
                  <a:srgbClr val="5F6368"/>
                </a:solidFill>
                <a:latin typeface="Arial"/>
              </a:rPr>
              <a:t>AlixPartners, 2021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List of features offered by the solution</a:t>
            </a:r>
          </a:p>
        </p:txBody>
      </p:sp>
      <p:sp>
        <p:nvSpPr>
          <p:cNvPr id="88"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Eight features, one flow from notice to decision</a:t>
            </a:r>
          </a:p>
        </p:txBody>
      </p:sp>
      <p:sp>
        <p:nvSpPr>
          <p:cNvPr id="89" name="Rounded Rectangle 88"/>
          <p:cNvSpPr/>
          <p:nvPr/>
        </p:nvSpPr>
        <p:spPr>
          <a:xfrm>
            <a:off x="365760" y="1463040"/>
            <a:ext cx="1965960" cy="1554480"/>
          </a:xfrm>
          <a:prstGeom prst="roundRect">
            <a:avLst>
              <a:gd name="adj" fmla="val 4705"/>
            </a:avLst>
          </a:prstGeom>
          <a:solidFill>
            <a:srgbClr val="F8F9FA"/>
          </a:solidFill>
          <a:ln>
            <a:noFill/>
          </a:ln>
        </p:spPr>
        <p:txBody>
          <a:bodyPr rtlCol="0" anchor="ctr"/>
          <a:lstStyle/>
          <a:p>
            <a:pPr algn="ctr"/>
            <a:endParaRPr/>
          </a:p>
        </p:txBody>
      </p:sp>
      <p:sp>
        <p:nvSpPr>
          <p:cNvPr id="90" name="Oval 89"/>
          <p:cNvSpPr/>
          <p:nvPr/>
        </p:nvSpPr>
        <p:spPr>
          <a:xfrm>
            <a:off x="512064" y="1609344"/>
            <a:ext cx="402336" cy="402336"/>
          </a:xfrm>
          <a:prstGeom prst="ellipse">
            <a:avLst/>
          </a:prstGeom>
          <a:solidFill>
            <a:srgbClr val="4285F4"/>
          </a:solidFill>
          <a:ln>
            <a:noFill/>
          </a:ln>
        </p:spPr>
        <p:txBody>
          <a:bodyPr rtlCol="0" anchor="ctr"/>
          <a:lstStyle/>
          <a:p>
            <a:pPr algn="ctr"/>
            <a:endParaRPr/>
          </a:p>
        </p:txBody>
      </p:sp>
      <p:pic>
        <p:nvPicPr>
          <p:cNvPr id="91" name="Picture 90" descr="FileText_w.png"/>
          <p:cNvPicPr>
            <a:picLocks noChangeAspect="1"/>
          </p:cNvPicPr>
          <p:nvPr/>
        </p:nvPicPr>
        <p:blipFill>
          <a:blip r:embed="rId5"/>
          <a:stretch>
            <a:fillRect/>
          </a:stretch>
        </p:blipFill>
        <p:spPr>
          <a:xfrm>
            <a:off x="600577" y="1697857"/>
            <a:ext cx="225308" cy="225308"/>
          </a:xfrm>
          <a:prstGeom prst="rect">
            <a:avLst/>
          </a:prstGeom>
        </p:spPr>
      </p:pic>
      <p:sp>
        <p:nvSpPr>
          <p:cNvPr id="92" name="TextBox 91"/>
          <p:cNvSpPr txBox="1"/>
          <p:nvPr/>
        </p:nvSpPr>
        <p:spPr>
          <a:xfrm>
            <a:off x="512064" y="2121408"/>
            <a:ext cx="1737360" cy="256032"/>
          </a:xfrm>
          <a:prstGeom prst="rect">
            <a:avLst/>
          </a:prstGeom>
          <a:noFill/>
        </p:spPr>
        <p:txBody>
          <a:bodyPr wrap="square" lIns="0" tIns="0" rIns="0" bIns="0" anchor="t">
            <a:noAutofit/>
          </a:bodyPr>
          <a:lstStyle/>
          <a:p>
            <a:pPr algn="l"/>
            <a:r>
              <a:rPr sz="1150" b="1">
                <a:solidFill>
                  <a:srgbClr val="202124"/>
                </a:solidFill>
                <a:latin typeface="Arial"/>
              </a:rPr>
              <a:t>Notice reader</a:t>
            </a:r>
          </a:p>
        </p:txBody>
      </p:sp>
      <p:sp>
        <p:nvSpPr>
          <p:cNvPr id="93" name="TextBox 92"/>
          <p:cNvSpPr txBox="1"/>
          <p:nvPr/>
        </p:nvSpPr>
        <p:spPr>
          <a:xfrm>
            <a:off x="512064" y="2395728"/>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Gemini turns a PDF, TXT or DOCX supplier notice into a structured event</a:t>
            </a:r>
          </a:p>
        </p:txBody>
      </p:sp>
      <p:sp>
        <p:nvSpPr>
          <p:cNvPr id="94" name="Rounded Rectangle 93"/>
          <p:cNvSpPr/>
          <p:nvPr/>
        </p:nvSpPr>
        <p:spPr>
          <a:xfrm>
            <a:off x="2514600" y="1463040"/>
            <a:ext cx="1965960" cy="1554480"/>
          </a:xfrm>
          <a:prstGeom prst="roundRect">
            <a:avLst>
              <a:gd name="adj" fmla="val 4705"/>
            </a:avLst>
          </a:prstGeom>
          <a:solidFill>
            <a:srgbClr val="F8F9FA"/>
          </a:solidFill>
          <a:ln>
            <a:noFill/>
          </a:ln>
        </p:spPr>
        <p:txBody>
          <a:bodyPr rtlCol="0" anchor="ctr"/>
          <a:lstStyle/>
          <a:p>
            <a:pPr algn="ctr"/>
            <a:endParaRPr/>
          </a:p>
        </p:txBody>
      </p:sp>
      <p:sp>
        <p:nvSpPr>
          <p:cNvPr id="95" name="Oval 94"/>
          <p:cNvSpPr/>
          <p:nvPr/>
        </p:nvSpPr>
        <p:spPr>
          <a:xfrm>
            <a:off x="2660904" y="1609344"/>
            <a:ext cx="402336" cy="402336"/>
          </a:xfrm>
          <a:prstGeom prst="ellipse">
            <a:avLst/>
          </a:prstGeom>
          <a:solidFill>
            <a:srgbClr val="34A853"/>
          </a:solidFill>
          <a:ln>
            <a:noFill/>
          </a:ln>
        </p:spPr>
        <p:txBody>
          <a:bodyPr rtlCol="0" anchor="ctr"/>
          <a:lstStyle/>
          <a:p>
            <a:pPr algn="ctr"/>
            <a:endParaRPr/>
          </a:p>
        </p:txBody>
      </p:sp>
      <p:pic>
        <p:nvPicPr>
          <p:cNvPr id="96" name="Picture 95" descr="Network_w.png"/>
          <p:cNvPicPr>
            <a:picLocks noChangeAspect="1"/>
          </p:cNvPicPr>
          <p:nvPr/>
        </p:nvPicPr>
        <p:blipFill>
          <a:blip r:embed="rId6"/>
          <a:stretch>
            <a:fillRect/>
          </a:stretch>
        </p:blipFill>
        <p:spPr>
          <a:xfrm>
            <a:off x="2749417" y="1697857"/>
            <a:ext cx="225308" cy="225308"/>
          </a:xfrm>
          <a:prstGeom prst="rect">
            <a:avLst/>
          </a:prstGeom>
        </p:spPr>
      </p:pic>
      <p:sp>
        <p:nvSpPr>
          <p:cNvPr id="97" name="TextBox 96"/>
          <p:cNvSpPr txBox="1"/>
          <p:nvPr/>
        </p:nvSpPr>
        <p:spPr>
          <a:xfrm>
            <a:off x="2660904" y="2121408"/>
            <a:ext cx="1737360" cy="256032"/>
          </a:xfrm>
          <a:prstGeom prst="rect">
            <a:avLst/>
          </a:prstGeom>
          <a:noFill/>
        </p:spPr>
        <p:txBody>
          <a:bodyPr wrap="square" lIns="0" tIns="0" rIns="0" bIns="0" anchor="t">
            <a:noAutofit/>
          </a:bodyPr>
          <a:lstStyle/>
          <a:p>
            <a:pPr algn="l"/>
            <a:r>
              <a:rPr sz="1150" b="1">
                <a:solidFill>
                  <a:srgbClr val="202124"/>
                </a:solidFill>
                <a:latin typeface="Arial"/>
              </a:rPr>
              <a:t>Multi-level BOM trace</a:t>
            </a:r>
          </a:p>
        </p:txBody>
      </p:sp>
      <p:sp>
        <p:nvSpPr>
          <p:cNvPr id="98" name="TextBox 97"/>
          <p:cNvSpPr txBox="1"/>
          <p:nvPr/>
        </p:nvSpPr>
        <p:spPr>
          <a:xfrm>
            <a:off x="2660904" y="2395728"/>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BigQuery Graph walks every path to the true quantity per product</a:t>
            </a:r>
          </a:p>
        </p:txBody>
      </p:sp>
      <p:sp>
        <p:nvSpPr>
          <p:cNvPr id="99" name="Rounded Rectangle 98"/>
          <p:cNvSpPr/>
          <p:nvPr/>
        </p:nvSpPr>
        <p:spPr>
          <a:xfrm>
            <a:off x="4663440" y="1463040"/>
            <a:ext cx="1965960" cy="1554480"/>
          </a:xfrm>
          <a:prstGeom prst="roundRect">
            <a:avLst>
              <a:gd name="adj" fmla="val 4705"/>
            </a:avLst>
          </a:prstGeom>
          <a:solidFill>
            <a:srgbClr val="F8F9FA"/>
          </a:solidFill>
          <a:ln>
            <a:noFill/>
          </a:ln>
        </p:spPr>
        <p:txBody>
          <a:bodyPr rtlCol="0" anchor="ctr"/>
          <a:lstStyle/>
          <a:p>
            <a:pPr algn="ctr"/>
            <a:endParaRPr/>
          </a:p>
        </p:txBody>
      </p:sp>
      <p:sp>
        <p:nvSpPr>
          <p:cNvPr id="100" name="Oval 99"/>
          <p:cNvSpPr/>
          <p:nvPr/>
        </p:nvSpPr>
        <p:spPr>
          <a:xfrm>
            <a:off x="4809744" y="1609344"/>
            <a:ext cx="402336" cy="402336"/>
          </a:xfrm>
          <a:prstGeom prst="ellipse">
            <a:avLst/>
          </a:prstGeom>
          <a:solidFill>
            <a:srgbClr val="FBBC04"/>
          </a:solidFill>
          <a:ln>
            <a:noFill/>
          </a:ln>
        </p:spPr>
        <p:txBody>
          <a:bodyPr rtlCol="0" anchor="ctr"/>
          <a:lstStyle/>
          <a:p>
            <a:pPr algn="ctr"/>
            <a:endParaRPr/>
          </a:p>
        </p:txBody>
      </p:sp>
      <p:pic>
        <p:nvPicPr>
          <p:cNvPr id="101" name="Picture 100" descr="Gauge_w.png"/>
          <p:cNvPicPr>
            <a:picLocks noChangeAspect="1"/>
          </p:cNvPicPr>
          <p:nvPr/>
        </p:nvPicPr>
        <p:blipFill>
          <a:blip r:embed="rId7"/>
          <a:stretch>
            <a:fillRect/>
          </a:stretch>
        </p:blipFill>
        <p:spPr>
          <a:xfrm>
            <a:off x="4898257" y="1697857"/>
            <a:ext cx="225308" cy="225308"/>
          </a:xfrm>
          <a:prstGeom prst="rect">
            <a:avLst/>
          </a:prstGeom>
        </p:spPr>
      </p:pic>
      <p:sp>
        <p:nvSpPr>
          <p:cNvPr id="102" name="TextBox 101"/>
          <p:cNvSpPr txBox="1"/>
          <p:nvPr/>
        </p:nvSpPr>
        <p:spPr>
          <a:xfrm>
            <a:off x="4809744" y="2121408"/>
            <a:ext cx="1737360" cy="256032"/>
          </a:xfrm>
          <a:prstGeom prst="rect">
            <a:avLst/>
          </a:prstGeom>
          <a:noFill/>
        </p:spPr>
        <p:txBody>
          <a:bodyPr wrap="square" lIns="0" tIns="0" rIns="0" bIns="0" anchor="t">
            <a:noAutofit/>
          </a:bodyPr>
          <a:lstStyle/>
          <a:p>
            <a:pPr algn="l"/>
            <a:r>
              <a:rPr sz="1150" b="1">
                <a:solidFill>
                  <a:srgbClr val="202124"/>
                </a:solidFill>
                <a:latin typeface="Arial"/>
              </a:rPr>
              <a:t>Impact dashboard</a:t>
            </a:r>
          </a:p>
        </p:txBody>
      </p:sp>
      <p:sp>
        <p:nvSpPr>
          <p:cNvPr id="103" name="TextBox 102"/>
          <p:cNvSpPr txBox="1"/>
          <p:nvPr/>
        </p:nvSpPr>
        <p:spPr>
          <a:xfrm>
            <a:off x="4809744" y="2395728"/>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Affected SKUs, revenue exposure, stock coverage and a Why? panel</a:t>
            </a:r>
          </a:p>
        </p:txBody>
      </p:sp>
      <p:sp>
        <p:nvSpPr>
          <p:cNvPr id="104" name="Rounded Rectangle 103"/>
          <p:cNvSpPr/>
          <p:nvPr/>
        </p:nvSpPr>
        <p:spPr>
          <a:xfrm>
            <a:off x="6812280" y="1463040"/>
            <a:ext cx="1965960" cy="1554480"/>
          </a:xfrm>
          <a:prstGeom prst="roundRect">
            <a:avLst>
              <a:gd name="adj" fmla="val 4705"/>
            </a:avLst>
          </a:prstGeom>
          <a:solidFill>
            <a:srgbClr val="F8F9FA"/>
          </a:solidFill>
          <a:ln>
            <a:noFill/>
          </a:ln>
        </p:spPr>
        <p:txBody>
          <a:bodyPr rtlCol="0" anchor="ctr"/>
          <a:lstStyle/>
          <a:p>
            <a:pPr algn="ctr"/>
            <a:endParaRPr/>
          </a:p>
        </p:txBody>
      </p:sp>
      <p:sp>
        <p:nvSpPr>
          <p:cNvPr id="105" name="Oval 104"/>
          <p:cNvSpPr/>
          <p:nvPr/>
        </p:nvSpPr>
        <p:spPr>
          <a:xfrm>
            <a:off x="6958584" y="1609344"/>
            <a:ext cx="402336" cy="402336"/>
          </a:xfrm>
          <a:prstGeom prst="ellipse">
            <a:avLst/>
          </a:prstGeom>
          <a:solidFill>
            <a:srgbClr val="EA4335"/>
          </a:solidFill>
          <a:ln>
            <a:noFill/>
          </a:ln>
        </p:spPr>
        <p:txBody>
          <a:bodyPr rtlCol="0" anchor="ctr"/>
          <a:lstStyle/>
          <a:p>
            <a:pPr algn="ctr"/>
            <a:endParaRPr/>
          </a:p>
        </p:txBody>
      </p:sp>
      <p:pic>
        <p:nvPicPr>
          <p:cNvPr id="106" name="Picture 105" descr="SlidersHorizontal_w.png"/>
          <p:cNvPicPr>
            <a:picLocks noChangeAspect="1"/>
          </p:cNvPicPr>
          <p:nvPr/>
        </p:nvPicPr>
        <p:blipFill>
          <a:blip r:embed="rId8"/>
          <a:stretch>
            <a:fillRect/>
          </a:stretch>
        </p:blipFill>
        <p:spPr>
          <a:xfrm>
            <a:off x="7047097" y="1697857"/>
            <a:ext cx="225308" cy="225308"/>
          </a:xfrm>
          <a:prstGeom prst="rect">
            <a:avLst/>
          </a:prstGeom>
        </p:spPr>
      </p:pic>
      <p:sp>
        <p:nvSpPr>
          <p:cNvPr id="107" name="TextBox 106"/>
          <p:cNvSpPr txBox="1"/>
          <p:nvPr/>
        </p:nvSpPr>
        <p:spPr>
          <a:xfrm>
            <a:off x="6958584" y="2121408"/>
            <a:ext cx="1737360" cy="256032"/>
          </a:xfrm>
          <a:prstGeom prst="rect">
            <a:avLst/>
          </a:prstGeom>
          <a:noFill/>
        </p:spPr>
        <p:txBody>
          <a:bodyPr wrap="square" lIns="0" tIns="0" rIns="0" bIns="0" anchor="t">
            <a:noAutofit/>
          </a:bodyPr>
          <a:lstStyle/>
          <a:p>
            <a:pPr algn="l"/>
            <a:r>
              <a:rPr sz="1150" b="1">
                <a:solidFill>
                  <a:srgbClr val="202124"/>
                </a:solidFill>
                <a:latin typeface="Arial"/>
              </a:rPr>
              <a:t>Scenario simulator</a:t>
            </a:r>
          </a:p>
        </p:txBody>
      </p:sp>
      <p:sp>
        <p:nvSpPr>
          <p:cNvPr id="108" name="TextBox 107"/>
          <p:cNvSpPr txBox="1"/>
          <p:nvPr/>
        </p:nvSpPr>
        <p:spPr>
          <a:xfrm>
            <a:off x="6958584" y="2395728"/>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Swap parts, move copper and freight, set a margin target</a:t>
            </a:r>
          </a:p>
        </p:txBody>
      </p:sp>
      <p:sp>
        <p:nvSpPr>
          <p:cNvPr id="109" name="Rounded Rectangle 108"/>
          <p:cNvSpPr/>
          <p:nvPr/>
        </p:nvSpPr>
        <p:spPr>
          <a:xfrm>
            <a:off x="365760" y="3182112"/>
            <a:ext cx="1965960" cy="1554480"/>
          </a:xfrm>
          <a:prstGeom prst="roundRect">
            <a:avLst>
              <a:gd name="adj" fmla="val 4705"/>
            </a:avLst>
          </a:prstGeom>
          <a:solidFill>
            <a:srgbClr val="F8F9FA"/>
          </a:solidFill>
          <a:ln>
            <a:noFill/>
          </a:ln>
        </p:spPr>
        <p:txBody>
          <a:bodyPr rtlCol="0" anchor="ctr"/>
          <a:lstStyle/>
          <a:p>
            <a:pPr algn="ctr"/>
            <a:endParaRPr/>
          </a:p>
        </p:txBody>
      </p:sp>
      <p:sp>
        <p:nvSpPr>
          <p:cNvPr id="110" name="Oval 109"/>
          <p:cNvSpPr/>
          <p:nvPr/>
        </p:nvSpPr>
        <p:spPr>
          <a:xfrm>
            <a:off x="512064" y="3328416"/>
            <a:ext cx="402336" cy="402336"/>
          </a:xfrm>
          <a:prstGeom prst="ellipse">
            <a:avLst/>
          </a:prstGeom>
          <a:solidFill>
            <a:srgbClr val="4285F4"/>
          </a:solidFill>
          <a:ln>
            <a:noFill/>
          </a:ln>
        </p:spPr>
        <p:txBody>
          <a:bodyPr rtlCol="0" anchor="ctr"/>
          <a:lstStyle/>
          <a:p>
            <a:pPr algn="ctr"/>
            <a:endParaRPr/>
          </a:p>
        </p:txBody>
      </p:sp>
      <p:pic>
        <p:nvPicPr>
          <p:cNvPr id="111" name="Picture 110" descr="Truck_w.png"/>
          <p:cNvPicPr>
            <a:picLocks noChangeAspect="1"/>
          </p:cNvPicPr>
          <p:nvPr/>
        </p:nvPicPr>
        <p:blipFill>
          <a:blip r:embed="rId9"/>
          <a:stretch>
            <a:fillRect/>
          </a:stretch>
        </p:blipFill>
        <p:spPr>
          <a:xfrm>
            <a:off x="600577" y="3416929"/>
            <a:ext cx="225308" cy="225308"/>
          </a:xfrm>
          <a:prstGeom prst="rect">
            <a:avLst/>
          </a:prstGeom>
        </p:spPr>
      </p:pic>
      <p:sp>
        <p:nvSpPr>
          <p:cNvPr id="112" name="TextBox 111"/>
          <p:cNvSpPr txBox="1"/>
          <p:nvPr/>
        </p:nvSpPr>
        <p:spPr>
          <a:xfrm>
            <a:off x="512064" y="3840480"/>
            <a:ext cx="1737360" cy="256032"/>
          </a:xfrm>
          <a:prstGeom prst="rect">
            <a:avLst/>
          </a:prstGeom>
          <a:noFill/>
        </p:spPr>
        <p:txBody>
          <a:bodyPr wrap="square" lIns="0" tIns="0" rIns="0" bIns="0" anchor="t">
            <a:noAutofit/>
          </a:bodyPr>
          <a:lstStyle/>
          <a:p>
            <a:pPr algn="l"/>
            <a:r>
              <a:rPr sz="1150" b="1">
                <a:solidFill>
                  <a:srgbClr val="202124"/>
                </a:solidFill>
                <a:latin typeface="Arial"/>
              </a:rPr>
              <a:t>Alternative sourcing</a:t>
            </a:r>
          </a:p>
        </p:txBody>
      </p:sp>
      <p:sp>
        <p:nvSpPr>
          <p:cNvPr id="113" name="TextBox 112"/>
          <p:cNvSpPr txBox="1"/>
          <p:nvPr/>
        </p:nvSpPr>
        <p:spPr>
          <a:xfrm>
            <a:off x="512064" y="4114800"/>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Suppliers scored 0–100 on six factors behind a sanctions gate</a:t>
            </a:r>
          </a:p>
        </p:txBody>
      </p:sp>
      <p:sp>
        <p:nvSpPr>
          <p:cNvPr id="114" name="Rounded Rectangle 113"/>
          <p:cNvSpPr/>
          <p:nvPr/>
        </p:nvSpPr>
        <p:spPr>
          <a:xfrm>
            <a:off x="2514600" y="3182112"/>
            <a:ext cx="1965960" cy="1554480"/>
          </a:xfrm>
          <a:prstGeom prst="roundRect">
            <a:avLst>
              <a:gd name="adj" fmla="val 4705"/>
            </a:avLst>
          </a:prstGeom>
          <a:solidFill>
            <a:srgbClr val="F8F9FA"/>
          </a:solidFill>
          <a:ln>
            <a:noFill/>
          </a:ln>
        </p:spPr>
        <p:txBody>
          <a:bodyPr rtlCol="0" anchor="ctr"/>
          <a:lstStyle/>
          <a:p>
            <a:pPr algn="ctr"/>
            <a:endParaRPr/>
          </a:p>
        </p:txBody>
      </p:sp>
      <p:sp>
        <p:nvSpPr>
          <p:cNvPr id="115" name="Oval 114"/>
          <p:cNvSpPr/>
          <p:nvPr/>
        </p:nvSpPr>
        <p:spPr>
          <a:xfrm>
            <a:off x="2660904" y="3328416"/>
            <a:ext cx="402336" cy="402336"/>
          </a:xfrm>
          <a:prstGeom prst="ellipse">
            <a:avLst/>
          </a:prstGeom>
          <a:solidFill>
            <a:srgbClr val="34A853"/>
          </a:solidFill>
          <a:ln>
            <a:noFill/>
          </a:ln>
        </p:spPr>
        <p:txBody>
          <a:bodyPr rtlCol="0" anchor="ctr"/>
          <a:lstStyle/>
          <a:p>
            <a:pPr algn="ctr"/>
            <a:endParaRPr/>
          </a:p>
        </p:txBody>
      </p:sp>
      <p:pic>
        <p:nvPicPr>
          <p:cNvPr id="116" name="Picture 115" descr="Factory_w.png"/>
          <p:cNvPicPr>
            <a:picLocks noChangeAspect="1"/>
          </p:cNvPicPr>
          <p:nvPr/>
        </p:nvPicPr>
        <p:blipFill>
          <a:blip r:embed="rId10"/>
          <a:stretch>
            <a:fillRect/>
          </a:stretch>
        </p:blipFill>
        <p:spPr>
          <a:xfrm>
            <a:off x="2749417" y="3416929"/>
            <a:ext cx="225308" cy="225308"/>
          </a:xfrm>
          <a:prstGeom prst="rect">
            <a:avLst/>
          </a:prstGeom>
        </p:spPr>
      </p:pic>
      <p:sp>
        <p:nvSpPr>
          <p:cNvPr id="117" name="TextBox 116"/>
          <p:cNvSpPr txBox="1"/>
          <p:nvPr/>
        </p:nvSpPr>
        <p:spPr>
          <a:xfrm>
            <a:off x="2660904" y="3840480"/>
            <a:ext cx="1737360" cy="256032"/>
          </a:xfrm>
          <a:prstGeom prst="rect">
            <a:avLst/>
          </a:prstGeom>
          <a:noFill/>
        </p:spPr>
        <p:txBody>
          <a:bodyPr wrap="square" lIns="0" tIns="0" rIns="0" bIns="0" anchor="t">
            <a:noAutofit/>
          </a:bodyPr>
          <a:lstStyle/>
          <a:p>
            <a:pPr algn="l"/>
            <a:r>
              <a:rPr sz="1150" b="1">
                <a:solidFill>
                  <a:srgbClr val="202124"/>
                </a:solidFill>
                <a:latin typeface="Arial"/>
              </a:rPr>
              <a:t>Forecast and re-plan</a:t>
            </a:r>
          </a:p>
        </p:txBody>
      </p:sp>
      <p:sp>
        <p:nvSpPr>
          <p:cNvPr id="118" name="TextBox 117"/>
          <p:cNvSpPr txBox="1"/>
          <p:nvPr/>
        </p:nvSpPr>
        <p:spPr>
          <a:xfrm>
            <a:off x="2660904" y="4114800"/>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AI.FORECAST (TimesFM) demand and a 13-week OR-Tools re-plan</a:t>
            </a:r>
          </a:p>
        </p:txBody>
      </p:sp>
      <p:sp>
        <p:nvSpPr>
          <p:cNvPr id="119" name="Rounded Rectangle 118"/>
          <p:cNvSpPr/>
          <p:nvPr/>
        </p:nvSpPr>
        <p:spPr>
          <a:xfrm>
            <a:off x="4663440" y="3182112"/>
            <a:ext cx="1965960" cy="1554480"/>
          </a:xfrm>
          <a:prstGeom prst="roundRect">
            <a:avLst>
              <a:gd name="adj" fmla="val 4705"/>
            </a:avLst>
          </a:prstGeom>
          <a:solidFill>
            <a:srgbClr val="F8F9FA"/>
          </a:solidFill>
          <a:ln>
            <a:noFill/>
          </a:ln>
        </p:spPr>
        <p:txBody>
          <a:bodyPr rtlCol="0" anchor="ctr"/>
          <a:lstStyle/>
          <a:p>
            <a:pPr algn="ctr"/>
            <a:endParaRPr/>
          </a:p>
        </p:txBody>
      </p:sp>
      <p:sp>
        <p:nvSpPr>
          <p:cNvPr id="120" name="Oval 119"/>
          <p:cNvSpPr/>
          <p:nvPr/>
        </p:nvSpPr>
        <p:spPr>
          <a:xfrm>
            <a:off x="4809744" y="3328416"/>
            <a:ext cx="402336" cy="402336"/>
          </a:xfrm>
          <a:prstGeom prst="ellipse">
            <a:avLst/>
          </a:prstGeom>
          <a:solidFill>
            <a:srgbClr val="FBBC04"/>
          </a:solidFill>
          <a:ln>
            <a:noFill/>
          </a:ln>
        </p:spPr>
        <p:txBody>
          <a:bodyPr rtlCol="0" anchor="ctr"/>
          <a:lstStyle/>
          <a:p>
            <a:pPr algn="ctr"/>
            <a:endParaRPr/>
          </a:p>
        </p:txBody>
      </p:sp>
      <p:pic>
        <p:nvPicPr>
          <p:cNvPr id="121" name="Picture 120" descr="Bot_w.png"/>
          <p:cNvPicPr>
            <a:picLocks noChangeAspect="1"/>
          </p:cNvPicPr>
          <p:nvPr/>
        </p:nvPicPr>
        <p:blipFill>
          <a:blip r:embed="rId11"/>
          <a:stretch>
            <a:fillRect/>
          </a:stretch>
        </p:blipFill>
        <p:spPr>
          <a:xfrm>
            <a:off x="4898257" y="3416929"/>
            <a:ext cx="225308" cy="225308"/>
          </a:xfrm>
          <a:prstGeom prst="rect">
            <a:avLst/>
          </a:prstGeom>
        </p:spPr>
      </p:pic>
      <p:sp>
        <p:nvSpPr>
          <p:cNvPr id="122" name="TextBox 121"/>
          <p:cNvSpPr txBox="1"/>
          <p:nvPr/>
        </p:nvSpPr>
        <p:spPr>
          <a:xfrm>
            <a:off x="4809744" y="3840480"/>
            <a:ext cx="1737360" cy="256032"/>
          </a:xfrm>
          <a:prstGeom prst="rect">
            <a:avLst/>
          </a:prstGeom>
          <a:noFill/>
        </p:spPr>
        <p:txBody>
          <a:bodyPr wrap="square" lIns="0" tIns="0" rIns="0" bIns="0" anchor="t">
            <a:noAutofit/>
          </a:bodyPr>
          <a:lstStyle/>
          <a:p>
            <a:pPr algn="l"/>
            <a:r>
              <a:rPr sz="1150" b="1">
                <a:solidFill>
                  <a:srgbClr val="202124"/>
                </a:solidFill>
                <a:latin typeface="Arial"/>
              </a:rPr>
              <a:t>Nine-agent response</a:t>
            </a:r>
          </a:p>
        </p:txBody>
      </p:sp>
      <p:sp>
        <p:nvSpPr>
          <p:cNvPr id="123" name="TextBox 122"/>
          <p:cNvSpPr txBox="1"/>
          <p:nvPr/>
        </p:nvSpPr>
        <p:spPr>
          <a:xfrm>
            <a:off x="4809744" y="4114800"/>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Google ADK agents run in sequence and in parallel, streamed live</a:t>
            </a:r>
          </a:p>
        </p:txBody>
      </p:sp>
      <p:sp>
        <p:nvSpPr>
          <p:cNvPr id="124" name="Rounded Rectangle 123"/>
          <p:cNvSpPr/>
          <p:nvPr/>
        </p:nvSpPr>
        <p:spPr>
          <a:xfrm>
            <a:off x="6812280" y="3182112"/>
            <a:ext cx="1965960" cy="1554480"/>
          </a:xfrm>
          <a:prstGeom prst="roundRect">
            <a:avLst>
              <a:gd name="adj" fmla="val 4705"/>
            </a:avLst>
          </a:prstGeom>
          <a:solidFill>
            <a:srgbClr val="F8F9FA"/>
          </a:solidFill>
          <a:ln>
            <a:noFill/>
          </a:ln>
        </p:spPr>
        <p:txBody>
          <a:bodyPr rtlCol="0" anchor="ctr"/>
          <a:lstStyle/>
          <a:p>
            <a:pPr algn="ctr"/>
            <a:endParaRPr/>
          </a:p>
        </p:txBody>
      </p:sp>
      <p:sp>
        <p:nvSpPr>
          <p:cNvPr id="125" name="Oval 124"/>
          <p:cNvSpPr/>
          <p:nvPr/>
        </p:nvSpPr>
        <p:spPr>
          <a:xfrm>
            <a:off x="6958584" y="3328416"/>
            <a:ext cx="402336" cy="402336"/>
          </a:xfrm>
          <a:prstGeom prst="ellipse">
            <a:avLst/>
          </a:prstGeom>
          <a:solidFill>
            <a:srgbClr val="EA4335"/>
          </a:solidFill>
          <a:ln>
            <a:noFill/>
          </a:ln>
        </p:spPr>
        <p:txBody>
          <a:bodyPr rtlCol="0" anchor="ctr"/>
          <a:lstStyle/>
          <a:p>
            <a:pPr algn="ctr"/>
            <a:endParaRPr/>
          </a:p>
        </p:txBody>
      </p:sp>
      <p:pic>
        <p:nvPicPr>
          <p:cNvPr id="126" name="Picture 125" descr="ListChecks_w.png"/>
          <p:cNvPicPr>
            <a:picLocks noChangeAspect="1"/>
          </p:cNvPicPr>
          <p:nvPr/>
        </p:nvPicPr>
        <p:blipFill>
          <a:blip r:embed="rId12"/>
          <a:stretch>
            <a:fillRect/>
          </a:stretch>
        </p:blipFill>
        <p:spPr>
          <a:xfrm>
            <a:off x="7047097" y="3416929"/>
            <a:ext cx="225308" cy="225308"/>
          </a:xfrm>
          <a:prstGeom prst="rect">
            <a:avLst/>
          </a:prstGeom>
        </p:spPr>
      </p:pic>
      <p:sp>
        <p:nvSpPr>
          <p:cNvPr id="127" name="TextBox 126"/>
          <p:cNvSpPr txBox="1"/>
          <p:nvPr/>
        </p:nvSpPr>
        <p:spPr>
          <a:xfrm>
            <a:off x="6958584" y="3840480"/>
            <a:ext cx="1737360" cy="256032"/>
          </a:xfrm>
          <a:prstGeom prst="rect">
            <a:avLst/>
          </a:prstGeom>
          <a:noFill/>
        </p:spPr>
        <p:txBody>
          <a:bodyPr wrap="square" lIns="0" tIns="0" rIns="0" bIns="0" anchor="t">
            <a:noAutofit/>
          </a:bodyPr>
          <a:lstStyle/>
          <a:p>
            <a:pPr algn="l"/>
            <a:r>
              <a:rPr sz="1150" b="1">
                <a:solidFill>
                  <a:srgbClr val="202124"/>
                </a:solidFill>
                <a:latin typeface="Arial"/>
              </a:rPr>
              <a:t>Actions and approval</a:t>
            </a:r>
          </a:p>
        </p:txBody>
      </p:sp>
      <p:sp>
        <p:nvSpPr>
          <p:cNvPr id="128" name="TextBox 127"/>
          <p:cNvSpPr txBox="1"/>
          <p:nvPr/>
        </p:nvSpPr>
        <p:spPr>
          <a:xfrm>
            <a:off x="6958584" y="4114800"/>
            <a:ext cx="1719072" cy="566928"/>
          </a:xfrm>
          <a:prstGeom prst="rect">
            <a:avLst/>
          </a:prstGeom>
          <a:noFill/>
        </p:spPr>
        <p:txBody>
          <a:bodyPr wrap="square" lIns="0" tIns="0" rIns="0" bIns="0" anchor="t">
            <a:noAutofit/>
          </a:bodyPr>
          <a:lstStyle/>
          <a:p>
            <a:pPr algn="l">
              <a:lnSpc>
                <a:spcPct val="105000"/>
              </a:lnSpc>
            </a:pPr>
            <a:r>
              <a:rPr sz="950" b="0">
                <a:solidFill>
                  <a:srgbClr val="5F6368"/>
                </a:solidFill>
                <a:latin typeface="Arial"/>
              </a:rPr>
              <a:t>Owned actions per team, each citing its facts; a person approves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Process flow diagram or Use-case diagram</a:t>
            </a:r>
          </a:p>
        </p:txBody>
      </p:sp>
      <p:sp>
        <p:nvSpPr>
          <p:cNvPr id="96"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Seven steps from supplier notice to approved plan</a:t>
            </a:r>
          </a:p>
        </p:txBody>
      </p:sp>
      <p:sp>
        <p:nvSpPr>
          <p:cNvPr id="97" name="Rounded Rectangle 96"/>
          <p:cNvSpPr/>
          <p:nvPr/>
        </p:nvSpPr>
        <p:spPr>
          <a:xfrm>
            <a:off x="365760" y="1463040"/>
            <a:ext cx="1097280" cy="1097280"/>
          </a:xfrm>
          <a:prstGeom prst="roundRect">
            <a:avLst>
              <a:gd name="adj" fmla="val 6666"/>
            </a:avLst>
          </a:prstGeom>
          <a:solidFill>
            <a:srgbClr val="E8F0FE"/>
          </a:solidFill>
          <a:ln>
            <a:noFill/>
          </a:ln>
        </p:spPr>
        <p:txBody>
          <a:bodyPr rtlCol="0" anchor="ctr"/>
          <a:lstStyle/>
          <a:p>
            <a:pPr algn="ctr"/>
            <a:endParaRPr/>
          </a:p>
        </p:txBody>
      </p:sp>
      <p:sp>
        <p:nvSpPr>
          <p:cNvPr id="98" name="TextBox 97"/>
          <p:cNvSpPr txBox="1"/>
          <p:nvPr/>
        </p:nvSpPr>
        <p:spPr>
          <a:xfrm>
            <a:off x="457200" y="1554480"/>
            <a:ext cx="914400" cy="201168"/>
          </a:xfrm>
          <a:prstGeom prst="rect">
            <a:avLst/>
          </a:prstGeom>
          <a:noFill/>
        </p:spPr>
        <p:txBody>
          <a:bodyPr wrap="square" lIns="0" tIns="0" rIns="0" bIns="0" anchor="t">
            <a:noAutofit/>
          </a:bodyPr>
          <a:lstStyle/>
          <a:p>
            <a:pPr algn="l"/>
            <a:r>
              <a:rPr sz="900" b="1">
                <a:solidFill>
                  <a:srgbClr val="1967D2"/>
                </a:solidFill>
                <a:latin typeface="Arial"/>
              </a:rPr>
              <a:t>1</a:t>
            </a:r>
          </a:p>
        </p:txBody>
      </p:sp>
      <p:sp>
        <p:nvSpPr>
          <p:cNvPr id="99" name="TextBox 98"/>
          <p:cNvSpPr txBox="1"/>
          <p:nvPr/>
        </p:nvSpPr>
        <p:spPr>
          <a:xfrm>
            <a:off x="457200" y="1755648"/>
            <a:ext cx="914400" cy="228600"/>
          </a:xfrm>
          <a:prstGeom prst="rect">
            <a:avLst/>
          </a:prstGeom>
          <a:noFill/>
        </p:spPr>
        <p:txBody>
          <a:bodyPr wrap="square" lIns="0" tIns="0" rIns="0" bIns="0" anchor="t">
            <a:noAutofit/>
          </a:bodyPr>
          <a:lstStyle/>
          <a:p>
            <a:pPr algn="l"/>
            <a:r>
              <a:rPr sz="1050" b="1">
                <a:solidFill>
                  <a:srgbClr val="1967D2"/>
                </a:solidFill>
                <a:latin typeface="Arial"/>
              </a:rPr>
              <a:t>CHANGE</a:t>
            </a:r>
          </a:p>
        </p:txBody>
      </p:sp>
      <p:sp>
        <p:nvSpPr>
          <p:cNvPr id="100" name="TextBox 99"/>
          <p:cNvSpPr txBox="1"/>
          <p:nvPr/>
        </p:nvSpPr>
        <p:spPr>
          <a:xfrm>
            <a:off x="457200"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Gemini reads the supplier notice</a:t>
            </a:r>
          </a:p>
        </p:txBody>
      </p:sp>
      <p:sp>
        <p:nvSpPr>
          <p:cNvPr id="101" name="Rounded Rectangle 100"/>
          <p:cNvSpPr/>
          <p:nvPr/>
        </p:nvSpPr>
        <p:spPr>
          <a:xfrm>
            <a:off x="365760"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02" name="TextBox 101"/>
          <p:cNvSpPr txBox="1"/>
          <p:nvPr/>
        </p:nvSpPr>
        <p:spPr>
          <a:xfrm>
            <a:off x="457200"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NovaChip ends MCU-X100; last-time buy 30 Jan 2027</a:t>
            </a:r>
          </a:p>
        </p:txBody>
      </p:sp>
      <p:sp>
        <p:nvSpPr>
          <p:cNvPr id="103" name="Isosceles Triangle 102"/>
          <p:cNvSpPr/>
          <p:nvPr/>
        </p:nvSpPr>
        <p:spPr>
          <a:xfrm rot="5400000">
            <a:off x="1482852" y="1956816"/>
            <a:ext cx="82296" cy="109728"/>
          </a:xfrm>
          <a:prstGeom prst="triangle">
            <a:avLst/>
          </a:prstGeom>
          <a:solidFill>
            <a:srgbClr val="9AA0A6"/>
          </a:solidFill>
          <a:ln>
            <a:noFill/>
          </a:ln>
        </p:spPr>
        <p:txBody>
          <a:bodyPr rtlCol="0" anchor="ctr"/>
          <a:lstStyle/>
          <a:p>
            <a:pPr algn="ctr"/>
            <a:endParaRPr/>
          </a:p>
        </p:txBody>
      </p:sp>
      <p:sp>
        <p:nvSpPr>
          <p:cNvPr id="104" name="Rounded Rectangle 103"/>
          <p:cNvSpPr/>
          <p:nvPr/>
        </p:nvSpPr>
        <p:spPr>
          <a:xfrm>
            <a:off x="1584959" y="1463040"/>
            <a:ext cx="1097280" cy="1097280"/>
          </a:xfrm>
          <a:prstGeom prst="roundRect">
            <a:avLst>
              <a:gd name="adj" fmla="val 6666"/>
            </a:avLst>
          </a:prstGeom>
          <a:solidFill>
            <a:srgbClr val="E6F4EA"/>
          </a:solidFill>
          <a:ln>
            <a:noFill/>
          </a:ln>
        </p:spPr>
        <p:txBody>
          <a:bodyPr rtlCol="0" anchor="ctr"/>
          <a:lstStyle/>
          <a:p>
            <a:pPr algn="ctr"/>
            <a:endParaRPr/>
          </a:p>
        </p:txBody>
      </p:sp>
      <p:sp>
        <p:nvSpPr>
          <p:cNvPr id="105" name="TextBox 104"/>
          <p:cNvSpPr txBox="1"/>
          <p:nvPr/>
        </p:nvSpPr>
        <p:spPr>
          <a:xfrm>
            <a:off x="1676399" y="1554480"/>
            <a:ext cx="914400" cy="201168"/>
          </a:xfrm>
          <a:prstGeom prst="rect">
            <a:avLst/>
          </a:prstGeom>
          <a:noFill/>
        </p:spPr>
        <p:txBody>
          <a:bodyPr wrap="square" lIns="0" tIns="0" rIns="0" bIns="0" anchor="t">
            <a:noAutofit/>
          </a:bodyPr>
          <a:lstStyle/>
          <a:p>
            <a:pPr algn="l"/>
            <a:r>
              <a:rPr sz="900" b="1">
                <a:solidFill>
                  <a:srgbClr val="137333"/>
                </a:solidFill>
                <a:latin typeface="Arial"/>
              </a:rPr>
              <a:t>2</a:t>
            </a:r>
          </a:p>
        </p:txBody>
      </p:sp>
      <p:sp>
        <p:nvSpPr>
          <p:cNvPr id="106" name="TextBox 105"/>
          <p:cNvSpPr txBox="1"/>
          <p:nvPr/>
        </p:nvSpPr>
        <p:spPr>
          <a:xfrm>
            <a:off x="1676399" y="1755648"/>
            <a:ext cx="914400" cy="228600"/>
          </a:xfrm>
          <a:prstGeom prst="rect">
            <a:avLst/>
          </a:prstGeom>
          <a:noFill/>
        </p:spPr>
        <p:txBody>
          <a:bodyPr wrap="square" lIns="0" tIns="0" rIns="0" bIns="0" anchor="t">
            <a:noAutofit/>
          </a:bodyPr>
          <a:lstStyle/>
          <a:p>
            <a:pPr algn="l"/>
            <a:r>
              <a:rPr sz="1050" b="1">
                <a:solidFill>
                  <a:srgbClr val="137333"/>
                </a:solidFill>
                <a:latin typeface="Arial"/>
              </a:rPr>
              <a:t>TRACE</a:t>
            </a:r>
          </a:p>
        </p:txBody>
      </p:sp>
      <p:sp>
        <p:nvSpPr>
          <p:cNvPr id="107" name="TextBox 106"/>
          <p:cNvSpPr txBox="1"/>
          <p:nvPr/>
        </p:nvSpPr>
        <p:spPr>
          <a:xfrm>
            <a:off x="16763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BigQuery Graph walks every BOM level</a:t>
            </a:r>
          </a:p>
        </p:txBody>
      </p:sp>
      <p:sp>
        <p:nvSpPr>
          <p:cNvPr id="108" name="Rounded Rectangle 107"/>
          <p:cNvSpPr/>
          <p:nvPr/>
        </p:nvSpPr>
        <p:spPr>
          <a:xfrm>
            <a:off x="15849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09" name="TextBox 108"/>
          <p:cNvSpPr txBox="1"/>
          <p:nvPr/>
        </p:nvSpPr>
        <p:spPr>
          <a:xfrm>
            <a:off x="16763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12 affected SKUs in 3 product families</a:t>
            </a:r>
          </a:p>
        </p:txBody>
      </p:sp>
      <p:sp>
        <p:nvSpPr>
          <p:cNvPr id="110" name="Isosceles Triangle 109"/>
          <p:cNvSpPr/>
          <p:nvPr/>
        </p:nvSpPr>
        <p:spPr>
          <a:xfrm rot="5400000">
            <a:off x="2702051" y="1956816"/>
            <a:ext cx="82296" cy="109728"/>
          </a:xfrm>
          <a:prstGeom prst="triangle">
            <a:avLst/>
          </a:prstGeom>
          <a:solidFill>
            <a:srgbClr val="9AA0A6"/>
          </a:solidFill>
          <a:ln>
            <a:noFill/>
          </a:ln>
        </p:spPr>
        <p:txBody>
          <a:bodyPr rtlCol="0" anchor="ctr"/>
          <a:lstStyle/>
          <a:p>
            <a:pPr algn="ctr"/>
            <a:endParaRPr/>
          </a:p>
        </p:txBody>
      </p:sp>
      <p:sp>
        <p:nvSpPr>
          <p:cNvPr id="111" name="Rounded Rectangle 110"/>
          <p:cNvSpPr/>
          <p:nvPr/>
        </p:nvSpPr>
        <p:spPr>
          <a:xfrm>
            <a:off x="2804159" y="1463040"/>
            <a:ext cx="1097280" cy="1097280"/>
          </a:xfrm>
          <a:prstGeom prst="roundRect">
            <a:avLst>
              <a:gd name="adj" fmla="val 6666"/>
            </a:avLst>
          </a:prstGeom>
          <a:solidFill>
            <a:srgbClr val="E6F4EA"/>
          </a:solidFill>
          <a:ln>
            <a:noFill/>
          </a:ln>
        </p:spPr>
        <p:txBody>
          <a:bodyPr rtlCol="0" anchor="ctr"/>
          <a:lstStyle/>
          <a:p>
            <a:pPr algn="ctr"/>
            <a:endParaRPr/>
          </a:p>
        </p:txBody>
      </p:sp>
      <p:sp>
        <p:nvSpPr>
          <p:cNvPr id="112" name="TextBox 111"/>
          <p:cNvSpPr txBox="1"/>
          <p:nvPr/>
        </p:nvSpPr>
        <p:spPr>
          <a:xfrm>
            <a:off x="2895599" y="1554480"/>
            <a:ext cx="914400" cy="201168"/>
          </a:xfrm>
          <a:prstGeom prst="rect">
            <a:avLst/>
          </a:prstGeom>
          <a:noFill/>
        </p:spPr>
        <p:txBody>
          <a:bodyPr wrap="square" lIns="0" tIns="0" rIns="0" bIns="0" anchor="t">
            <a:noAutofit/>
          </a:bodyPr>
          <a:lstStyle/>
          <a:p>
            <a:pPr algn="l"/>
            <a:r>
              <a:rPr sz="900" b="1">
                <a:solidFill>
                  <a:srgbClr val="137333"/>
                </a:solidFill>
                <a:latin typeface="Arial"/>
              </a:rPr>
              <a:t>3</a:t>
            </a:r>
          </a:p>
        </p:txBody>
      </p:sp>
      <p:sp>
        <p:nvSpPr>
          <p:cNvPr id="113" name="TextBox 112"/>
          <p:cNvSpPr txBox="1"/>
          <p:nvPr/>
        </p:nvSpPr>
        <p:spPr>
          <a:xfrm>
            <a:off x="2895599" y="1755648"/>
            <a:ext cx="914400" cy="228600"/>
          </a:xfrm>
          <a:prstGeom prst="rect">
            <a:avLst/>
          </a:prstGeom>
          <a:noFill/>
        </p:spPr>
        <p:txBody>
          <a:bodyPr wrap="square" lIns="0" tIns="0" rIns="0" bIns="0" anchor="t">
            <a:noAutofit/>
          </a:bodyPr>
          <a:lstStyle/>
          <a:p>
            <a:pPr algn="l"/>
            <a:r>
              <a:rPr sz="1050" b="1">
                <a:solidFill>
                  <a:srgbClr val="137333"/>
                </a:solidFill>
                <a:latin typeface="Arial"/>
              </a:rPr>
              <a:t>CALCULATE</a:t>
            </a:r>
          </a:p>
        </p:txBody>
      </p:sp>
      <p:sp>
        <p:nvSpPr>
          <p:cNvPr id="114" name="TextBox 113"/>
          <p:cNvSpPr txBox="1"/>
          <p:nvPr/>
        </p:nvSpPr>
        <p:spPr>
          <a:xfrm>
            <a:off x="28955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Cost, margin, revenue and stock coverage</a:t>
            </a:r>
          </a:p>
        </p:txBody>
      </p:sp>
      <p:sp>
        <p:nvSpPr>
          <p:cNvPr id="115" name="Rounded Rectangle 114"/>
          <p:cNvSpPr/>
          <p:nvPr/>
        </p:nvSpPr>
        <p:spPr>
          <a:xfrm>
            <a:off x="28041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16" name="TextBox 115"/>
          <p:cNvSpPr txBox="1"/>
          <p:nvPr/>
        </p:nvSpPr>
        <p:spPr>
          <a:xfrm>
            <a:off x="28955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$4.2M revenue exposed; 58 days of stock</a:t>
            </a:r>
          </a:p>
        </p:txBody>
      </p:sp>
      <p:sp>
        <p:nvSpPr>
          <p:cNvPr id="117" name="Isosceles Triangle 116"/>
          <p:cNvSpPr/>
          <p:nvPr/>
        </p:nvSpPr>
        <p:spPr>
          <a:xfrm rot="5400000">
            <a:off x="3921251" y="1956816"/>
            <a:ext cx="82296" cy="109728"/>
          </a:xfrm>
          <a:prstGeom prst="triangle">
            <a:avLst/>
          </a:prstGeom>
          <a:solidFill>
            <a:srgbClr val="9AA0A6"/>
          </a:solidFill>
          <a:ln>
            <a:noFill/>
          </a:ln>
        </p:spPr>
        <p:txBody>
          <a:bodyPr rtlCol="0" anchor="ctr"/>
          <a:lstStyle/>
          <a:p>
            <a:pPr algn="ctr"/>
            <a:endParaRPr/>
          </a:p>
        </p:txBody>
      </p:sp>
      <p:sp>
        <p:nvSpPr>
          <p:cNvPr id="118" name="Rounded Rectangle 117"/>
          <p:cNvSpPr/>
          <p:nvPr/>
        </p:nvSpPr>
        <p:spPr>
          <a:xfrm>
            <a:off x="4023359" y="1463040"/>
            <a:ext cx="1097280" cy="1097280"/>
          </a:xfrm>
          <a:prstGeom prst="roundRect">
            <a:avLst>
              <a:gd name="adj" fmla="val 6666"/>
            </a:avLst>
          </a:prstGeom>
          <a:solidFill>
            <a:srgbClr val="E8F0FE"/>
          </a:solidFill>
          <a:ln>
            <a:noFill/>
          </a:ln>
        </p:spPr>
        <p:txBody>
          <a:bodyPr rtlCol="0" anchor="ctr"/>
          <a:lstStyle/>
          <a:p>
            <a:pPr algn="ctr"/>
            <a:endParaRPr/>
          </a:p>
        </p:txBody>
      </p:sp>
      <p:sp>
        <p:nvSpPr>
          <p:cNvPr id="119" name="TextBox 118"/>
          <p:cNvSpPr txBox="1"/>
          <p:nvPr/>
        </p:nvSpPr>
        <p:spPr>
          <a:xfrm>
            <a:off x="4114799" y="1554480"/>
            <a:ext cx="914400" cy="201168"/>
          </a:xfrm>
          <a:prstGeom prst="rect">
            <a:avLst/>
          </a:prstGeom>
          <a:noFill/>
        </p:spPr>
        <p:txBody>
          <a:bodyPr wrap="square" lIns="0" tIns="0" rIns="0" bIns="0" anchor="t">
            <a:noAutofit/>
          </a:bodyPr>
          <a:lstStyle/>
          <a:p>
            <a:pPr algn="l"/>
            <a:r>
              <a:rPr sz="900" b="1">
                <a:solidFill>
                  <a:srgbClr val="1967D2"/>
                </a:solidFill>
                <a:latin typeface="Arial"/>
              </a:rPr>
              <a:t>4</a:t>
            </a:r>
          </a:p>
        </p:txBody>
      </p:sp>
      <p:sp>
        <p:nvSpPr>
          <p:cNvPr id="120" name="TextBox 119"/>
          <p:cNvSpPr txBox="1"/>
          <p:nvPr/>
        </p:nvSpPr>
        <p:spPr>
          <a:xfrm>
            <a:off x="4114799" y="1755648"/>
            <a:ext cx="914400" cy="228600"/>
          </a:xfrm>
          <a:prstGeom prst="rect">
            <a:avLst/>
          </a:prstGeom>
          <a:noFill/>
        </p:spPr>
        <p:txBody>
          <a:bodyPr wrap="square" lIns="0" tIns="0" rIns="0" bIns="0" anchor="t">
            <a:noAutofit/>
          </a:bodyPr>
          <a:lstStyle/>
          <a:p>
            <a:pPr algn="l"/>
            <a:r>
              <a:rPr sz="1050" b="1">
                <a:solidFill>
                  <a:srgbClr val="1967D2"/>
                </a:solidFill>
                <a:latin typeface="Arial"/>
              </a:rPr>
              <a:t>SOURCE</a:t>
            </a:r>
          </a:p>
        </p:txBody>
      </p:sp>
      <p:sp>
        <p:nvSpPr>
          <p:cNvPr id="121" name="TextBox 120"/>
          <p:cNvSpPr txBox="1"/>
          <p:nvPr/>
        </p:nvSpPr>
        <p:spPr>
          <a:xfrm>
            <a:off x="41147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Agents vet and score alternate suppliers</a:t>
            </a:r>
          </a:p>
        </p:txBody>
      </p:sp>
      <p:sp>
        <p:nvSpPr>
          <p:cNvPr id="122" name="Rounded Rectangle 121"/>
          <p:cNvSpPr/>
          <p:nvPr/>
        </p:nvSpPr>
        <p:spPr>
          <a:xfrm>
            <a:off x="40233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23" name="TextBox 122"/>
          <p:cNvSpPr txBox="1"/>
          <p:nvPr/>
        </p:nvSpPr>
        <p:spPr>
          <a:xfrm>
            <a:off x="41147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5 options scored; 1 blocked by sanctions</a:t>
            </a:r>
          </a:p>
        </p:txBody>
      </p:sp>
      <p:sp>
        <p:nvSpPr>
          <p:cNvPr id="124" name="Isosceles Triangle 123"/>
          <p:cNvSpPr/>
          <p:nvPr/>
        </p:nvSpPr>
        <p:spPr>
          <a:xfrm rot="5400000">
            <a:off x="5140451" y="1956816"/>
            <a:ext cx="82296" cy="109728"/>
          </a:xfrm>
          <a:prstGeom prst="triangle">
            <a:avLst/>
          </a:prstGeom>
          <a:solidFill>
            <a:srgbClr val="9AA0A6"/>
          </a:solidFill>
          <a:ln>
            <a:noFill/>
          </a:ln>
        </p:spPr>
        <p:txBody>
          <a:bodyPr rtlCol="0" anchor="ctr"/>
          <a:lstStyle/>
          <a:p>
            <a:pPr algn="ctr"/>
            <a:endParaRPr/>
          </a:p>
        </p:txBody>
      </p:sp>
      <p:sp>
        <p:nvSpPr>
          <p:cNvPr id="125" name="Rounded Rectangle 124"/>
          <p:cNvSpPr/>
          <p:nvPr/>
        </p:nvSpPr>
        <p:spPr>
          <a:xfrm>
            <a:off x="5242559" y="1463040"/>
            <a:ext cx="1097280" cy="1097280"/>
          </a:xfrm>
          <a:prstGeom prst="roundRect">
            <a:avLst>
              <a:gd name="adj" fmla="val 6666"/>
            </a:avLst>
          </a:prstGeom>
          <a:solidFill>
            <a:srgbClr val="E8F0FE"/>
          </a:solidFill>
          <a:ln>
            <a:noFill/>
          </a:ln>
        </p:spPr>
        <p:txBody>
          <a:bodyPr rtlCol="0" anchor="ctr"/>
          <a:lstStyle/>
          <a:p>
            <a:pPr algn="ctr"/>
            <a:endParaRPr/>
          </a:p>
        </p:txBody>
      </p:sp>
      <p:sp>
        <p:nvSpPr>
          <p:cNvPr id="126" name="TextBox 125"/>
          <p:cNvSpPr txBox="1"/>
          <p:nvPr/>
        </p:nvSpPr>
        <p:spPr>
          <a:xfrm>
            <a:off x="5333999" y="1554480"/>
            <a:ext cx="914400" cy="201168"/>
          </a:xfrm>
          <a:prstGeom prst="rect">
            <a:avLst/>
          </a:prstGeom>
          <a:noFill/>
        </p:spPr>
        <p:txBody>
          <a:bodyPr wrap="square" lIns="0" tIns="0" rIns="0" bIns="0" anchor="t">
            <a:noAutofit/>
          </a:bodyPr>
          <a:lstStyle/>
          <a:p>
            <a:pPr algn="l"/>
            <a:r>
              <a:rPr sz="900" b="1">
                <a:solidFill>
                  <a:srgbClr val="1967D2"/>
                </a:solidFill>
                <a:latin typeface="Arial"/>
              </a:rPr>
              <a:t>5</a:t>
            </a:r>
          </a:p>
        </p:txBody>
      </p:sp>
      <p:sp>
        <p:nvSpPr>
          <p:cNvPr id="127" name="TextBox 126"/>
          <p:cNvSpPr txBox="1"/>
          <p:nvPr/>
        </p:nvSpPr>
        <p:spPr>
          <a:xfrm>
            <a:off x="5333999" y="1755648"/>
            <a:ext cx="914400" cy="228600"/>
          </a:xfrm>
          <a:prstGeom prst="rect">
            <a:avLst/>
          </a:prstGeom>
          <a:noFill/>
        </p:spPr>
        <p:txBody>
          <a:bodyPr wrap="square" lIns="0" tIns="0" rIns="0" bIns="0" anchor="t">
            <a:noAutofit/>
          </a:bodyPr>
          <a:lstStyle/>
          <a:p>
            <a:pPr algn="l"/>
            <a:r>
              <a:rPr sz="1050" b="1">
                <a:solidFill>
                  <a:srgbClr val="1967D2"/>
                </a:solidFill>
                <a:latin typeface="Arial"/>
              </a:rPr>
              <a:t>RE-PLAN</a:t>
            </a:r>
          </a:p>
        </p:txBody>
      </p:sp>
      <p:sp>
        <p:nvSpPr>
          <p:cNvPr id="128" name="TextBox 127"/>
          <p:cNvSpPr txBox="1"/>
          <p:nvPr/>
        </p:nvSpPr>
        <p:spPr>
          <a:xfrm>
            <a:off x="53339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TimesFM forecast, OR-Tools re-plan</a:t>
            </a:r>
          </a:p>
        </p:txBody>
      </p:sp>
      <p:sp>
        <p:nvSpPr>
          <p:cNvPr id="129" name="Rounded Rectangle 128"/>
          <p:cNvSpPr/>
          <p:nvPr/>
        </p:nvSpPr>
        <p:spPr>
          <a:xfrm>
            <a:off x="52425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30" name="TextBox 129"/>
          <p:cNvSpPr txBox="1"/>
          <p:nvPr/>
        </p:nvSpPr>
        <p:spPr>
          <a:xfrm>
            <a:off x="53339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Bridge buy of 500 units; fill rate 64% → 100%</a:t>
            </a:r>
          </a:p>
        </p:txBody>
      </p:sp>
      <p:sp>
        <p:nvSpPr>
          <p:cNvPr id="131" name="Isosceles Triangle 130"/>
          <p:cNvSpPr/>
          <p:nvPr/>
        </p:nvSpPr>
        <p:spPr>
          <a:xfrm rot="5400000">
            <a:off x="6359651" y="1956816"/>
            <a:ext cx="82296" cy="109728"/>
          </a:xfrm>
          <a:prstGeom prst="triangle">
            <a:avLst/>
          </a:prstGeom>
          <a:solidFill>
            <a:srgbClr val="9AA0A6"/>
          </a:solidFill>
          <a:ln>
            <a:noFill/>
          </a:ln>
        </p:spPr>
        <p:txBody>
          <a:bodyPr rtlCol="0" anchor="ctr"/>
          <a:lstStyle/>
          <a:p>
            <a:pPr algn="ctr"/>
            <a:endParaRPr/>
          </a:p>
        </p:txBody>
      </p:sp>
      <p:sp>
        <p:nvSpPr>
          <p:cNvPr id="132" name="Rounded Rectangle 131"/>
          <p:cNvSpPr/>
          <p:nvPr/>
        </p:nvSpPr>
        <p:spPr>
          <a:xfrm>
            <a:off x="6461759" y="1463040"/>
            <a:ext cx="1097280" cy="1097280"/>
          </a:xfrm>
          <a:prstGeom prst="roundRect">
            <a:avLst>
              <a:gd name="adj" fmla="val 6666"/>
            </a:avLst>
          </a:prstGeom>
          <a:solidFill>
            <a:srgbClr val="FEF7E0"/>
          </a:solidFill>
          <a:ln>
            <a:noFill/>
          </a:ln>
        </p:spPr>
        <p:txBody>
          <a:bodyPr rtlCol="0" anchor="ctr"/>
          <a:lstStyle/>
          <a:p>
            <a:pPr algn="ctr"/>
            <a:endParaRPr/>
          </a:p>
        </p:txBody>
      </p:sp>
      <p:sp>
        <p:nvSpPr>
          <p:cNvPr id="133" name="TextBox 132"/>
          <p:cNvSpPr txBox="1"/>
          <p:nvPr/>
        </p:nvSpPr>
        <p:spPr>
          <a:xfrm>
            <a:off x="6553199" y="1554480"/>
            <a:ext cx="914400" cy="201168"/>
          </a:xfrm>
          <a:prstGeom prst="rect">
            <a:avLst/>
          </a:prstGeom>
          <a:noFill/>
        </p:spPr>
        <p:txBody>
          <a:bodyPr wrap="square" lIns="0" tIns="0" rIns="0" bIns="0" anchor="t">
            <a:noAutofit/>
          </a:bodyPr>
          <a:lstStyle/>
          <a:p>
            <a:pPr algn="l"/>
            <a:r>
              <a:rPr sz="900" b="1">
                <a:solidFill>
                  <a:srgbClr val="B06000"/>
                </a:solidFill>
                <a:latin typeface="Arial"/>
              </a:rPr>
              <a:t>6</a:t>
            </a:r>
          </a:p>
        </p:txBody>
      </p:sp>
      <p:sp>
        <p:nvSpPr>
          <p:cNvPr id="134" name="TextBox 133"/>
          <p:cNvSpPr txBox="1"/>
          <p:nvPr/>
        </p:nvSpPr>
        <p:spPr>
          <a:xfrm>
            <a:off x="6553199" y="1755648"/>
            <a:ext cx="914400" cy="228600"/>
          </a:xfrm>
          <a:prstGeom prst="rect">
            <a:avLst/>
          </a:prstGeom>
          <a:noFill/>
        </p:spPr>
        <p:txBody>
          <a:bodyPr wrap="square" lIns="0" tIns="0" rIns="0" bIns="0" anchor="t">
            <a:noAutofit/>
          </a:bodyPr>
          <a:lstStyle/>
          <a:p>
            <a:pPr algn="l"/>
            <a:r>
              <a:rPr sz="1050" b="1">
                <a:solidFill>
                  <a:srgbClr val="B06000"/>
                </a:solidFill>
                <a:latin typeface="Arial"/>
              </a:rPr>
              <a:t>DECIDE</a:t>
            </a:r>
          </a:p>
        </p:txBody>
      </p:sp>
      <p:sp>
        <p:nvSpPr>
          <p:cNvPr id="135" name="TextBox 134"/>
          <p:cNvSpPr txBox="1"/>
          <p:nvPr/>
        </p:nvSpPr>
        <p:spPr>
          <a:xfrm>
            <a:off x="65531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A planner approves the proposed plan</a:t>
            </a:r>
          </a:p>
        </p:txBody>
      </p:sp>
      <p:sp>
        <p:nvSpPr>
          <p:cNvPr id="136" name="Rounded Rectangle 135"/>
          <p:cNvSpPr/>
          <p:nvPr/>
        </p:nvSpPr>
        <p:spPr>
          <a:xfrm>
            <a:off x="64617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37" name="TextBox 136"/>
          <p:cNvSpPr txBox="1"/>
          <p:nvPr/>
        </p:nvSpPr>
        <p:spPr>
          <a:xfrm>
            <a:off x="65531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Plan PLAN-EVT-2001-02 approved</a:t>
            </a:r>
          </a:p>
        </p:txBody>
      </p:sp>
      <p:sp>
        <p:nvSpPr>
          <p:cNvPr id="138" name="Isosceles Triangle 137"/>
          <p:cNvSpPr/>
          <p:nvPr/>
        </p:nvSpPr>
        <p:spPr>
          <a:xfrm rot="5400000">
            <a:off x="7578851" y="1956816"/>
            <a:ext cx="82296" cy="109728"/>
          </a:xfrm>
          <a:prstGeom prst="triangle">
            <a:avLst/>
          </a:prstGeom>
          <a:solidFill>
            <a:srgbClr val="9AA0A6"/>
          </a:solidFill>
          <a:ln>
            <a:noFill/>
          </a:ln>
        </p:spPr>
        <p:txBody>
          <a:bodyPr rtlCol="0" anchor="ctr"/>
          <a:lstStyle/>
          <a:p>
            <a:pPr algn="ctr"/>
            <a:endParaRPr/>
          </a:p>
        </p:txBody>
      </p:sp>
      <p:sp>
        <p:nvSpPr>
          <p:cNvPr id="139" name="Rounded Rectangle 138"/>
          <p:cNvSpPr/>
          <p:nvPr/>
        </p:nvSpPr>
        <p:spPr>
          <a:xfrm>
            <a:off x="7680959" y="1463040"/>
            <a:ext cx="1097280" cy="1097280"/>
          </a:xfrm>
          <a:prstGeom prst="roundRect">
            <a:avLst>
              <a:gd name="adj" fmla="val 6666"/>
            </a:avLst>
          </a:prstGeom>
          <a:solidFill>
            <a:srgbClr val="E8F0FE"/>
          </a:solidFill>
          <a:ln>
            <a:noFill/>
          </a:ln>
        </p:spPr>
        <p:txBody>
          <a:bodyPr rtlCol="0" anchor="ctr"/>
          <a:lstStyle/>
          <a:p>
            <a:pPr algn="ctr"/>
            <a:endParaRPr/>
          </a:p>
        </p:txBody>
      </p:sp>
      <p:sp>
        <p:nvSpPr>
          <p:cNvPr id="140" name="TextBox 139"/>
          <p:cNvSpPr txBox="1"/>
          <p:nvPr/>
        </p:nvSpPr>
        <p:spPr>
          <a:xfrm>
            <a:off x="7772399" y="1554480"/>
            <a:ext cx="914400" cy="201168"/>
          </a:xfrm>
          <a:prstGeom prst="rect">
            <a:avLst/>
          </a:prstGeom>
          <a:noFill/>
        </p:spPr>
        <p:txBody>
          <a:bodyPr wrap="square" lIns="0" tIns="0" rIns="0" bIns="0" anchor="t">
            <a:noAutofit/>
          </a:bodyPr>
          <a:lstStyle/>
          <a:p>
            <a:pPr algn="l"/>
            <a:r>
              <a:rPr sz="900" b="1">
                <a:solidFill>
                  <a:srgbClr val="1967D2"/>
                </a:solidFill>
                <a:latin typeface="Arial"/>
              </a:rPr>
              <a:t>7</a:t>
            </a:r>
          </a:p>
        </p:txBody>
      </p:sp>
      <p:sp>
        <p:nvSpPr>
          <p:cNvPr id="141" name="TextBox 140"/>
          <p:cNvSpPr txBox="1"/>
          <p:nvPr/>
        </p:nvSpPr>
        <p:spPr>
          <a:xfrm>
            <a:off x="7772399" y="1755648"/>
            <a:ext cx="914400" cy="228600"/>
          </a:xfrm>
          <a:prstGeom prst="rect">
            <a:avLst/>
          </a:prstGeom>
          <a:noFill/>
        </p:spPr>
        <p:txBody>
          <a:bodyPr wrap="square" lIns="0" tIns="0" rIns="0" bIns="0" anchor="t">
            <a:noAutofit/>
          </a:bodyPr>
          <a:lstStyle/>
          <a:p>
            <a:pPr algn="l"/>
            <a:r>
              <a:rPr sz="1050" b="1">
                <a:solidFill>
                  <a:srgbClr val="1967D2"/>
                </a:solidFill>
                <a:latin typeface="Arial"/>
              </a:rPr>
              <a:t>ACT</a:t>
            </a:r>
          </a:p>
        </p:txBody>
      </p:sp>
      <p:sp>
        <p:nvSpPr>
          <p:cNvPr id="142" name="TextBox 141"/>
          <p:cNvSpPr txBox="1"/>
          <p:nvPr/>
        </p:nvSpPr>
        <p:spPr>
          <a:xfrm>
            <a:off x="7772399" y="2011680"/>
            <a:ext cx="932688" cy="68580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Owned actions for every team</a:t>
            </a:r>
          </a:p>
        </p:txBody>
      </p:sp>
      <p:sp>
        <p:nvSpPr>
          <p:cNvPr id="143" name="Rounded Rectangle 142"/>
          <p:cNvSpPr/>
          <p:nvPr/>
        </p:nvSpPr>
        <p:spPr>
          <a:xfrm>
            <a:off x="7680959" y="2971800"/>
            <a:ext cx="1097280" cy="868680"/>
          </a:xfrm>
          <a:prstGeom prst="roundRect">
            <a:avLst>
              <a:gd name="adj" fmla="val 8421"/>
            </a:avLst>
          </a:prstGeom>
          <a:solidFill>
            <a:srgbClr val="FFFFFF"/>
          </a:solidFill>
          <a:ln w="9525">
            <a:solidFill>
              <a:srgbClr val="DADCE0"/>
            </a:solidFill>
          </a:ln>
        </p:spPr>
        <p:txBody>
          <a:bodyPr rtlCol="0" anchor="ctr"/>
          <a:lstStyle/>
          <a:p>
            <a:pPr algn="ctr"/>
            <a:endParaRPr/>
          </a:p>
        </p:txBody>
      </p:sp>
      <p:sp>
        <p:nvSpPr>
          <p:cNvPr id="144" name="TextBox 143"/>
          <p:cNvSpPr txBox="1"/>
          <p:nvPr/>
        </p:nvSpPr>
        <p:spPr>
          <a:xfrm>
            <a:off x="7772399" y="3063240"/>
            <a:ext cx="932688" cy="868680"/>
          </a:xfrm>
          <a:prstGeom prst="rect">
            <a:avLst/>
          </a:prstGeom>
          <a:noFill/>
        </p:spPr>
        <p:txBody>
          <a:bodyPr wrap="square" lIns="0" tIns="0" rIns="0" bIns="0" anchor="t">
            <a:noAutofit/>
          </a:bodyPr>
          <a:lstStyle/>
          <a:p>
            <a:pPr algn="l">
              <a:lnSpc>
                <a:spcPct val="105000"/>
              </a:lnSpc>
            </a:pPr>
            <a:r>
              <a:rPr sz="900" b="0">
                <a:solidFill>
                  <a:srgbClr val="202124"/>
                </a:solidFill>
                <a:latin typeface="Arial"/>
              </a:rPr>
              <a:t>Procurement, engineering, finance and sales</a:t>
            </a:r>
          </a:p>
        </p:txBody>
      </p:sp>
      <p:sp>
        <p:nvSpPr>
          <p:cNvPr id="145" name="TextBox 144"/>
          <p:cNvSpPr txBox="1"/>
          <p:nvPr/>
        </p:nvSpPr>
        <p:spPr>
          <a:xfrm>
            <a:off x="365760" y="2734056"/>
            <a:ext cx="5486400" cy="182880"/>
          </a:xfrm>
          <a:prstGeom prst="rect">
            <a:avLst/>
          </a:prstGeom>
          <a:noFill/>
        </p:spPr>
        <p:txBody>
          <a:bodyPr wrap="square" lIns="0" tIns="0" rIns="0" bIns="0" anchor="t">
            <a:noAutofit/>
          </a:bodyPr>
          <a:lstStyle/>
          <a:p>
            <a:pPr algn="l"/>
            <a:r>
              <a:rPr sz="900" b="1">
                <a:solidFill>
                  <a:srgbClr val="5F6368"/>
                </a:solidFill>
                <a:latin typeface="Arial"/>
              </a:rPr>
              <a:t>IN THE DEMO · MCU-X100 END-OF-LIFE</a:t>
            </a:r>
          </a:p>
        </p:txBody>
      </p:sp>
      <p:sp>
        <p:nvSpPr>
          <p:cNvPr id="146" name="Rounded Rectangle 145"/>
          <p:cNvSpPr/>
          <p:nvPr/>
        </p:nvSpPr>
        <p:spPr>
          <a:xfrm>
            <a:off x="365760" y="4050791"/>
            <a:ext cx="146304" cy="146304"/>
          </a:xfrm>
          <a:prstGeom prst="roundRect">
            <a:avLst>
              <a:gd name="adj" fmla="val 18750"/>
            </a:avLst>
          </a:prstGeom>
          <a:solidFill>
            <a:srgbClr val="4285F4"/>
          </a:solidFill>
          <a:ln>
            <a:noFill/>
          </a:ln>
        </p:spPr>
        <p:txBody>
          <a:bodyPr rtlCol="0" anchor="ctr"/>
          <a:lstStyle/>
          <a:p>
            <a:pPr algn="ctr"/>
            <a:endParaRPr/>
          </a:p>
        </p:txBody>
      </p:sp>
      <p:sp>
        <p:nvSpPr>
          <p:cNvPr id="147" name="TextBox 146"/>
          <p:cNvSpPr txBox="1"/>
          <p:nvPr/>
        </p:nvSpPr>
        <p:spPr>
          <a:xfrm>
            <a:off x="585216" y="4014215"/>
            <a:ext cx="1702612" cy="219456"/>
          </a:xfrm>
          <a:prstGeom prst="rect">
            <a:avLst/>
          </a:prstGeom>
          <a:noFill/>
        </p:spPr>
        <p:txBody>
          <a:bodyPr wrap="square" lIns="0" tIns="0" rIns="0" bIns="0" anchor="ctr">
            <a:noAutofit/>
          </a:bodyPr>
          <a:lstStyle/>
          <a:p>
            <a:pPr algn="l"/>
            <a:r>
              <a:rPr sz="950" b="0">
                <a:solidFill>
                  <a:srgbClr val="202124"/>
                </a:solidFill>
                <a:latin typeface="Arial"/>
              </a:rPr>
              <a:t>Gemini agents (Google ADK)</a:t>
            </a:r>
          </a:p>
        </p:txBody>
      </p:sp>
      <p:sp>
        <p:nvSpPr>
          <p:cNvPr id="148" name="Rounded Rectangle 147"/>
          <p:cNvSpPr/>
          <p:nvPr/>
        </p:nvSpPr>
        <p:spPr>
          <a:xfrm>
            <a:off x="2479852" y="4050791"/>
            <a:ext cx="146304" cy="146304"/>
          </a:xfrm>
          <a:prstGeom prst="roundRect">
            <a:avLst>
              <a:gd name="adj" fmla="val 18750"/>
            </a:avLst>
          </a:prstGeom>
          <a:solidFill>
            <a:srgbClr val="34A853"/>
          </a:solidFill>
          <a:ln>
            <a:noFill/>
          </a:ln>
        </p:spPr>
        <p:txBody>
          <a:bodyPr rtlCol="0" anchor="ctr"/>
          <a:lstStyle/>
          <a:p>
            <a:pPr algn="ctr"/>
            <a:endParaRPr/>
          </a:p>
        </p:txBody>
      </p:sp>
      <p:sp>
        <p:nvSpPr>
          <p:cNvPr id="149" name="TextBox 148"/>
          <p:cNvSpPr txBox="1"/>
          <p:nvPr/>
        </p:nvSpPr>
        <p:spPr>
          <a:xfrm>
            <a:off x="2699308" y="4014215"/>
            <a:ext cx="3063240" cy="219456"/>
          </a:xfrm>
          <a:prstGeom prst="rect">
            <a:avLst/>
          </a:prstGeom>
          <a:noFill/>
        </p:spPr>
        <p:txBody>
          <a:bodyPr wrap="square" lIns="0" tIns="0" rIns="0" bIns="0" anchor="ctr">
            <a:noAutofit/>
          </a:bodyPr>
          <a:lstStyle/>
          <a:p>
            <a:pPr algn="l"/>
            <a:r>
              <a:rPr sz="950" b="0">
                <a:solidFill>
                  <a:srgbClr val="202124"/>
                </a:solidFill>
                <a:latin typeface="Arial"/>
              </a:rPr>
              <a:t>Deterministic engines (BigQuery, Python, OR-Tools)</a:t>
            </a:r>
          </a:p>
        </p:txBody>
      </p:sp>
      <p:sp>
        <p:nvSpPr>
          <p:cNvPr id="150" name="Rounded Rectangle 149"/>
          <p:cNvSpPr/>
          <p:nvPr/>
        </p:nvSpPr>
        <p:spPr>
          <a:xfrm>
            <a:off x="5954572" y="4050791"/>
            <a:ext cx="146304" cy="146304"/>
          </a:xfrm>
          <a:prstGeom prst="roundRect">
            <a:avLst>
              <a:gd name="adj" fmla="val 18750"/>
            </a:avLst>
          </a:prstGeom>
          <a:solidFill>
            <a:srgbClr val="FBBC04"/>
          </a:solidFill>
          <a:ln>
            <a:noFill/>
          </a:ln>
        </p:spPr>
        <p:txBody>
          <a:bodyPr rtlCol="0" anchor="ctr"/>
          <a:lstStyle/>
          <a:p>
            <a:pPr algn="ctr"/>
            <a:endParaRPr/>
          </a:p>
        </p:txBody>
      </p:sp>
      <p:sp>
        <p:nvSpPr>
          <p:cNvPr id="151" name="TextBox 150"/>
          <p:cNvSpPr txBox="1"/>
          <p:nvPr/>
        </p:nvSpPr>
        <p:spPr>
          <a:xfrm>
            <a:off x="6174028" y="4014215"/>
            <a:ext cx="682142" cy="219456"/>
          </a:xfrm>
          <a:prstGeom prst="rect">
            <a:avLst/>
          </a:prstGeom>
          <a:noFill/>
        </p:spPr>
        <p:txBody>
          <a:bodyPr wrap="square" lIns="0" tIns="0" rIns="0" bIns="0" anchor="ctr">
            <a:noAutofit/>
          </a:bodyPr>
          <a:lstStyle/>
          <a:p>
            <a:pPr algn="l"/>
            <a:r>
              <a:rPr sz="950" b="0">
                <a:solidFill>
                  <a:srgbClr val="202124"/>
                </a:solidFill>
                <a:latin typeface="Arial"/>
              </a:rPr>
              <a:t>A person</a:t>
            </a:r>
          </a:p>
        </p:txBody>
      </p:sp>
      <p:sp>
        <p:nvSpPr>
          <p:cNvPr id="152" name="Rounded Rectangle 151"/>
          <p:cNvSpPr/>
          <p:nvPr/>
        </p:nvSpPr>
        <p:spPr>
          <a:xfrm>
            <a:off x="365760" y="4389120"/>
            <a:ext cx="8412480" cy="411480"/>
          </a:xfrm>
          <a:prstGeom prst="roundRect">
            <a:avLst>
              <a:gd name="adj" fmla="val 17777"/>
            </a:avLst>
          </a:prstGeom>
          <a:solidFill>
            <a:srgbClr val="E8F0FE"/>
          </a:solidFill>
          <a:ln>
            <a:noFill/>
          </a:ln>
        </p:spPr>
        <p:txBody>
          <a:bodyPr rtlCol="0" anchor="ctr"/>
          <a:lstStyle/>
          <a:p>
            <a:pPr algn="ctr"/>
            <a:endParaRPr/>
          </a:p>
        </p:txBody>
      </p:sp>
      <p:sp>
        <p:nvSpPr>
          <p:cNvPr id="153" name="TextBox 152"/>
          <p:cNvSpPr txBox="1"/>
          <p:nvPr/>
        </p:nvSpPr>
        <p:spPr>
          <a:xfrm>
            <a:off x="502920" y="4389120"/>
            <a:ext cx="8229600" cy="411480"/>
          </a:xfrm>
          <a:prstGeom prst="rect">
            <a:avLst/>
          </a:prstGeom>
          <a:noFill/>
        </p:spPr>
        <p:txBody>
          <a:bodyPr wrap="square" lIns="0" tIns="0" rIns="0" bIns="0" anchor="ctr">
            <a:noAutofit/>
          </a:bodyPr>
          <a:lstStyle/>
          <a:p>
            <a:pPr algn="l"/>
            <a:r>
              <a:rPr sz="1000" b="1">
                <a:solidFill>
                  <a:srgbClr val="1967D2"/>
                </a:solidFill>
                <a:latin typeface="Arial"/>
              </a:rPr>
              <a:t>One flow: </a:t>
            </a:r>
            <a:r>
              <a:rPr sz="1000" b="0">
                <a:solidFill>
                  <a:srgbClr val="202124"/>
                </a:solidFill>
                <a:latin typeface="Arial"/>
              </a:rPr>
              <a:t>under two minutes of agent work (18.5 s on the latest live run) turns a supplier notice into a plan a person can approve.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Wireframes/Mock diagrams of the proposed solution (optional)</a:t>
            </a:r>
          </a:p>
        </p:txBody>
      </p:sp>
      <p:sp>
        <p:nvSpPr>
          <p:cNvPr id="104"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Six live screens, one case: the planner’s path through RippleOps</a:t>
            </a:r>
          </a:p>
        </p:txBody>
      </p:sp>
      <p:pic>
        <p:nvPicPr>
          <p:cNvPr id="105" name="Picture 104" descr="Impact Analysis screen"/>
          <p:cNvPicPr>
            <a:picLocks noChangeAspect="1"/>
          </p:cNvPicPr>
          <p:nvPr/>
        </p:nvPicPr>
        <p:blipFill>
          <a:blip r:embed="rId5"/>
          <a:srcRect b="30125"/>
          <a:stretch>
            <a:fillRect/>
          </a:stretch>
        </p:blipFill>
        <p:spPr>
          <a:xfrm>
            <a:off x="365760" y="1417320"/>
            <a:ext cx="2651760" cy="1298448"/>
          </a:xfrm>
          <a:prstGeom prst="rect">
            <a:avLst/>
          </a:prstGeom>
          <a:ln w="9525">
            <a:solidFill>
              <a:srgbClr val="DADCE0"/>
            </a:solidFill>
          </a:ln>
        </p:spPr>
      </p:pic>
      <p:sp>
        <p:nvSpPr>
          <p:cNvPr id="106" name="TextBox 105"/>
          <p:cNvSpPr txBox="1"/>
          <p:nvPr/>
        </p:nvSpPr>
        <p:spPr>
          <a:xfrm>
            <a:off x="365760" y="2770632"/>
            <a:ext cx="2651760" cy="219456"/>
          </a:xfrm>
          <a:prstGeom prst="rect">
            <a:avLst/>
          </a:prstGeom>
          <a:noFill/>
        </p:spPr>
        <p:txBody>
          <a:bodyPr wrap="square" lIns="0" tIns="0" rIns="0" bIns="0" anchor="t">
            <a:noAutofit/>
          </a:bodyPr>
          <a:lstStyle/>
          <a:p>
            <a:pPr algn="l"/>
            <a:r>
              <a:rPr sz="1050" b="1">
                <a:solidFill>
                  <a:srgbClr val="202124"/>
                </a:solidFill>
                <a:latin typeface="Arial"/>
              </a:rPr>
              <a:t>1  Impact Analysis</a:t>
            </a:r>
            <a:r>
              <a:rPr sz="950" b="0">
                <a:solidFill>
                  <a:srgbClr val="5F6368"/>
                </a:solidFill>
                <a:latin typeface="Arial"/>
              </a:rPr>
              <a:t>  the whole ripple</a:t>
            </a:r>
          </a:p>
        </p:txBody>
      </p:sp>
      <p:sp>
        <p:nvSpPr>
          <p:cNvPr id="107" name="Isosceles Triangle 106"/>
          <p:cNvSpPr/>
          <p:nvPr/>
        </p:nvSpPr>
        <p:spPr>
          <a:xfrm rot="5400000">
            <a:off x="3090672" y="2011679"/>
            <a:ext cx="82296" cy="109728"/>
          </a:xfrm>
          <a:prstGeom prst="triangle">
            <a:avLst/>
          </a:prstGeom>
          <a:solidFill>
            <a:srgbClr val="9AA0A6"/>
          </a:solidFill>
          <a:ln>
            <a:noFill/>
          </a:ln>
        </p:spPr>
        <p:txBody>
          <a:bodyPr rtlCol="0" anchor="ctr"/>
          <a:lstStyle/>
          <a:p>
            <a:pPr algn="ctr"/>
            <a:endParaRPr/>
          </a:p>
        </p:txBody>
      </p:sp>
      <p:pic>
        <p:nvPicPr>
          <p:cNvPr id="108" name="Picture 107" descr="Scenario Simulator screen"/>
          <p:cNvPicPr>
            <a:picLocks noChangeAspect="1"/>
          </p:cNvPicPr>
          <p:nvPr/>
        </p:nvPicPr>
        <p:blipFill>
          <a:blip r:embed="rId6"/>
          <a:srcRect b="30125"/>
          <a:stretch>
            <a:fillRect/>
          </a:stretch>
        </p:blipFill>
        <p:spPr>
          <a:xfrm>
            <a:off x="3246120" y="1417320"/>
            <a:ext cx="2651760" cy="1298448"/>
          </a:xfrm>
          <a:prstGeom prst="rect">
            <a:avLst/>
          </a:prstGeom>
          <a:ln w="9525">
            <a:solidFill>
              <a:srgbClr val="DADCE0"/>
            </a:solidFill>
          </a:ln>
        </p:spPr>
      </p:pic>
      <p:sp>
        <p:nvSpPr>
          <p:cNvPr id="109" name="TextBox 108"/>
          <p:cNvSpPr txBox="1"/>
          <p:nvPr/>
        </p:nvSpPr>
        <p:spPr>
          <a:xfrm>
            <a:off x="3246120" y="2770632"/>
            <a:ext cx="2651760" cy="219456"/>
          </a:xfrm>
          <a:prstGeom prst="rect">
            <a:avLst/>
          </a:prstGeom>
          <a:noFill/>
        </p:spPr>
        <p:txBody>
          <a:bodyPr wrap="square" lIns="0" tIns="0" rIns="0" bIns="0" anchor="t">
            <a:noAutofit/>
          </a:bodyPr>
          <a:lstStyle/>
          <a:p>
            <a:pPr algn="l"/>
            <a:r>
              <a:rPr sz="1050" b="1">
                <a:solidFill>
                  <a:srgbClr val="202124"/>
                </a:solidFill>
                <a:latin typeface="Arial"/>
              </a:rPr>
              <a:t>2  Scenario Simulator</a:t>
            </a:r>
            <a:r>
              <a:rPr sz="950" b="0">
                <a:solidFill>
                  <a:srgbClr val="5F6368"/>
                </a:solidFill>
                <a:latin typeface="Arial"/>
              </a:rPr>
              <a:t>  test a decision</a:t>
            </a:r>
          </a:p>
        </p:txBody>
      </p:sp>
      <p:sp>
        <p:nvSpPr>
          <p:cNvPr id="110" name="Isosceles Triangle 109"/>
          <p:cNvSpPr/>
          <p:nvPr/>
        </p:nvSpPr>
        <p:spPr>
          <a:xfrm rot="5400000">
            <a:off x="5971031" y="2011679"/>
            <a:ext cx="82296" cy="109728"/>
          </a:xfrm>
          <a:prstGeom prst="triangle">
            <a:avLst/>
          </a:prstGeom>
          <a:solidFill>
            <a:srgbClr val="9AA0A6"/>
          </a:solidFill>
          <a:ln>
            <a:noFill/>
          </a:ln>
        </p:spPr>
        <p:txBody>
          <a:bodyPr rtlCol="0" anchor="ctr"/>
          <a:lstStyle/>
          <a:p>
            <a:pPr algn="ctr"/>
            <a:endParaRPr/>
          </a:p>
        </p:txBody>
      </p:sp>
      <p:pic>
        <p:nvPicPr>
          <p:cNvPr id="111" name="Picture 110" descr="Alternative Sourcing screen"/>
          <p:cNvPicPr>
            <a:picLocks noChangeAspect="1"/>
          </p:cNvPicPr>
          <p:nvPr/>
        </p:nvPicPr>
        <p:blipFill>
          <a:blip r:embed="rId7"/>
          <a:srcRect b="30125"/>
          <a:stretch>
            <a:fillRect/>
          </a:stretch>
        </p:blipFill>
        <p:spPr>
          <a:xfrm>
            <a:off x="6126480" y="1417320"/>
            <a:ext cx="2651760" cy="1298448"/>
          </a:xfrm>
          <a:prstGeom prst="rect">
            <a:avLst/>
          </a:prstGeom>
          <a:ln w="9525">
            <a:solidFill>
              <a:srgbClr val="DADCE0"/>
            </a:solidFill>
          </a:ln>
        </p:spPr>
      </p:pic>
      <p:sp>
        <p:nvSpPr>
          <p:cNvPr id="112" name="TextBox 111"/>
          <p:cNvSpPr txBox="1"/>
          <p:nvPr/>
        </p:nvSpPr>
        <p:spPr>
          <a:xfrm>
            <a:off x="6126480" y="2770632"/>
            <a:ext cx="2651760" cy="219456"/>
          </a:xfrm>
          <a:prstGeom prst="rect">
            <a:avLst/>
          </a:prstGeom>
          <a:noFill/>
        </p:spPr>
        <p:txBody>
          <a:bodyPr wrap="square" lIns="0" tIns="0" rIns="0" bIns="0" anchor="t">
            <a:noAutofit/>
          </a:bodyPr>
          <a:lstStyle/>
          <a:p>
            <a:pPr algn="l"/>
            <a:r>
              <a:rPr sz="1050" b="1">
                <a:solidFill>
                  <a:srgbClr val="202124"/>
                </a:solidFill>
                <a:latin typeface="Arial"/>
              </a:rPr>
              <a:t>3  Alternative Sourcing</a:t>
            </a:r>
            <a:r>
              <a:rPr sz="950" b="0">
                <a:solidFill>
                  <a:srgbClr val="5F6368"/>
                </a:solidFill>
                <a:latin typeface="Arial"/>
              </a:rPr>
              <a:t>  suppliers scored</a:t>
            </a:r>
          </a:p>
        </p:txBody>
      </p:sp>
      <p:pic>
        <p:nvPicPr>
          <p:cNvPr id="113" name="Picture 112" descr="Production Plan screen"/>
          <p:cNvPicPr>
            <a:picLocks noChangeAspect="1"/>
          </p:cNvPicPr>
          <p:nvPr/>
        </p:nvPicPr>
        <p:blipFill>
          <a:blip r:embed="rId8"/>
          <a:srcRect b="30125"/>
          <a:stretch>
            <a:fillRect/>
          </a:stretch>
        </p:blipFill>
        <p:spPr>
          <a:xfrm>
            <a:off x="365760" y="3172968"/>
            <a:ext cx="2651760" cy="1298448"/>
          </a:xfrm>
          <a:prstGeom prst="rect">
            <a:avLst/>
          </a:prstGeom>
          <a:ln w="9525">
            <a:solidFill>
              <a:srgbClr val="DADCE0"/>
            </a:solidFill>
          </a:ln>
        </p:spPr>
      </p:pic>
      <p:sp>
        <p:nvSpPr>
          <p:cNvPr id="114" name="TextBox 113"/>
          <p:cNvSpPr txBox="1"/>
          <p:nvPr/>
        </p:nvSpPr>
        <p:spPr>
          <a:xfrm>
            <a:off x="365760" y="4526279"/>
            <a:ext cx="2651760" cy="219456"/>
          </a:xfrm>
          <a:prstGeom prst="rect">
            <a:avLst/>
          </a:prstGeom>
          <a:noFill/>
        </p:spPr>
        <p:txBody>
          <a:bodyPr wrap="square" lIns="0" tIns="0" rIns="0" bIns="0" anchor="t">
            <a:noAutofit/>
          </a:bodyPr>
          <a:lstStyle/>
          <a:p>
            <a:pPr algn="l"/>
            <a:r>
              <a:rPr sz="1050" b="1">
                <a:solidFill>
                  <a:srgbClr val="202124"/>
                </a:solidFill>
                <a:latin typeface="Arial"/>
              </a:rPr>
              <a:t>4  Production Plan</a:t>
            </a:r>
            <a:r>
              <a:rPr sz="950" b="0">
                <a:solidFill>
                  <a:srgbClr val="5F6368"/>
                </a:solidFill>
                <a:latin typeface="Arial"/>
              </a:rPr>
              <a:t>  13-week re-plan</a:t>
            </a:r>
          </a:p>
        </p:txBody>
      </p:sp>
      <p:sp>
        <p:nvSpPr>
          <p:cNvPr id="115" name="Isosceles Triangle 114"/>
          <p:cNvSpPr/>
          <p:nvPr/>
        </p:nvSpPr>
        <p:spPr>
          <a:xfrm rot="5400000">
            <a:off x="3090672" y="3767328"/>
            <a:ext cx="82296" cy="109728"/>
          </a:xfrm>
          <a:prstGeom prst="triangle">
            <a:avLst/>
          </a:prstGeom>
          <a:solidFill>
            <a:srgbClr val="9AA0A6"/>
          </a:solidFill>
          <a:ln>
            <a:noFill/>
          </a:ln>
        </p:spPr>
        <p:txBody>
          <a:bodyPr rtlCol="0" anchor="ctr"/>
          <a:lstStyle/>
          <a:p>
            <a:pPr algn="ctr"/>
            <a:endParaRPr/>
          </a:p>
        </p:txBody>
      </p:sp>
      <p:pic>
        <p:nvPicPr>
          <p:cNvPr id="116" name="Picture 115" descr="Agent Activity screen"/>
          <p:cNvPicPr>
            <a:picLocks noChangeAspect="1"/>
          </p:cNvPicPr>
          <p:nvPr/>
        </p:nvPicPr>
        <p:blipFill>
          <a:blip r:embed="rId9"/>
          <a:srcRect b="30125"/>
          <a:stretch>
            <a:fillRect/>
          </a:stretch>
        </p:blipFill>
        <p:spPr>
          <a:xfrm>
            <a:off x="3246120" y="3172968"/>
            <a:ext cx="2651760" cy="1298448"/>
          </a:xfrm>
          <a:prstGeom prst="rect">
            <a:avLst/>
          </a:prstGeom>
          <a:ln w="9525">
            <a:solidFill>
              <a:srgbClr val="DADCE0"/>
            </a:solidFill>
          </a:ln>
        </p:spPr>
      </p:pic>
      <p:sp>
        <p:nvSpPr>
          <p:cNvPr id="117" name="TextBox 116"/>
          <p:cNvSpPr txBox="1"/>
          <p:nvPr/>
        </p:nvSpPr>
        <p:spPr>
          <a:xfrm>
            <a:off x="3246120" y="4526279"/>
            <a:ext cx="2651760" cy="219456"/>
          </a:xfrm>
          <a:prstGeom prst="rect">
            <a:avLst/>
          </a:prstGeom>
          <a:noFill/>
        </p:spPr>
        <p:txBody>
          <a:bodyPr wrap="square" lIns="0" tIns="0" rIns="0" bIns="0" anchor="t">
            <a:noAutofit/>
          </a:bodyPr>
          <a:lstStyle/>
          <a:p>
            <a:pPr algn="l"/>
            <a:r>
              <a:rPr sz="1050" b="1">
                <a:solidFill>
                  <a:srgbClr val="202124"/>
                </a:solidFill>
                <a:latin typeface="Arial"/>
              </a:rPr>
              <a:t>5  Agent Activity</a:t>
            </a:r>
            <a:r>
              <a:rPr sz="950" b="0">
                <a:solidFill>
                  <a:srgbClr val="5F6368"/>
                </a:solidFill>
                <a:latin typeface="Arial"/>
              </a:rPr>
              <a:t>  nine agents, live</a:t>
            </a:r>
          </a:p>
        </p:txBody>
      </p:sp>
      <p:sp>
        <p:nvSpPr>
          <p:cNvPr id="118" name="Isosceles Triangle 117"/>
          <p:cNvSpPr/>
          <p:nvPr/>
        </p:nvSpPr>
        <p:spPr>
          <a:xfrm rot="5400000">
            <a:off x="5971031" y="3767328"/>
            <a:ext cx="82296" cy="109728"/>
          </a:xfrm>
          <a:prstGeom prst="triangle">
            <a:avLst/>
          </a:prstGeom>
          <a:solidFill>
            <a:srgbClr val="9AA0A6"/>
          </a:solidFill>
          <a:ln>
            <a:noFill/>
          </a:ln>
        </p:spPr>
        <p:txBody>
          <a:bodyPr rtlCol="0" anchor="ctr"/>
          <a:lstStyle/>
          <a:p>
            <a:pPr algn="ctr"/>
            <a:endParaRPr/>
          </a:p>
        </p:txBody>
      </p:sp>
      <p:pic>
        <p:nvPicPr>
          <p:cNvPr id="119" name="Picture 118" descr="Recommended Response screen"/>
          <p:cNvPicPr>
            <a:picLocks noChangeAspect="1"/>
          </p:cNvPicPr>
          <p:nvPr/>
        </p:nvPicPr>
        <p:blipFill>
          <a:blip r:embed="rId10"/>
          <a:srcRect b="30125"/>
          <a:stretch>
            <a:fillRect/>
          </a:stretch>
        </p:blipFill>
        <p:spPr>
          <a:xfrm>
            <a:off x="6126480" y="3172968"/>
            <a:ext cx="2651760" cy="1298448"/>
          </a:xfrm>
          <a:prstGeom prst="rect">
            <a:avLst/>
          </a:prstGeom>
          <a:ln w="9525">
            <a:solidFill>
              <a:srgbClr val="DADCE0"/>
            </a:solidFill>
          </a:ln>
        </p:spPr>
      </p:pic>
      <p:sp>
        <p:nvSpPr>
          <p:cNvPr id="120" name="TextBox 119"/>
          <p:cNvSpPr txBox="1"/>
          <p:nvPr/>
        </p:nvSpPr>
        <p:spPr>
          <a:xfrm>
            <a:off x="6126480" y="4526279"/>
            <a:ext cx="2651760" cy="219456"/>
          </a:xfrm>
          <a:prstGeom prst="rect">
            <a:avLst/>
          </a:prstGeom>
          <a:noFill/>
        </p:spPr>
        <p:txBody>
          <a:bodyPr wrap="square" lIns="0" tIns="0" rIns="0" bIns="0" anchor="t">
            <a:noAutofit/>
          </a:bodyPr>
          <a:lstStyle/>
          <a:p>
            <a:pPr algn="l"/>
            <a:r>
              <a:rPr sz="1050" b="1">
                <a:solidFill>
                  <a:srgbClr val="202124"/>
                </a:solidFill>
                <a:latin typeface="Arial"/>
              </a:rPr>
              <a:t>6  Recommended Response</a:t>
            </a:r>
            <a:r>
              <a:rPr sz="950" b="0">
                <a:solidFill>
                  <a:srgbClr val="5F6368"/>
                </a:solidFill>
                <a:latin typeface="Arial"/>
              </a:rPr>
              <a:t>  next moves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Architecture diagram of the proposed solution</a:t>
            </a:r>
          </a:p>
        </p:txBody>
      </p:sp>
      <p:sp>
        <p:nvSpPr>
          <p:cNvPr id="112"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Built end to end on Google Cloud and Google AI</a:t>
            </a:r>
          </a:p>
        </p:txBody>
      </p:sp>
      <p:sp>
        <p:nvSpPr>
          <p:cNvPr id="113" name="Rounded Rectangle 112"/>
          <p:cNvSpPr/>
          <p:nvPr/>
        </p:nvSpPr>
        <p:spPr>
          <a:xfrm>
            <a:off x="365760" y="2331720"/>
            <a:ext cx="1143000" cy="1188720"/>
          </a:xfrm>
          <a:prstGeom prst="roundRect">
            <a:avLst>
              <a:gd name="adj" fmla="val 6400"/>
            </a:avLst>
          </a:prstGeom>
          <a:solidFill>
            <a:srgbClr val="FFFFFF"/>
          </a:solidFill>
          <a:ln w="9525">
            <a:solidFill>
              <a:srgbClr val="DADCE0"/>
            </a:solidFill>
          </a:ln>
        </p:spPr>
        <p:txBody>
          <a:bodyPr rtlCol="0" anchor="ctr"/>
          <a:lstStyle/>
          <a:p>
            <a:pPr algn="ctr"/>
            <a:endParaRPr/>
          </a:p>
        </p:txBody>
      </p:sp>
      <p:pic>
        <p:nvPicPr>
          <p:cNvPr id="114" name="Picture 113" descr="Users_b.png"/>
          <p:cNvPicPr>
            <a:picLocks noChangeAspect="1"/>
          </p:cNvPicPr>
          <p:nvPr/>
        </p:nvPicPr>
        <p:blipFill>
          <a:blip r:embed="rId5"/>
          <a:stretch>
            <a:fillRect/>
          </a:stretch>
        </p:blipFill>
        <p:spPr>
          <a:xfrm>
            <a:off x="745236" y="2478024"/>
            <a:ext cx="384048" cy="384048"/>
          </a:xfrm>
          <a:prstGeom prst="rect">
            <a:avLst/>
          </a:prstGeom>
        </p:spPr>
      </p:pic>
      <p:sp>
        <p:nvSpPr>
          <p:cNvPr id="115" name="TextBox 114"/>
          <p:cNvSpPr txBox="1"/>
          <p:nvPr/>
        </p:nvSpPr>
        <p:spPr>
          <a:xfrm>
            <a:off x="438912" y="2916936"/>
            <a:ext cx="996696" cy="548640"/>
          </a:xfrm>
          <a:prstGeom prst="rect">
            <a:avLst/>
          </a:prstGeom>
          <a:noFill/>
        </p:spPr>
        <p:txBody>
          <a:bodyPr wrap="square" lIns="0" tIns="0" rIns="0" bIns="0" anchor="t">
            <a:noAutofit/>
          </a:bodyPr>
          <a:lstStyle/>
          <a:p>
            <a:pPr algn="ctr"/>
            <a:r>
              <a:rPr sz="1050" b="1">
                <a:solidFill>
                  <a:srgbClr val="202124"/>
                </a:solidFill>
                <a:latin typeface="Arial"/>
              </a:rPr>
              <a:t>Business teams</a:t>
            </a:r>
          </a:p>
          <a:p>
            <a:pPr algn="ctr"/>
            <a:r>
              <a:rPr sz="850" b="0">
                <a:solidFill>
                  <a:srgbClr val="5F6368"/>
                </a:solidFill>
                <a:latin typeface="Arial"/>
              </a:rPr>
              <a:t>Browser</a:t>
            </a:r>
          </a:p>
        </p:txBody>
      </p:sp>
      <p:sp>
        <p:nvSpPr>
          <p:cNvPr id="116" name="Rounded Rectangle 115"/>
          <p:cNvSpPr/>
          <p:nvPr/>
        </p:nvSpPr>
        <p:spPr>
          <a:xfrm>
            <a:off x="1828800" y="2331720"/>
            <a:ext cx="1463040" cy="1188720"/>
          </a:xfrm>
          <a:prstGeom prst="roundRect">
            <a:avLst>
              <a:gd name="adj" fmla="val 6153"/>
            </a:avLst>
          </a:prstGeom>
          <a:solidFill>
            <a:srgbClr val="FFFFFF"/>
          </a:solidFill>
          <a:ln w="9525">
            <a:solidFill>
              <a:srgbClr val="DADCE0"/>
            </a:solidFill>
          </a:ln>
        </p:spPr>
        <p:txBody>
          <a:bodyPr rtlCol="0" anchor="ctr"/>
          <a:lstStyle/>
          <a:p>
            <a:pPr algn="ctr"/>
            <a:endParaRPr/>
          </a:p>
        </p:txBody>
      </p:sp>
      <p:pic>
        <p:nvPicPr>
          <p:cNvPr id="117" name="Picture 116" descr="Monitor_b.png"/>
          <p:cNvPicPr>
            <a:picLocks noChangeAspect="1"/>
          </p:cNvPicPr>
          <p:nvPr/>
        </p:nvPicPr>
        <p:blipFill>
          <a:blip r:embed="rId6"/>
          <a:stretch>
            <a:fillRect/>
          </a:stretch>
        </p:blipFill>
        <p:spPr>
          <a:xfrm>
            <a:off x="2368296" y="2478024"/>
            <a:ext cx="384048" cy="384048"/>
          </a:xfrm>
          <a:prstGeom prst="rect">
            <a:avLst/>
          </a:prstGeom>
        </p:spPr>
      </p:pic>
      <p:sp>
        <p:nvSpPr>
          <p:cNvPr id="118" name="TextBox 117"/>
          <p:cNvSpPr txBox="1"/>
          <p:nvPr/>
        </p:nvSpPr>
        <p:spPr>
          <a:xfrm>
            <a:off x="1901952" y="2916936"/>
            <a:ext cx="1316736" cy="548640"/>
          </a:xfrm>
          <a:prstGeom prst="rect">
            <a:avLst/>
          </a:prstGeom>
          <a:noFill/>
        </p:spPr>
        <p:txBody>
          <a:bodyPr wrap="square" lIns="0" tIns="0" rIns="0" bIns="0" anchor="t">
            <a:noAutofit/>
          </a:bodyPr>
          <a:lstStyle/>
          <a:p>
            <a:pPr algn="ctr"/>
            <a:r>
              <a:rPr sz="1050" b="1">
                <a:solidFill>
                  <a:srgbClr val="202124"/>
                </a:solidFill>
                <a:latin typeface="Arial"/>
              </a:rPr>
              <a:t>Next.js web app</a:t>
            </a:r>
          </a:p>
          <a:p>
            <a:pPr algn="ctr"/>
            <a:r>
              <a:rPr sz="850" b="0">
                <a:solidFill>
                  <a:srgbClr val="5F6368"/>
                </a:solidFill>
                <a:latin typeface="Arial"/>
              </a:rPr>
              <a:t>Cloud Run · /api proxy</a:t>
            </a:r>
          </a:p>
        </p:txBody>
      </p:sp>
      <p:sp>
        <p:nvSpPr>
          <p:cNvPr id="119" name="Rounded Rectangle 118"/>
          <p:cNvSpPr/>
          <p:nvPr/>
        </p:nvSpPr>
        <p:spPr>
          <a:xfrm>
            <a:off x="3611880" y="1417320"/>
            <a:ext cx="2651760" cy="3310128"/>
          </a:xfrm>
          <a:prstGeom prst="roundRect">
            <a:avLst>
              <a:gd name="adj" fmla="val 2758"/>
            </a:avLst>
          </a:prstGeom>
          <a:solidFill>
            <a:srgbClr val="E8F0FE"/>
          </a:solidFill>
          <a:ln>
            <a:noFill/>
          </a:ln>
        </p:spPr>
        <p:txBody>
          <a:bodyPr rtlCol="0" anchor="ctr"/>
          <a:lstStyle/>
          <a:p>
            <a:pPr algn="ctr"/>
            <a:endParaRPr/>
          </a:p>
        </p:txBody>
      </p:sp>
      <p:sp>
        <p:nvSpPr>
          <p:cNvPr id="120" name="TextBox 119"/>
          <p:cNvSpPr txBox="1"/>
          <p:nvPr/>
        </p:nvSpPr>
        <p:spPr>
          <a:xfrm>
            <a:off x="3749039" y="1499616"/>
            <a:ext cx="2377440" cy="201168"/>
          </a:xfrm>
          <a:prstGeom prst="rect">
            <a:avLst/>
          </a:prstGeom>
          <a:noFill/>
        </p:spPr>
        <p:txBody>
          <a:bodyPr wrap="square" lIns="0" tIns="0" rIns="0" bIns="0" anchor="t">
            <a:noAutofit/>
          </a:bodyPr>
          <a:lstStyle/>
          <a:p>
            <a:pPr algn="l"/>
            <a:r>
              <a:rPr sz="850" b="1">
                <a:solidFill>
                  <a:srgbClr val="1967D2"/>
                </a:solidFill>
                <a:latin typeface="Arial"/>
              </a:rPr>
              <a:t>API SERVICE · CLOUD RUN</a:t>
            </a:r>
          </a:p>
        </p:txBody>
      </p:sp>
      <p:sp>
        <p:nvSpPr>
          <p:cNvPr id="121" name="Rounded Rectangle 120"/>
          <p:cNvSpPr/>
          <p:nvPr/>
        </p:nvSpPr>
        <p:spPr>
          <a:xfrm>
            <a:off x="3730752" y="1773936"/>
            <a:ext cx="2414016" cy="640080"/>
          </a:xfrm>
          <a:prstGeom prst="roundRect">
            <a:avLst>
              <a:gd name="adj" fmla="val 11428"/>
            </a:avLst>
          </a:prstGeom>
          <a:solidFill>
            <a:srgbClr val="FFFFFF"/>
          </a:solidFill>
          <a:ln w="9525">
            <a:solidFill>
              <a:srgbClr val="DADCE0"/>
            </a:solidFill>
          </a:ln>
        </p:spPr>
        <p:txBody>
          <a:bodyPr rtlCol="0" anchor="ctr"/>
          <a:lstStyle/>
          <a:p>
            <a:pPr algn="ctr"/>
            <a:endParaRPr/>
          </a:p>
        </p:txBody>
      </p:sp>
      <p:pic>
        <p:nvPicPr>
          <p:cNvPr id="122" name="Picture 121" descr="image-12-6.png"/>
          <p:cNvPicPr>
            <a:picLocks noChangeAspect="1"/>
          </p:cNvPicPr>
          <p:nvPr/>
        </p:nvPicPr>
        <p:blipFill>
          <a:blip r:embed="rId7"/>
          <a:stretch>
            <a:fillRect/>
          </a:stretch>
        </p:blipFill>
        <p:spPr>
          <a:xfrm>
            <a:off x="3858768" y="1929384"/>
            <a:ext cx="329184" cy="329184"/>
          </a:xfrm>
          <a:prstGeom prst="rect">
            <a:avLst/>
          </a:prstGeom>
        </p:spPr>
      </p:pic>
      <p:sp>
        <p:nvSpPr>
          <p:cNvPr id="123" name="TextBox 122"/>
          <p:cNvSpPr txBox="1"/>
          <p:nvPr/>
        </p:nvSpPr>
        <p:spPr>
          <a:xfrm>
            <a:off x="4297680" y="1810512"/>
            <a:ext cx="1773936" cy="566928"/>
          </a:xfrm>
          <a:prstGeom prst="rect">
            <a:avLst/>
          </a:prstGeom>
          <a:noFill/>
        </p:spPr>
        <p:txBody>
          <a:bodyPr wrap="square" lIns="0" tIns="0" rIns="0" bIns="0" anchor="ctr">
            <a:noAutofit/>
          </a:bodyPr>
          <a:lstStyle/>
          <a:p>
            <a:pPr algn="l"/>
            <a:r>
              <a:rPr sz="1050" b="1">
                <a:solidFill>
                  <a:srgbClr val="202124"/>
                </a:solidFill>
                <a:latin typeface="Arial"/>
              </a:rPr>
              <a:t>Google ADK</a:t>
            </a:r>
          </a:p>
          <a:p>
            <a:pPr algn="l"/>
            <a:r>
              <a:rPr sz="850" b="0">
                <a:solidFill>
                  <a:srgbClr val="5F6368"/>
                </a:solidFill>
                <a:latin typeface="Arial"/>
              </a:rPr>
              <a:t>9-agent workflow · FastAPI · SSE</a:t>
            </a:r>
          </a:p>
        </p:txBody>
      </p:sp>
      <p:sp>
        <p:nvSpPr>
          <p:cNvPr id="124" name="Rounded Rectangle 123"/>
          <p:cNvSpPr/>
          <p:nvPr/>
        </p:nvSpPr>
        <p:spPr>
          <a:xfrm>
            <a:off x="3730752" y="2505456"/>
            <a:ext cx="2414016" cy="640080"/>
          </a:xfrm>
          <a:prstGeom prst="roundRect">
            <a:avLst>
              <a:gd name="adj" fmla="val 11428"/>
            </a:avLst>
          </a:prstGeom>
          <a:solidFill>
            <a:srgbClr val="FFFFFF"/>
          </a:solidFill>
          <a:ln w="9525">
            <a:solidFill>
              <a:srgbClr val="DADCE0"/>
            </a:solidFill>
          </a:ln>
        </p:spPr>
        <p:txBody>
          <a:bodyPr rtlCol="0" anchor="ctr"/>
          <a:lstStyle/>
          <a:p>
            <a:pPr algn="ctr"/>
            <a:endParaRPr/>
          </a:p>
        </p:txBody>
      </p:sp>
      <p:pic>
        <p:nvPicPr>
          <p:cNvPr id="125" name="Picture 124" descr="image-12-7.png"/>
          <p:cNvPicPr>
            <a:picLocks noChangeAspect="1"/>
          </p:cNvPicPr>
          <p:nvPr/>
        </p:nvPicPr>
        <p:blipFill>
          <a:blip r:embed="rId8"/>
          <a:stretch>
            <a:fillRect/>
          </a:stretch>
        </p:blipFill>
        <p:spPr>
          <a:xfrm>
            <a:off x="3858768" y="2660904"/>
            <a:ext cx="329184" cy="329184"/>
          </a:xfrm>
          <a:prstGeom prst="rect">
            <a:avLst/>
          </a:prstGeom>
        </p:spPr>
      </p:pic>
      <p:sp>
        <p:nvSpPr>
          <p:cNvPr id="126" name="TextBox 125"/>
          <p:cNvSpPr txBox="1"/>
          <p:nvPr/>
        </p:nvSpPr>
        <p:spPr>
          <a:xfrm>
            <a:off x="4297680" y="2542032"/>
            <a:ext cx="1773936" cy="566928"/>
          </a:xfrm>
          <a:prstGeom prst="rect">
            <a:avLst/>
          </a:prstGeom>
          <a:noFill/>
        </p:spPr>
        <p:txBody>
          <a:bodyPr wrap="square" lIns="0" tIns="0" rIns="0" bIns="0" anchor="ctr">
            <a:noAutofit/>
          </a:bodyPr>
          <a:lstStyle/>
          <a:p>
            <a:pPr algn="l"/>
            <a:r>
              <a:rPr sz="1050" b="1">
                <a:solidFill>
                  <a:srgbClr val="202124"/>
                </a:solidFill>
                <a:latin typeface="Arial"/>
              </a:rPr>
              <a:t>Google OR-Tools</a:t>
            </a:r>
          </a:p>
          <a:p>
            <a:pPr algn="l"/>
            <a:r>
              <a:rPr sz="850" b="0">
                <a:solidFill>
                  <a:srgbClr val="5F6368"/>
                </a:solidFill>
                <a:latin typeface="Arial"/>
              </a:rPr>
              <a:t>CP-SAT production re-plan</a:t>
            </a:r>
          </a:p>
        </p:txBody>
      </p:sp>
      <p:sp>
        <p:nvSpPr>
          <p:cNvPr id="127" name="Rounded Rectangle 126"/>
          <p:cNvSpPr/>
          <p:nvPr/>
        </p:nvSpPr>
        <p:spPr>
          <a:xfrm>
            <a:off x="3730752" y="3236976"/>
            <a:ext cx="2414016" cy="640080"/>
          </a:xfrm>
          <a:prstGeom prst="roundRect">
            <a:avLst>
              <a:gd name="adj" fmla="val 11428"/>
            </a:avLst>
          </a:prstGeom>
          <a:solidFill>
            <a:srgbClr val="FFFFFF"/>
          </a:solidFill>
          <a:ln w="9525">
            <a:solidFill>
              <a:srgbClr val="DADCE0"/>
            </a:solidFill>
          </a:ln>
        </p:spPr>
        <p:txBody>
          <a:bodyPr rtlCol="0" anchor="ctr"/>
          <a:lstStyle/>
          <a:p>
            <a:pPr algn="ctr"/>
            <a:endParaRPr/>
          </a:p>
        </p:txBody>
      </p:sp>
      <p:pic>
        <p:nvPicPr>
          <p:cNvPr id="128" name="Picture 127" descr="Calculator_b.png"/>
          <p:cNvPicPr>
            <a:picLocks noChangeAspect="1"/>
          </p:cNvPicPr>
          <p:nvPr/>
        </p:nvPicPr>
        <p:blipFill>
          <a:blip r:embed="rId9"/>
          <a:stretch>
            <a:fillRect/>
          </a:stretch>
        </p:blipFill>
        <p:spPr>
          <a:xfrm>
            <a:off x="3858768" y="3392424"/>
            <a:ext cx="329184" cy="329184"/>
          </a:xfrm>
          <a:prstGeom prst="rect">
            <a:avLst/>
          </a:prstGeom>
        </p:spPr>
      </p:pic>
      <p:sp>
        <p:nvSpPr>
          <p:cNvPr id="129" name="TextBox 128"/>
          <p:cNvSpPr txBox="1"/>
          <p:nvPr/>
        </p:nvSpPr>
        <p:spPr>
          <a:xfrm>
            <a:off x="4297680" y="3273552"/>
            <a:ext cx="1773936" cy="566928"/>
          </a:xfrm>
          <a:prstGeom prst="rect">
            <a:avLst/>
          </a:prstGeom>
          <a:noFill/>
        </p:spPr>
        <p:txBody>
          <a:bodyPr wrap="square" lIns="0" tIns="0" rIns="0" bIns="0" anchor="ctr">
            <a:noAutofit/>
          </a:bodyPr>
          <a:lstStyle/>
          <a:p>
            <a:pPr algn="l"/>
            <a:r>
              <a:rPr sz="1050" b="1">
                <a:solidFill>
                  <a:srgbClr val="202124"/>
                </a:solidFill>
                <a:latin typeface="Arial"/>
              </a:rPr>
              <a:t>Deterministic engines</a:t>
            </a:r>
          </a:p>
          <a:p>
            <a:pPr algn="l"/>
            <a:r>
              <a:rPr sz="850" b="0">
                <a:solidFill>
                  <a:srgbClr val="5F6368"/>
                </a:solidFill>
                <a:latin typeface="Arial"/>
              </a:rPr>
              <a:t>BOM, cost, scenario, risk, sourcing</a:t>
            </a:r>
          </a:p>
        </p:txBody>
      </p:sp>
      <p:sp>
        <p:nvSpPr>
          <p:cNvPr id="130" name="Rounded Rectangle 129"/>
          <p:cNvSpPr/>
          <p:nvPr/>
        </p:nvSpPr>
        <p:spPr>
          <a:xfrm>
            <a:off x="3730752" y="3968496"/>
            <a:ext cx="2414016" cy="640080"/>
          </a:xfrm>
          <a:prstGeom prst="roundRect">
            <a:avLst>
              <a:gd name="adj" fmla="val 11428"/>
            </a:avLst>
          </a:prstGeom>
          <a:solidFill>
            <a:srgbClr val="FFFFFF"/>
          </a:solidFill>
          <a:ln w="9525">
            <a:solidFill>
              <a:srgbClr val="DADCE0"/>
            </a:solidFill>
          </a:ln>
        </p:spPr>
        <p:txBody>
          <a:bodyPr rtlCol="0" anchor="ctr"/>
          <a:lstStyle/>
          <a:p>
            <a:pPr algn="ctr"/>
            <a:endParaRPr/>
          </a:p>
        </p:txBody>
      </p:sp>
      <p:pic>
        <p:nvPicPr>
          <p:cNvPr id="131" name="Picture 130" descr="ShieldCheck_b.png"/>
          <p:cNvPicPr>
            <a:picLocks noChangeAspect="1"/>
          </p:cNvPicPr>
          <p:nvPr/>
        </p:nvPicPr>
        <p:blipFill>
          <a:blip r:embed="rId10"/>
          <a:stretch>
            <a:fillRect/>
          </a:stretch>
        </p:blipFill>
        <p:spPr>
          <a:xfrm>
            <a:off x="3858768" y="4123944"/>
            <a:ext cx="329184" cy="329184"/>
          </a:xfrm>
          <a:prstGeom prst="rect">
            <a:avLst/>
          </a:prstGeom>
        </p:spPr>
      </p:pic>
      <p:sp>
        <p:nvSpPr>
          <p:cNvPr id="132" name="TextBox 131"/>
          <p:cNvSpPr txBox="1"/>
          <p:nvPr/>
        </p:nvSpPr>
        <p:spPr>
          <a:xfrm>
            <a:off x="4297680" y="4005072"/>
            <a:ext cx="1773936" cy="566928"/>
          </a:xfrm>
          <a:prstGeom prst="rect">
            <a:avLst/>
          </a:prstGeom>
          <a:noFill/>
        </p:spPr>
        <p:txBody>
          <a:bodyPr wrap="square" lIns="0" tIns="0" rIns="0" bIns="0" anchor="ctr">
            <a:noAutofit/>
          </a:bodyPr>
          <a:lstStyle/>
          <a:p>
            <a:pPr algn="l"/>
            <a:r>
              <a:rPr sz="1050" b="1">
                <a:solidFill>
                  <a:srgbClr val="202124"/>
                </a:solidFill>
                <a:latin typeface="Arial"/>
              </a:rPr>
              <a:t>Grounding guardrail</a:t>
            </a:r>
          </a:p>
          <a:p>
            <a:pPr algn="l"/>
            <a:r>
              <a:rPr sz="850" b="0">
                <a:solidFill>
                  <a:srgbClr val="5F6368"/>
                </a:solidFill>
                <a:latin typeface="Arial"/>
              </a:rPr>
              <a:t>Checks every AI number against tool output</a:t>
            </a:r>
          </a:p>
        </p:txBody>
      </p:sp>
      <p:sp>
        <p:nvSpPr>
          <p:cNvPr id="133" name="Rounded Rectangle 132"/>
          <p:cNvSpPr/>
          <p:nvPr/>
        </p:nvSpPr>
        <p:spPr>
          <a:xfrm>
            <a:off x="6629400" y="1600200"/>
            <a:ext cx="2148840" cy="896112"/>
          </a:xfrm>
          <a:prstGeom prst="roundRect">
            <a:avLst>
              <a:gd name="adj" fmla="val 8163"/>
            </a:avLst>
          </a:prstGeom>
          <a:solidFill>
            <a:srgbClr val="FFFFFF"/>
          </a:solidFill>
          <a:ln w="9525">
            <a:solidFill>
              <a:srgbClr val="DADCE0"/>
            </a:solidFill>
          </a:ln>
        </p:spPr>
        <p:txBody>
          <a:bodyPr rtlCol="0" anchor="ctr"/>
          <a:lstStyle/>
          <a:p>
            <a:pPr algn="ctr"/>
            <a:endParaRPr/>
          </a:p>
        </p:txBody>
      </p:sp>
      <p:pic>
        <p:nvPicPr>
          <p:cNvPr id="134" name="Picture 133" descr="image-12-10.png"/>
          <p:cNvPicPr>
            <a:picLocks noChangeAspect="1"/>
          </p:cNvPicPr>
          <p:nvPr/>
        </p:nvPicPr>
        <p:blipFill>
          <a:blip r:embed="rId11"/>
          <a:stretch>
            <a:fillRect/>
          </a:stretch>
        </p:blipFill>
        <p:spPr>
          <a:xfrm>
            <a:off x="6757416" y="1892807"/>
            <a:ext cx="310896" cy="310896"/>
          </a:xfrm>
          <a:prstGeom prst="rect">
            <a:avLst/>
          </a:prstGeom>
        </p:spPr>
      </p:pic>
      <p:pic>
        <p:nvPicPr>
          <p:cNvPr id="135" name="Picture 134" descr="image-12-11.png"/>
          <p:cNvPicPr>
            <a:picLocks noChangeAspect="1"/>
          </p:cNvPicPr>
          <p:nvPr/>
        </p:nvPicPr>
        <p:blipFill>
          <a:blip r:embed="rId12"/>
          <a:stretch>
            <a:fillRect/>
          </a:stretch>
        </p:blipFill>
        <p:spPr>
          <a:xfrm>
            <a:off x="7104888" y="1892807"/>
            <a:ext cx="310896" cy="310896"/>
          </a:xfrm>
          <a:prstGeom prst="rect">
            <a:avLst/>
          </a:prstGeom>
        </p:spPr>
      </p:pic>
      <p:sp>
        <p:nvSpPr>
          <p:cNvPr id="136" name="TextBox 135"/>
          <p:cNvSpPr txBox="1"/>
          <p:nvPr/>
        </p:nvSpPr>
        <p:spPr>
          <a:xfrm>
            <a:off x="7525512" y="1636776"/>
            <a:ext cx="1179576" cy="822960"/>
          </a:xfrm>
          <a:prstGeom prst="rect">
            <a:avLst/>
          </a:prstGeom>
          <a:noFill/>
        </p:spPr>
        <p:txBody>
          <a:bodyPr wrap="square" lIns="0" tIns="0" rIns="0" bIns="0" anchor="ctr">
            <a:noAutofit/>
          </a:bodyPr>
          <a:lstStyle/>
          <a:p>
            <a:pPr algn="l"/>
            <a:r>
              <a:rPr sz="1050" b="1">
                <a:solidFill>
                  <a:srgbClr val="202124"/>
                </a:solidFill>
                <a:latin typeface="Arial"/>
              </a:rPr>
              <a:t>Gemini 2.5 Flash</a:t>
            </a:r>
          </a:p>
          <a:p>
            <a:pPr algn="l"/>
            <a:r>
              <a:rPr sz="850" b="0">
                <a:solidFill>
                  <a:srgbClr val="5F6368"/>
                </a:solidFill>
                <a:latin typeface="Arial"/>
              </a:rPr>
              <a:t>Vertex AI · notice extraction, agents, assistant</a:t>
            </a:r>
          </a:p>
        </p:txBody>
      </p:sp>
      <p:sp>
        <p:nvSpPr>
          <p:cNvPr id="137" name="Rounded Rectangle 136"/>
          <p:cNvSpPr/>
          <p:nvPr/>
        </p:nvSpPr>
        <p:spPr>
          <a:xfrm>
            <a:off x="6629400" y="2679192"/>
            <a:ext cx="2148840" cy="896112"/>
          </a:xfrm>
          <a:prstGeom prst="roundRect">
            <a:avLst>
              <a:gd name="adj" fmla="val 8163"/>
            </a:avLst>
          </a:prstGeom>
          <a:solidFill>
            <a:srgbClr val="FFFFFF"/>
          </a:solidFill>
          <a:ln w="9525">
            <a:solidFill>
              <a:srgbClr val="DADCE0"/>
            </a:solidFill>
          </a:ln>
        </p:spPr>
        <p:txBody>
          <a:bodyPr rtlCol="0" anchor="ctr"/>
          <a:lstStyle/>
          <a:p>
            <a:pPr algn="ctr"/>
            <a:endParaRPr/>
          </a:p>
        </p:txBody>
      </p:sp>
      <p:pic>
        <p:nvPicPr>
          <p:cNvPr id="138" name="Picture 137" descr="Database_b.png"/>
          <p:cNvPicPr>
            <a:picLocks noChangeAspect="1"/>
          </p:cNvPicPr>
          <p:nvPr/>
        </p:nvPicPr>
        <p:blipFill>
          <a:blip r:embed="rId13"/>
          <a:stretch>
            <a:fillRect/>
          </a:stretch>
        </p:blipFill>
        <p:spPr>
          <a:xfrm>
            <a:off x="6757416" y="2971800"/>
            <a:ext cx="310896" cy="310896"/>
          </a:xfrm>
          <a:prstGeom prst="rect">
            <a:avLst/>
          </a:prstGeom>
        </p:spPr>
      </p:pic>
      <p:sp>
        <p:nvSpPr>
          <p:cNvPr id="139" name="TextBox 138"/>
          <p:cNvSpPr txBox="1"/>
          <p:nvPr/>
        </p:nvSpPr>
        <p:spPr>
          <a:xfrm>
            <a:off x="7178040" y="2715768"/>
            <a:ext cx="1527048" cy="822960"/>
          </a:xfrm>
          <a:prstGeom prst="rect">
            <a:avLst/>
          </a:prstGeom>
          <a:noFill/>
        </p:spPr>
        <p:txBody>
          <a:bodyPr wrap="square" lIns="0" tIns="0" rIns="0" bIns="0" anchor="ctr">
            <a:noAutofit/>
          </a:bodyPr>
          <a:lstStyle/>
          <a:p>
            <a:pPr algn="l"/>
            <a:r>
              <a:rPr sz="1050" b="1">
                <a:solidFill>
                  <a:srgbClr val="202124"/>
                </a:solidFill>
                <a:latin typeface="Arial"/>
              </a:rPr>
              <a:t>BigQuery</a:t>
            </a:r>
          </a:p>
          <a:p>
            <a:pPr algn="l"/>
            <a:r>
              <a:rPr sz="850" b="0">
                <a:solidFill>
                  <a:srgbClr val="5F6368"/>
                </a:solidFill>
                <a:latin typeface="Arial"/>
              </a:rPr>
              <a:t>17 tables · BigQuery Graph (GQL) · AI.FORECAST (TimesFM)</a:t>
            </a:r>
          </a:p>
        </p:txBody>
      </p:sp>
      <p:sp>
        <p:nvSpPr>
          <p:cNvPr id="140" name="Rounded Rectangle 139"/>
          <p:cNvSpPr/>
          <p:nvPr/>
        </p:nvSpPr>
        <p:spPr>
          <a:xfrm>
            <a:off x="6629400" y="3758184"/>
            <a:ext cx="2148840" cy="896112"/>
          </a:xfrm>
          <a:prstGeom prst="roundRect">
            <a:avLst>
              <a:gd name="adj" fmla="val 8163"/>
            </a:avLst>
          </a:prstGeom>
          <a:solidFill>
            <a:srgbClr val="FFFFFF"/>
          </a:solidFill>
          <a:ln w="9525">
            <a:solidFill>
              <a:srgbClr val="DADCE0"/>
            </a:solidFill>
          </a:ln>
        </p:spPr>
        <p:txBody>
          <a:bodyPr rtlCol="0" anchor="ctr"/>
          <a:lstStyle/>
          <a:p>
            <a:pPr algn="ctr"/>
            <a:endParaRPr/>
          </a:p>
        </p:txBody>
      </p:sp>
      <p:pic>
        <p:nvPicPr>
          <p:cNvPr id="141" name="Picture 140" descr="Plug_b.png"/>
          <p:cNvPicPr>
            <a:picLocks noChangeAspect="1"/>
          </p:cNvPicPr>
          <p:nvPr/>
        </p:nvPicPr>
        <p:blipFill>
          <a:blip r:embed="rId14"/>
          <a:stretch>
            <a:fillRect/>
          </a:stretch>
        </p:blipFill>
        <p:spPr>
          <a:xfrm>
            <a:off x="6757416" y="4050792"/>
            <a:ext cx="310896" cy="310896"/>
          </a:xfrm>
          <a:prstGeom prst="rect">
            <a:avLst/>
          </a:prstGeom>
        </p:spPr>
      </p:pic>
      <p:sp>
        <p:nvSpPr>
          <p:cNvPr id="142" name="TextBox 141"/>
          <p:cNvSpPr txBox="1"/>
          <p:nvPr/>
        </p:nvSpPr>
        <p:spPr>
          <a:xfrm>
            <a:off x="7178040" y="3794760"/>
            <a:ext cx="1527048" cy="822960"/>
          </a:xfrm>
          <a:prstGeom prst="rect">
            <a:avLst/>
          </a:prstGeom>
          <a:noFill/>
        </p:spPr>
        <p:txBody>
          <a:bodyPr wrap="square" lIns="0" tIns="0" rIns="0" bIns="0" anchor="ctr">
            <a:noAutofit/>
          </a:bodyPr>
          <a:lstStyle/>
          <a:p>
            <a:pPr algn="l"/>
            <a:r>
              <a:rPr sz="1050" b="1">
                <a:solidFill>
                  <a:srgbClr val="202124"/>
                </a:solidFill>
                <a:latin typeface="Arial"/>
              </a:rPr>
              <a:t>Connectors</a:t>
            </a:r>
          </a:p>
          <a:p>
            <a:pPr algn="l"/>
            <a:r>
              <a:rPr sz="850" b="0">
                <a:solidFill>
                  <a:srgbClr val="5F6368"/>
                </a:solidFill>
                <a:latin typeface="Arial"/>
              </a:rPr>
              <a:t>Catalog, sanctions, news: mock today, API-ready interfaces</a:t>
            </a:r>
          </a:p>
        </p:txBody>
      </p:sp>
      <p:cxnSp>
        <p:nvCxnSpPr>
          <p:cNvPr id="143" name="Connector 142"/>
          <p:cNvCxnSpPr/>
          <p:nvPr/>
        </p:nvCxnSpPr>
        <p:spPr>
          <a:xfrm>
            <a:off x="1527048" y="2926080"/>
            <a:ext cx="283464" cy="0"/>
          </a:xfrm>
          <a:prstGeom prst="line">
            <a:avLst/>
          </a:prstGeom>
          <a:ln w="15875">
            <a:solidFill>
              <a:srgbClr val="5F6368"/>
            </a:solidFill>
            <a:headEnd type="triangle" w="med" len="med"/>
            <a:tailEnd type="triangle" w="med" len="med"/>
          </a:ln>
        </p:spPr>
      </p:cxnSp>
      <p:cxnSp>
        <p:nvCxnSpPr>
          <p:cNvPr id="144" name="Connector 143"/>
          <p:cNvCxnSpPr/>
          <p:nvPr/>
        </p:nvCxnSpPr>
        <p:spPr>
          <a:xfrm>
            <a:off x="3310128" y="2926080"/>
            <a:ext cx="283464" cy="0"/>
          </a:xfrm>
          <a:prstGeom prst="line">
            <a:avLst/>
          </a:prstGeom>
          <a:ln w="15875">
            <a:solidFill>
              <a:srgbClr val="5F6368"/>
            </a:solidFill>
            <a:headEnd type="triangle" w="med" len="med"/>
            <a:tailEnd type="triangle" w="med" len="med"/>
          </a:ln>
        </p:spPr>
      </p:cxnSp>
      <p:cxnSp>
        <p:nvCxnSpPr>
          <p:cNvPr id="145" name="Connector 144"/>
          <p:cNvCxnSpPr/>
          <p:nvPr/>
        </p:nvCxnSpPr>
        <p:spPr>
          <a:xfrm>
            <a:off x="6281928" y="2048256"/>
            <a:ext cx="329184" cy="0"/>
          </a:xfrm>
          <a:prstGeom prst="line">
            <a:avLst/>
          </a:prstGeom>
          <a:ln w="15875">
            <a:solidFill>
              <a:srgbClr val="5F6368"/>
            </a:solidFill>
            <a:headEnd type="triangle" w="med" len="med"/>
            <a:tailEnd type="triangle" w="med" len="med"/>
          </a:ln>
        </p:spPr>
      </p:cxnSp>
      <p:cxnSp>
        <p:nvCxnSpPr>
          <p:cNvPr id="146" name="Connector 145"/>
          <p:cNvCxnSpPr/>
          <p:nvPr/>
        </p:nvCxnSpPr>
        <p:spPr>
          <a:xfrm>
            <a:off x="6281928" y="3127248"/>
            <a:ext cx="329184" cy="0"/>
          </a:xfrm>
          <a:prstGeom prst="line">
            <a:avLst/>
          </a:prstGeom>
          <a:ln w="15875">
            <a:solidFill>
              <a:srgbClr val="5F6368"/>
            </a:solidFill>
            <a:headEnd type="triangle" w="med" len="med"/>
            <a:tailEnd type="triangle" w="med" len="med"/>
          </a:ln>
        </p:spPr>
      </p:cxnSp>
      <p:cxnSp>
        <p:nvCxnSpPr>
          <p:cNvPr id="147" name="Connector 146"/>
          <p:cNvCxnSpPr/>
          <p:nvPr/>
        </p:nvCxnSpPr>
        <p:spPr>
          <a:xfrm>
            <a:off x="6281928" y="4206240"/>
            <a:ext cx="329184" cy="0"/>
          </a:xfrm>
          <a:prstGeom prst="line">
            <a:avLst/>
          </a:prstGeom>
          <a:ln w="15875">
            <a:solidFill>
              <a:srgbClr val="5F6368"/>
            </a:solidFill>
            <a:headEnd type="triangle" w="med" len="med"/>
            <a:tailEnd type="triangle" w="med" len="med"/>
          </a:ln>
        </p:spPr>
      </p:cxnSp>
      <p:sp>
        <p:nvSpPr>
          <p:cNvPr id="148" name="TextBox 147"/>
          <p:cNvSpPr txBox="1"/>
          <p:nvPr/>
        </p:nvSpPr>
        <p:spPr>
          <a:xfrm>
            <a:off x="365760" y="4818888"/>
            <a:ext cx="8412480" cy="164592"/>
          </a:xfrm>
          <a:prstGeom prst="rect">
            <a:avLst/>
          </a:prstGeom>
          <a:noFill/>
        </p:spPr>
        <p:txBody>
          <a:bodyPr wrap="square" lIns="0" tIns="0" rIns="0" bIns="0" anchor="t">
            <a:noAutofit/>
          </a:bodyPr>
          <a:lstStyle/>
          <a:p>
            <a:pPr algn="l"/>
            <a:r>
              <a:rPr sz="750" b="0">
                <a:solidFill>
                  <a:srgbClr val="5F6368"/>
                </a:solidFill>
                <a:latin typeface="Arial"/>
              </a:rPr>
              <a:t>Product logos © Google, used to identify Google services. Connectors use fictional fixtures; DigiKey, Mouser, OpenSanctions or a news API plug into the same contract.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Gen AI implementation · Google ADK multi-agent workflow</a:t>
            </a:r>
          </a:p>
        </p:txBody>
      </p:sp>
      <p:sp>
        <p:nvSpPr>
          <p:cNvPr id="168"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Nine AI agents work the case, two teams in parallel</a:t>
            </a:r>
          </a:p>
        </p:txBody>
      </p:sp>
      <p:sp>
        <p:nvSpPr>
          <p:cNvPr id="169" name="Rounded Rectangle 168"/>
          <p:cNvSpPr/>
          <p:nvPr/>
        </p:nvSpPr>
        <p:spPr>
          <a:xfrm>
            <a:off x="365760" y="2103120"/>
            <a:ext cx="1298448" cy="1234440"/>
          </a:xfrm>
          <a:prstGeom prst="roundRect">
            <a:avLst>
              <a:gd name="adj" fmla="val 5925"/>
            </a:avLst>
          </a:prstGeom>
          <a:solidFill>
            <a:srgbClr val="202124"/>
          </a:solidFill>
          <a:ln>
            <a:noFill/>
          </a:ln>
        </p:spPr>
        <p:txBody>
          <a:bodyPr rtlCol="0" anchor="ctr"/>
          <a:lstStyle/>
          <a:p>
            <a:pPr algn="ctr"/>
            <a:endParaRPr/>
          </a:p>
        </p:txBody>
      </p:sp>
      <p:sp>
        <p:nvSpPr>
          <p:cNvPr id="170" name="TextBox 169"/>
          <p:cNvSpPr txBox="1"/>
          <p:nvPr/>
        </p:nvSpPr>
        <p:spPr>
          <a:xfrm>
            <a:off x="457200" y="2157984"/>
            <a:ext cx="1133856" cy="1124712"/>
          </a:xfrm>
          <a:prstGeom prst="rect">
            <a:avLst/>
          </a:prstGeom>
          <a:noFill/>
        </p:spPr>
        <p:txBody>
          <a:bodyPr wrap="square" lIns="0" tIns="0" rIns="0" bIns="0" anchor="ctr">
            <a:noAutofit/>
          </a:bodyPr>
          <a:lstStyle/>
          <a:p>
            <a:pPr algn="l">
              <a:spcAft>
                <a:spcPts val="200"/>
              </a:spcAft>
            </a:pPr>
            <a:r>
              <a:rPr sz="1000" b="1">
                <a:solidFill>
                  <a:srgbClr val="FFFFFF"/>
                </a:solidFill>
                <a:latin typeface="Arial"/>
              </a:rPr>
              <a:t>Impact analyst</a:t>
            </a:r>
          </a:p>
          <a:p>
            <a:pPr algn="l">
              <a:spcAft>
                <a:spcPts val="200"/>
              </a:spcAft>
            </a:pPr>
            <a:r>
              <a:rPr sz="850" b="0">
                <a:solidFill>
                  <a:srgbClr val="BDC1C6"/>
                </a:solidFill>
                <a:latin typeface="Arial"/>
              </a:rPr>
              <a:t>Traces the BOM and sizes the exposure</a:t>
            </a:r>
          </a:p>
          <a:p>
            <a:pPr algn="l">
              <a:spcAft>
                <a:spcPts val="200"/>
              </a:spcAft>
            </a:pPr>
            <a:r>
              <a:rPr sz="750" b="0">
                <a:solidFill>
                  <a:srgbClr val="8AB4F8"/>
                </a:solidFill>
                <a:latin typeface="Arial"/>
              </a:rPr>
              <a:t>analyze_change_impact</a:t>
            </a:r>
          </a:p>
        </p:txBody>
      </p:sp>
      <p:sp>
        <p:nvSpPr>
          <p:cNvPr id="171" name="Rounded Rectangle 170"/>
          <p:cNvSpPr/>
          <p:nvPr/>
        </p:nvSpPr>
        <p:spPr>
          <a:xfrm>
            <a:off x="1874519" y="1417320"/>
            <a:ext cx="5440680" cy="2788920"/>
          </a:xfrm>
          <a:prstGeom prst="roundRect">
            <a:avLst>
              <a:gd name="adj" fmla="val 2622"/>
            </a:avLst>
          </a:prstGeom>
          <a:solidFill>
            <a:srgbClr val="F8F9FA"/>
          </a:solidFill>
          <a:ln w="9525">
            <a:solidFill>
              <a:srgbClr val="BDC1C6"/>
            </a:solidFill>
            <a:prstDash val="dash"/>
          </a:ln>
        </p:spPr>
        <p:txBody>
          <a:bodyPr rtlCol="0" anchor="ctr"/>
          <a:lstStyle/>
          <a:p>
            <a:pPr algn="ctr"/>
            <a:endParaRPr/>
          </a:p>
        </p:txBody>
      </p:sp>
      <p:sp>
        <p:nvSpPr>
          <p:cNvPr id="172" name="TextBox 171"/>
          <p:cNvSpPr txBox="1"/>
          <p:nvPr/>
        </p:nvSpPr>
        <p:spPr>
          <a:xfrm>
            <a:off x="2011680" y="1481328"/>
            <a:ext cx="5120640" cy="182880"/>
          </a:xfrm>
          <a:prstGeom prst="rect">
            <a:avLst/>
          </a:prstGeom>
          <a:noFill/>
        </p:spPr>
        <p:txBody>
          <a:bodyPr wrap="square" lIns="0" tIns="0" rIns="0" bIns="0" anchor="t">
            <a:noAutofit/>
          </a:bodyPr>
          <a:lstStyle/>
          <a:p>
            <a:pPr algn="l"/>
            <a:r>
              <a:rPr sz="800" b="1">
                <a:solidFill>
                  <a:srgbClr val="1967D2"/>
                </a:solidFill>
                <a:latin typeface="Arial"/>
              </a:rPr>
              <a:t>RESPONSE RESEARCH · TWO TEAMS IN PARALLEL</a:t>
            </a:r>
          </a:p>
        </p:txBody>
      </p:sp>
      <p:sp>
        <p:nvSpPr>
          <p:cNvPr id="173" name="TextBox 172"/>
          <p:cNvSpPr txBox="1"/>
          <p:nvPr/>
        </p:nvSpPr>
        <p:spPr>
          <a:xfrm>
            <a:off x="2011680" y="1700784"/>
            <a:ext cx="2743200" cy="201168"/>
          </a:xfrm>
          <a:prstGeom prst="rect">
            <a:avLst/>
          </a:prstGeom>
          <a:noFill/>
        </p:spPr>
        <p:txBody>
          <a:bodyPr wrap="square" lIns="0" tIns="0" rIns="0" bIns="0" anchor="t">
            <a:noAutofit/>
          </a:bodyPr>
          <a:lstStyle/>
          <a:p>
            <a:pPr algn="l"/>
            <a:r>
              <a:rPr sz="950" b="1">
                <a:solidFill>
                  <a:srgbClr val="202124"/>
                </a:solidFill>
                <a:latin typeface="Arial"/>
              </a:rPr>
              <a:t>Sourcing team · 5 agents</a:t>
            </a:r>
          </a:p>
        </p:txBody>
      </p:sp>
      <p:sp>
        <p:nvSpPr>
          <p:cNvPr id="174" name="Rounded Rectangle 173"/>
          <p:cNvSpPr/>
          <p:nvPr/>
        </p:nvSpPr>
        <p:spPr>
          <a:xfrm>
            <a:off x="2011680" y="1938528"/>
            <a:ext cx="1143000" cy="1152144"/>
          </a:xfrm>
          <a:prstGeom prst="roundRect">
            <a:avLst>
              <a:gd name="adj" fmla="val 6400"/>
            </a:avLst>
          </a:prstGeom>
          <a:solidFill>
            <a:srgbClr val="FFFFFF"/>
          </a:solidFill>
          <a:ln w="9525">
            <a:solidFill>
              <a:srgbClr val="DADCE0"/>
            </a:solidFill>
          </a:ln>
        </p:spPr>
        <p:txBody>
          <a:bodyPr rtlCol="0" anchor="ctr"/>
          <a:lstStyle/>
          <a:p>
            <a:pPr algn="ctr"/>
            <a:endParaRPr/>
          </a:p>
        </p:txBody>
      </p:sp>
      <p:sp>
        <p:nvSpPr>
          <p:cNvPr id="175" name="TextBox 174"/>
          <p:cNvSpPr txBox="1"/>
          <p:nvPr/>
        </p:nvSpPr>
        <p:spPr>
          <a:xfrm>
            <a:off x="2103120" y="1993392"/>
            <a:ext cx="978408" cy="1042416"/>
          </a:xfrm>
          <a:prstGeom prst="rect">
            <a:avLst/>
          </a:prstGeom>
          <a:noFill/>
        </p:spPr>
        <p:txBody>
          <a:bodyPr wrap="square" lIns="0" tIns="0" rIns="0" bIns="0" anchor="ctr">
            <a:noAutofit/>
          </a:bodyPr>
          <a:lstStyle/>
          <a:p>
            <a:pPr algn="l">
              <a:spcAft>
                <a:spcPts val="200"/>
              </a:spcAft>
            </a:pPr>
            <a:r>
              <a:rPr sz="1000" b="1">
                <a:solidFill>
                  <a:srgbClr val="202124"/>
                </a:solidFill>
                <a:latin typeface="Arial"/>
              </a:rPr>
              <a:t>Scout</a:t>
            </a:r>
          </a:p>
          <a:p>
            <a:pPr algn="l">
              <a:spcAft>
                <a:spcPts val="200"/>
              </a:spcAft>
            </a:pPr>
            <a:r>
              <a:rPr sz="850" b="0">
                <a:solidFill>
                  <a:srgbClr val="5F6368"/>
                </a:solidFill>
                <a:latin typeface="Arial"/>
              </a:rPr>
              <a:t>Finds alternate parts and suppliers</a:t>
            </a:r>
          </a:p>
          <a:p>
            <a:pPr algn="l">
              <a:spcAft>
                <a:spcPts val="200"/>
              </a:spcAft>
            </a:pPr>
            <a:r>
              <a:rPr sz="750" b="0">
                <a:solidFill>
                  <a:srgbClr val="1967D2"/>
                </a:solidFill>
                <a:latin typeface="Arial"/>
              </a:rPr>
              <a:t>find_sourcing_options</a:t>
            </a:r>
          </a:p>
        </p:txBody>
      </p:sp>
      <p:sp>
        <p:nvSpPr>
          <p:cNvPr id="176" name="Rounded Rectangle 175"/>
          <p:cNvSpPr/>
          <p:nvPr/>
        </p:nvSpPr>
        <p:spPr>
          <a:xfrm>
            <a:off x="3337560" y="1938528"/>
            <a:ext cx="2148840" cy="1152144"/>
          </a:xfrm>
          <a:prstGeom prst="roundRect">
            <a:avLst>
              <a:gd name="adj" fmla="val 6349"/>
            </a:avLst>
          </a:prstGeom>
          <a:solidFill>
            <a:srgbClr val="E6F4EA"/>
          </a:solidFill>
          <a:ln>
            <a:noFill/>
          </a:ln>
        </p:spPr>
        <p:txBody>
          <a:bodyPr rtlCol="0" anchor="ctr"/>
          <a:lstStyle/>
          <a:p>
            <a:pPr algn="ctr"/>
            <a:endParaRPr/>
          </a:p>
        </p:txBody>
      </p:sp>
      <p:sp>
        <p:nvSpPr>
          <p:cNvPr id="177" name="TextBox 176"/>
          <p:cNvSpPr txBox="1"/>
          <p:nvPr/>
        </p:nvSpPr>
        <p:spPr>
          <a:xfrm>
            <a:off x="3429000" y="1975104"/>
            <a:ext cx="2011680" cy="182880"/>
          </a:xfrm>
          <a:prstGeom prst="rect">
            <a:avLst/>
          </a:prstGeom>
          <a:noFill/>
        </p:spPr>
        <p:txBody>
          <a:bodyPr wrap="square" lIns="0" tIns="0" rIns="0" bIns="0" anchor="t">
            <a:noAutofit/>
          </a:bodyPr>
          <a:lstStyle/>
          <a:p>
            <a:pPr algn="l"/>
            <a:r>
              <a:rPr sz="800" b="1">
                <a:solidFill>
                  <a:srgbClr val="137333"/>
                </a:solidFill>
                <a:latin typeface="Arial"/>
              </a:rPr>
              <a:t>Due diligence, in parallel</a:t>
            </a:r>
          </a:p>
        </p:txBody>
      </p:sp>
      <p:sp>
        <p:nvSpPr>
          <p:cNvPr id="178" name="Rounded Rectangle 177"/>
          <p:cNvSpPr/>
          <p:nvPr/>
        </p:nvSpPr>
        <p:spPr>
          <a:xfrm>
            <a:off x="3429000" y="2194560"/>
            <a:ext cx="1965960" cy="246888"/>
          </a:xfrm>
          <a:prstGeom prst="roundRect">
            <a:avLst>
              <a:gd name="adj" fmla="val 14814"/>
            </a:avLst>
          </a:prstGeom>
          <a:solidFill>
            <a:srgbClr val="FFFFFF"/>
          </a:solidFill>
          <a:ln>
            <a:noFill/>
          </a:ln>
        </p:spPr>
        <p:txBody>
          <a:bodyPr rtlCol="0" anchor="ctr"/>
          <a:lstStyle/>
          <a:p>
            <a:pPr algn="ctr"/>
            <a:endParaRPr/>
          </a:p>
        </p:txBody>
      </p:sp>
      <p:sp>
        <p:nvSpPr>
          <p:cNvPr id="179" name="TextBox 178"/>
          <p:cNvSpPr txBox="1"/>
          <p:nvPr/>
        </p:nvSpPr>
        <p:spPr>
          <a:xfrm>
            <a:off x="3502152" y="2194560"/>
            <a:ext cx="1874519" cy="246888"/>
          </a:xfrm>
          <a:prstGeom prst="rect">
            <a:avLst/>
          </a:prstGeom>
          <a:noFill/>
        </p:spPr>
        <p:txBody>
          <a:bodyPr wrap="square" lIns="0" tIns="0" rIns="0" bIns="0" anchor="ctr">
            <a:noAutofit/>
          </a:bodyPr>
          <a:lstStyle/>
          <a:p>
            <a:pPr algn="l"/>
            <a:r>
              <a:rPr sz="850" b="1">
                <a:solidFill>
                  <a:srgbClr val="202124"/>
                </a:solidFill>
                <a:latin typeface="Arial"/>
              </a:rPr>
              <a:t>Performance auditor</a:t>
            </a:r>
            <a:r>
              <a:rPr sz="850" b="0">
                <a:solidFill>
                  <a:srgbClr val="5F6368"/>
                </a:solidFill>
                <a:latin typeface="Arial"/>
              </a:rPr>
              <a:t> · supplier KPIs</a:t>
            </a:r>
          </a:p>
        </p:txBody>
      </p:sp>
      <p:sp>
        <p:nvSpPr>
          <p:cNvPr id="180" name="Rounded Rectangle 179"/>
          <p:cNvSpPr/>
          <p:nvPr/>
        </p:nvSpPr>
        <p:spPr>
          <a:xfrm>
            <a:off x="3429000" y="2487168"/>
            <a:ext cx="1965960" cy="246888"/>
          </a:xfrm>
          <a:prstGeom prst="roundRect">
            <a:avLst>
              <a:gd name="adj" fmla="val 14814"/>
            </a:avLst>
          </a:prstGeom>
          <a:solidFill>
            <a:srgbClr val="FFFFFF"/>
          </a:solidFill>
          <a:ln>
            <a:noFill/>
          </a:ln>
        </p:spPr>
        <p:txBody>
          <a:bodyPr rtlCol="0" anchor="ctr"/>
          <a:lstStyle/>
          <a:p>
            <a:pPr algn="ctr"/>
            <a:endParaRPr/>
          </a:p>
        </p:txBody>
      </p:sp>
      <p:sp>
        <p:nvSpPr>
          <p:cNvPr id="181" name="TextBox 180"/>
          <p:cNvSpPr txBox="1"/>
          <p:nvPr/>
        </p:nvSpPr>
        <p:spPr>
          <a:xfrm>
            <a:off x="3502152" y="2487168"/>
            <a:ext cx="1874519" cy="246888"/>
          </a:xfrm>
          <a:prstGeom prst="rect">
            <a:avLst/>
          </a:prstGeom>
          <a:noFill/>
        </p:spPr>
        <p:txBody>
          <a:bodyPr wrap="square" lIns="0" tIns="0" rIns="0" bIns="0" anchor="ctr">
            <a:noAutofit/>
          </a:bodyPr>
          <a:lstStyle/>
          <a:p>
            <a:pPr algn="l"/>
            <a:r>
              <a:rPr sz="850" b="1">
                <a:solidFill>
                  <a:srgbClr val="202124"/>
                </a:solidFill>
                <a:latin typeface="Arial"/>
              </a:rPr>
              <a:t>Compliance screener</a:t>
            </a:r>
            <a:r>
              <a:rPr sz="850" b="0">
                <a:solidFill>
                  <a:srgbClr val="5F6368"/>
                </a:solidFill>
                <a:latin typeface="Arial"/>
              </a:rPr>
              <a:t> · sanctions</a:t>
            </a:r>
          </a:p>
        </p:txBody>
      </p:sp>
      <p:sp>
        <p:nvSpPr>
          <p:cNvPr id="182" name="Rounded Rectangle 181"/>
          <p:cNvSpPr/>
          <p:nvPr/>
        </p:nvSpPr>
        <p:spPr>
          <a:xfrm>
            <a:off x="3429000" y="2779776"/>
            <a:ext cx="1965960" cy="246888"/>
          </a:xfrm>
          <a:prstGeom prst="roundRect">
            <a:avLst>
              <a:gd name="adj" fmla="val 14814"/>
            </a:avLst>
          </a:prstGeom>
          <a:solidFill>
            <a:srgbClr val="FFFFFF"/>
          </a:solidFill>
          <a:ln>
            <a:noFill/>
          </a:ln>
        </p:spPr>
        <p:txBody>
          <a:bodyPr rtlCol="0" anchor="ctr"/>
          <a:lstStyle/>
          <a:p>
            <a:pPr algn="ctr"/>
            <a:endParaRPr/>
          </a:p>
        </p:txBody>
      </p:sp>
      <p:sp>
        <p:nvSpPr>
          <p:cNvPr id="183" name="TextBox 182"/>
          <p:cNvSpPr txBox="1"/>
          <p:nvPr/>
        </p:nvSpPr>
        <p:spPr>
          <a:xfrm>
            <a:off x="3502152" y="2779776"/>
            <a:ext cx="1874519" cy="246888"/>
          </a:xfrm>
          <a:prstGeom prst="rect">
            <a:avLst/>
          </a:prstGeom>
          <a:noFill/>
        </p:spPr>
        <p:txBody>
          <a:bodyPr wrap="square" lIns="0" tIns="0" rIns="0" bIns="0" anchor="ctr">
            <a:noAutofit/>
          </a:bodyPr>
          <a:lstStyle/>
          <a:p>
            <a:pPr algn="l"/>
            <a:r>
              <a:rPr sz="850" b="1">
                <a:solidFill>
                  <a:srgbClr val="202124"/>
                </a:solidFill>
                <a:latin typeface="Arial"/>
              </a:rPr>
              <a:t>Risk-news monitor</a:t>
            </a:r>
            <a:r>
              <a:rPr sz="850" b="0">
                <a:solidFill>
                  <a:srgbClr val="5F6368"/>
                </a:solidFill>
                <a:latin typeface="Arial"/>
              </a:rPr>
              <a:t> · supplier news</a:t>
            </a:r>
          </a:p>
        </p:txBody>
      </p:sp>
      <p:sp>
        <p:nvSpPr>
          <p:cNvPr id="184" name="Rounded Rectangle 183"/>
          <p:cNvSpPr/>
          <p:nvPr/>
        </p:nvSpPr>
        <p:spPr>
          <a:xfrm>
            <a:off x="5669280" y="1938528"/>
            <a:ext cx="1508760" cy="1152144"/>
          </a:xfrm>
          <a:prstGeom prst="roundRect">
            <a:avLst>
              <a:gd name="adj" fmla="val 6349"/>
            </a:avLst>
          </a:prstGeom>
          <a:solidFill>
            <a:srgbClr val="FFFFFF"/>
          </a:solidFill>
          <a:ln w="9525">
            <a:solidFill>
              <a:srgbClr val="DADCE0"/>
            </a:solidFill>
          </a:ln>
        </p:spPr>
        <p:txBody>
          <a:bodyPr rtlCol="0" anchor="ctr"/>
          <a:lstStyle/>
          <a:p>
            <a:pPr algn="ctr"/>
            <a:endParaRPr/>
          </a:p>
        </p:txBody>
      </p:sp>
      <p:sp>
        <p:nvSpPr>
          <p:cNvPr id="185" name="TextBox 184"/>
          <p:cNvSpPr txBox="1"/>
          <p:nvPr/>
        </p:nvSpPr>
        <p:spPr>
          <a:xfrm>
            <a:off x="5760720" y="1993392"/>
            <a:ext cx="1344168" cy="1042416"/>
          </a:xfrm>
          <a:prstGeom prst="rect">
            <a:avLst/>
          </a:prstGeom>
          <a:noFill/>
        </p:spPr>
        <p:txBody>
          <a:bodyPr wrap="square" lIns="0" tIns="0" rIns="0" bIns="0" anchor="ctr">
            <a:noAutofit/>
          </a:bodyPr>
          <a:lstStyle/>
          <a:p>
            <a:pPr algn="l">
              <a:spcAft>
                <a:spcPts val="200"/>
              </a:spcAft>
            </a:pPr>
            <a:r>
              <a:rPr sz="1000" b="1">
                <a:solidFill>
                  <a:srgbClr val="202124"/>
                </a:solidFill>
                <a:latin typeface="Arial"/>
              </a:rPr>
              <a:t>Evaluator</a:t>
            </a:r>
          </a:p>
          <a:p>
            <a:pPr algn="l">
              <a:spcAft>
                <a:spcPts val="200"/>
              </a:spcAft>
            </a:pPr>
            <a:r>
              <a:rPr sz="850" b="0">
                <a:solidFill>
                  <a:srgbClr val="5F6368"/>
                </a:solidFill>
                <a:latin typeface="Arial"/>
              </a:rPr>
              <a:t>Scores each supplier 0–100</a:t>
            </a:r>
          </a:p>
          <a:p>
            <a:pPr algn="l">
              <a:spcAft>
                <a:spcPts val="200"/>
              </a:spcAft>
            </a:pPr>
            <a:r>
              <a:rPr sz="750" b="0">
                <a:solidFill>
                  <a:srgbClr val="1967D2"/>
                </a:solidFill>
                <a:latin typeface="Arial"/>
              </a:rPr>
              <a:t>score_suppliers</a:t>
            </a:r>
          </a:p>
        </p:txBody>
      </p:sp>
      <p:sp>
        <p:nvSpPr>
          <p:cNvPr id="186" name="TextBox 185"/>
          <p:cNvSpPr txBox="1"/>
          <p:nvPr/>
        </p:nvSpPr>
        <p:spPr>
          <a:xfrm>
            <a:off x="2011680" y="3182112"/>
            <a:ext cx="2743200" cy="201168"/>
          </a:xfrm>
          <a:prstGeom prst="rect">
            <a:avLst/>
          </a:prstGeom>
          <a:noFill/>
        </p:spPr>
        <p:txBody>
          <a:bodyPr wrap="square" lIns="0" tIns="0" rIns="0" bIns="0" anchor="t">
            <a:noAutofit/>
          </a:bodyPr>
          <a:lstStyle/>
          <a:p>
            <a:pPr algn="l"/>
            <a:r>
              <a:rPr sz="950" b="1">
                <a:solidFill>
                  <a:srgbClr val="202124"/>
                </a:solidFill>
                <a:latin typeface="Arial"/>
              </a:rPr>
              <a:t>Planning team · 2 agents</a:t>
            </a:r>
          </a:p>
        </p:txBody>
      </p:sp>
      <p:sp>
        <p:nvSpPr>
          <p:cNvPr id="187" name="Rounded Rectangle 186"/>
          <p:cNvSpPr/>
          <p:nvPr/>
        </p:nvSpPr>
        <p:spPr>
          <a:xfrm>
            <a:off x="2011680" y="3410712"/>
            <a:ext cx="2514600" cy="685800"/>
          </a:xfrm>
          <a:prstGeom prst="roundRect">
            <a:avLst>
              <a:gd name="adj" fmla="val 10666"/>
            </a:avLst>
          </a:prstGeom>
          <a:solidFill>
            <a:srgbClr val="FFFFFF"/>
          </a:solidFill>
          <a:ln w="9525">
            <a:solidFill>
              <a:srgbClr val="DADCE0"/>
            </a:solidFill>
          </a:ln>
        </p:spPr>
        <p:txBody>
          <a:bodyPr rtlCol="0" anchor="ctr"/>
          <a:lstStyle/>
          <a:p>
            <a:pPr algn="ctr"/>
            <a:endParaRPr/>
          </a:p>
        </p:txBody>
      </p:sp>
      <p:sp>
        <p:nvSpPr>
          <p:cNvPr id="188" name="TextBox 187"/>
          <p:cNvSpPr txBox="1"/>
          <p:nvPr/>
        </p:nvSpPr>
        <p:spPr>
          <a:xfrm>
            <a:off x="2103120" y="3465576"/>
            <a:ext cx="2350008" cy="576072"/>
          </a:xfrm>
          <a:prstGeom prst="rect">
            <a:avLst/>
          </a:prstGeom>
          <a:noFill/>
        </p:spPr>
        <p:txBody>
          <a:bodyPr wrap="square" lIns="0" tIns="0" rIns="0" bIns="0" anchor="ctr">
            <a:noAutofit/>
          </a:bodyPr>
          <a:lstStyle/>
          <a:p>
            <a:pPr algn="l">
              <a:spcAft>
                <a:spcPts val="200"/>
              </a:spcAft>
            </a:pPr>
            <a:r>
              <a:rPr sz="1000" b="1">
                <a:solidFill>
                  <a:srgbClr val="202124"/>
                </a:solidFill>
                <a:latin typeface="Arial"/>
              </a:rPr>
              <a:t>Demand planner</a:t>
            </a:r>
          </a:p>
          <a:p>
            <a:pPr algn="l">
              <a:spcAft>
                <a:spcPts val="200"/>
              </a:spcAft>
            </a:pPr>
            <a:r>
              <a:rPr sz="850" b="0">
                <a:solidFill>
                  <a:srgbClr val="5F6368"/>
                </a:solidFill>
                <a:latin typeface="Arial"/>
              </a:rPr>
              <a:t>Forecasts with TimesFM; sizes material needs</a:t>
            </a:r>
          </a:p>
          <a:p>
            <a:pPr algn="l">
              <a:spcAft>
                <a:spcPts val="200"/>
              </a:spcAft>
            </a:pPr>
            <a:r>
              <a:rPr sz="750" b="0">
                <a:solidFill>
                  <a:srgbClr val="1967D2"/>
                </a:solidFill>
                <a:latin typeface="Arial"/>
              </a:rPr>
              <a:t>forecast_demand</a:t>
            </a:r>
          </a:p>
        </p:txBody>
      </p:sp>
      <p:sp>
        <p:nvSpPr>
          <p:cNvPr id="189" name="Rounded Rectangle 188"/>
          <p:cNvSpPr/>
          <p:nvPr/>
        </p:nvSpPr>
        <p:spPr>
          <a:xfrm>
            <a:off x="4709160" y="3410712"/>
            <a:ext cx="2468880" cy="685800"/>
          </a:xfrm>
          <a:prstGeom prst="roundRect">
            <a:avLst>
              <a:gd name="adj" fmla="val 10666"/>
            </a:avLst>
          </a:prstGeom>
          <a:solidFill>
            <a:srgbClr val="FFFFFF"/>
          </a:solidFill>
          <a:ln w="9525">
            <a:solidFill>
              <a:srgbClr val="DADCE0"/>
            </a:solidFill>
          </a:ln>
        </p:spPr>
        <p:txBody>
          <a:bodyPr rtlCol="0" anchor="ctr"/>
          <a:lstStyle/>
          <a:p>
            <a:pPr algn="ctr"/>
            <a:endParaRPr/>
          </a:p>
        </p:txBody>
      </p:sp>
      <p:sp>
        <p:nvSpPr>
          <p:cNvPr id="190" name="TextBox 189"/>
          <p:cNvSpPr txBox="1"/>
          <p:nvPr/>
        </p:nvSpPr>
        <p:spPr>
          <a:xfrm>
            <a:off x="4800600" y="3465576"/>
            <a:ext cx="2304288" cy="576072"/>
          </a:xfrm>
          <a:prstGeom prst="rect">
            <a:avLst/>
          </a:prstGeom>
          <a:noFill/>
        </p:spPr>
        <p:txBody>
          <a:bodyPr wrap="square" lIns="0" tIns="0" rIns="0" bIns="0" anchor="ctr">
            <a:noAutofit/>
          </a:bodyPr>
          <a:lstStyle/>
          <a:p>
            <a:pPr algn="l">
              <a:spcAft>
                <a:spcPts val="200"/>
              </a:spcAft>
            </a:pPr>
            <a:r>
              <a:rPr sz="1000" b="1">
                <a:solidFill>
                  <a:srgbClr val="202124"/>
                </a:solidFill>
                <a:latin typeface="Arial"/>
              </a:rPr>
              <a:t>Production planner</a:t>
            </a:r>
          </a:p>
          <a:p>
            <a:pPr algn="l">
              <a:spcAft>
                <a:spcPts val="200"/>
              </a:spcAft>
            </a:pPr>
            <a:r>
              <a:rPr sz="850" b="0">
                <a:solidFill>
                  <a:srgbClr val="5F6368"/>
                </a:solidFill>
                <a:latin typeface="Arial"/>
              </a:rPr>
              <a:t>Re-plans with OR-Tools; proposes a plan</a:t>
            </a:r>
          </a:p>
          <a:p>
            <a:pPr algn="l">
              <a:spcAft>
                <a:spcPts val="200"/>
              </a:spcAft>
            </a:pPr>
            <a:r>
              <a:rPr sz="750" b="0">
                <a:solidFill>
                  <a:srgbClr val="1967D2"/>
                </a:solidFill>
                <a:latin typeface="Arial"/>
              </a:rPr>
              <a:t>optimize_production_plan</a:t>
            </a:r>
          </a:p>
        </p:txBody>
      </p:sp>
      <p:sp>
        <p:nvSpPr>
          <p:cNvPr id="191" name="Rounded Rectangle 190"/>
          <p:cNvSpPr/>
          <p:nvPr/>
        </p:nvSpPr>
        <p:spPr>
          <a:xfrm>
            <a:off x="7498079" y="2103120"/>
            <a:ext cx="1280160" cy="1234440"/>
          </a:xfrm>
          <a:prstGeom prst="roundRect">
            <a:avLst>
              <a:gd name="adj" fmla="val 5925"/>
            </a:avLst>
          </a:prstGeom>
          <a:solidFill>
            <a:srgbClr val="202124"/>
          </a:solidFill>
          <a:ln>
            <a:noFill/>
          </a:ln>
        </p:spPr>
        <p:txBody>
          <a:bodyPr rtlCol="0" anchor="ctr"/>
          <a:lstStyle/>
          <a:p>
            <a:pPr algn="ctr"/>
            <a:endParaRPr/>
          </a:p>
        </p:txBody>
      </p:sp>
      <p:sp>
        <p:nvSpPr>
          <p:cNvPr id="192" name="TextBox 191"/>
          <p:cNvSpPr txBox="1"/>
          <p:nvPr/>
        </p:nvSpPr>
        <p:spPr>
          <a:xfrm>
            <a:off x="7589519" y="2157984"/>
            <a:ext cx="1115568" cy="1124712"/>
          </a:xfrm>
          <a:prstGeom prst="rect">
            <a:avLst/>
          </a:prstGeom>
          <a:noFill/>
        </p:spPr>
        <p:txBody>
          <a:bodyPr wrap="square" lIns="0" tIns="0" rIns="0" bIns="0" anchor="ctr">
            <a:noAutofit/>
          </a:bodyPr>
          <a:lstStyle/>
          <a:p>
            <a:pPr algn="l">
              <a:spcAft>
                <a:spcPts val="200"/>
              </a:spcAft>
            </a:pPr>
            <a:r>
              <a:rPr sz="1000" b="1">
                <a:solidFill>
                  <a:srgbClr val="FFFFFF"/>
                </a:solidFill>
                <a:latin typeface="Arial"/>
              </a:rPr>
              <a:t>Response coordinator</a:t>
            </a:r>
          </a:p>
          <a:p>
            <a:pPr algn="l">
              <a:spcAft>
                <a:spcPts val="200"/>
              </a:spcAft>
            </a:pPr>
            <a:r>
              <a:rPr sz="850" b="0">
                <a:solidFill>
                  <a:srgbClr val="BDC1C6"/>
                </a:solidFill>
                <a:latin typeface="Arial"/>
              </a:rPr>
              <a:t>Writes the brief and the action plan</a:t>
            </a:r>
          </a:p>
          <a:p>
            <a:pPr algn="l">
              <a:spcAft>
                <a:spcPts val="200"/>
              </a:spcAft>
            </a:pPr>
            <a:r>
              <a:rPr sz="750" b="0">
                <a:solidFill>
                  <a:srgbClr val="8AB4F8"/>
                </a:solidFill>
                <a:latin typeface="Arial"/>
              </a:rPr>
              <a:t>generate_action_plan</a:t>
            </a:r>
          </a:p>
        </p:txBody>
      </p:sp>
      <p:cxnSp>
        <p:nvCxnSpPr>
          <p:cNvPr id="193" name="Connector 192"/>
          <p:cNvCxnSpPr/>
          <p:nvPr/>
        </p:nvCxnSpPr>
        <p:spPr>
          <a:xfrm>
            <a:off x="1682496" y="2715768"/>
            <a:ext cx="173735" cy="0"/>
          </a:xfrm>
          <a:prstGeom prst="line">
            <a:avLst/>
          </a:prstGeom>
          <a:ln w="15875">
            <a:solidFill>
              <a:srgbClr val="5F6368"/>
            </a:solidFill>
            <a:tailEnd type="triangle" w="med" len="med"/>
          </a:ln>
        </p:spPr>
      </p:cxnSp>
      <p:cxnSp>
        <p:nvCxnSpPr>
          <p:cNvPr id="194" name="Connector 193"/>
          <p:cNvCxnSpPr/>
          <p:nvPr/>
        </p:nvCxnSpPr>
        <p:spPr>
          <a:xfrm>
            <a:off x="7333488" y="2715768"/>
            <a:ext cx="146304" cy="0"/>
          </a:xfrm>
          <a:prstGeom prst="line">
            <a:avLst/>
          </a:prstGeom>
          <a:ln w="15875">
            <a:solidFill>
              <a:srgbClr val="5F6368"/>
            </a:solidFill>
            <a:tailEnd type="triangle" w="med" len="med"/>
          </a:ln>
        </p:spPr>
      </p:cxnSp>
      <p:cxnSp>
        <p:nvCxnSpPr>
          <p:cNvPr id="195" name="Connector 194"/>
          <p:cNvCxnSpPr/>
          <p:nvPr/>
        </p:nvCxnSpPr>
        <p:spPr>
          <a:xfrm>
            <a:off x="3163824" y="2514600"/>
            <a:ext cx="155448" cy="0"/>
          </a:xfrm>
          <a:prstGeom prst="line">
            <a:avLst/>
          </a:prstGeom>
          <a:ln w="15875">
            <a:solidFill>
              <a:srgbClr val="5F6368"/>
            </a:solidFill>
            <a:tailEnd type="triangle" w="med" len="med"/>
          </a:ln>
        </p:spPr>
      </p:cxnSp>
      <p:cxnSp>
        <p:nvCxnSpPr>
          <p:cNvPr id="196" name="Connector 195"/>
          <p:cNvCxnSpPr/>
          <p:nvPr/>
        </p:nvCxnSpPr>
        <p:spPr>
          <a:xfrm>
            <a:off x="5495544" y="2514600"/>
            <a:ext cx="155448" cy="0"/>
          </a:xfrm>
          <a:prstGeom prst="line">
            <a:avLst/>
          </a:prstGeom>
          <a:ln w="15875">
            <a:solidFill>
              <a:srgbClr val="5F6368"/>
            </a:solidFill>
            <a:tailEnd type="triangle" w="med" len="med"/>
          </a:ln>
        </p:spPr>
      </p:cxnSp>
      <p:cxnSp>
        <p:nvCxnSpPr>
          <p:cNvPr id="197" name="Connector 196"/>
          <p:cNvCxnSpPr/>
          <p:nvPr/>
        </p:nvCxnSpPr>
        <p:spPr>
          <a:xfrm>
            <a:off x="4535424" y="3749039"/>
            <a:ext cx="155448" cy="0"/>
          </a:xfrm>
          <a:prstGeom prst="line">
            <a:avLst/>
          </a:prstGeom>
          <a:ln w="15875">
            <a:solidFill>
              <a:srgbClr val="5F6368"/>
            </a:solidFill>
            <a:tailEnd type="triangle" w="med" len="med"/>
          </a:ln>
        </p:spPr>
      </p:cxnSp>
      <p:sp>
        <p:nvSpPr>
          <p:cNvPr id="198" name="Oval 197"/>
          <p:cNvSpPr/>
          <p:nvPr/>
        </p:nvSpPr>
        <p:spPr>
          <a:xfrm>
            <a:off x="365760" y="4389120"/>
            <a:ext cx="329184" cy="329184"/>
          </a:xfrm>
          <a:prstGeom prst="ellipse">
            <a:avLst/>
          </a:prstGeom>
          <a:solidFill>
            <a:srgbClr val="4285F4"/>
          </a:solidFill>
          <a:ln>
            <a:noFill/>
          </a:ln>
        </p:spPr>
        <p:txBody>
          <a:bodyPr rtlCol="0" anchor="ctr"/>
          <a:lstStyle/>
          <a:p>
            <a:pPr algn="ctr"/>
            <a:endParaRPr/>
          </a:p>
        </p:txBody>
      </p:sp>
      <p:pic>
        <p:nvPicPr>
          <p:cNvPr id="199" name="Picture 198" descr="Layers_w.png"/>
          <p:cNvPicPr>
            <a:picLocks noChangeAspect="1"/>
          </p:cNvPicPr>
          <p:nvPr/>
        </p:nvPicPr>
        <p:blipFill>
          <a:blip r:embed="rId5"/>
          <a:stretch>
            <a:fillRect/>
          </a:stretch>
        </p:blipFill>
        <p:spPr>
          <a:xfrm>
            <a:off x="438180" y="4461540"/>
            <a:ext cx="184343" cy="184343"/>
          </a:xfrm>
          <a:prstGeom prst="rect">
            <a:avLst/>
          </a:prstGeom>
        </p:spPr>
      </p:pic>
      <p:sp>
        <p:nvSpPr>
          <p:cNvPr id="200" name="TextBox 199"/>
          <p:cNvSpPr txBox="1"/>
          <p:nvPr/>
        </p:nvSpPr>
        <p:spPr>
          <a:xfrm>
            <a:off x="786384" y="4352544"/>
            <a:ext cx="2331720" cy="402336"/>
          </a:xfrm>
          <a:prstGeom prst="rect">
            <a:avLst/>
          </a:prstGeom>
          <a:noFill/>
        </p:spPr>
        <p:txBody>
          <a:bodyPr wrap="square" lIns="0" tIns="0" rIns="0" bIns="0" anchor="ctr">
            <a:noAutofit/>
          </a:bodyPr>
          <a:lstStyle/>
          <a:p>
            <a:pPr algn="l"/>
            <a:r>
              <a:rPr sz="950" b="0">
                <a:solidFill>
                  <a:srgbClr val="202124"/>
                </a:solidFill>
                <a:latin typeface="Arial"/>
              </a:rPr>
              <a:t>Agents share findings through ADK session state</a:t>
            </a:r>
          </a:p>
        </p:txBody>
      </p:sp>
      <p:sp>
        <p:nvSpPr>
          <p:cNvPr id="201" name="Oval 200"/>
          <p:cNvSpPr/>
          <p:nvPr/>
        </p:nvSpPr>
        <p:spPr>
          <a:xfrm>
            <a:off x="3200400" y="4389120"/>
            <a:ext cx="329184" cy="329184"/>
          </a:xfrm>
          <a:prstGeom prst="ellipse">
            <a:avLst/>
          </a:prstGeom>
          <a:solidFill>
            <a:srgbClr val="34A853"/>
          </a:solidFill>
          <a:ln>
            <a:noFill/>
          </a:ln>
        </p:spPr>
        <p:txBody>
          <a:bodyPr rtlCol="0" anchor="ctr"/>
          <a:lstStyle/>
          <a:p>
            <a:pPr algn="ctr"/>
            <a:endParaRPr/>
          </a:p>
        </p:txBody>
      </p:sp>
      <p:pic>
        <p:nvPicPr>
          <p:cNvPr id="202" name="Picture 201" descr="Activity_w.png"/>
          <p:cNvPicPr>
            <a:picLocks noChangeAspect="1"/>
          </p:cNvPicPr>
          <p:nvPr/>
        </p:nvPicPr>
        <p:blipFill>
          <a:blip r:embed="rId6"/>
          <a:stretch>
            <a:fillRect/>
          </a:stretch>
        </p:blipFill>
        <p:spPr>
          <a:xfrm>
            <a:off x="3272820" y="4461540"/>
            <a:ext cx="184343" cy="184343"/>
          </a:xfrm>
          <a:prstGeom prst="rect">
            <a:avLst/>
          </a:prstGeom>
        </p:spPr>
      </p:pic>
      <p:sp>
        <p:nvSpPr>
          <p:cNvPr id="203" name="TextBox 202"/>
          <p:cNvSpPr txBox="1"/>
          <p:nvPr/>
        </p:nvSpPr>
        <p:spPr>
          <a:xfrm>
            <a:off x="3621024" y="4352544"/>
            <a:ext cx="2331720" cy="402336"/>
          </a:xfrm>
          <a:prstGeom prst="rect">
            <a:avLst/>
          </a:prstGeom>
          <a:noFill/>
        </p:spPr>
        <p:txBody>
          <a:bodyPr wrap="square" lIns="0" tIns="0" rIns="0" bIns="0" anchor="ctr">
            <a:noAutofit/>
          </a:bodyPr>
          <a:lstStyle/>
          <a:p>
            <a:pPr algn="l"/>
            <a:r>
              <a:rPr sz="950" b="0">
                <a:solidFill>
                  <a:srgbClr val="202124"/>
                </a:solidFill>
                <a:latin typeface="Arial"/>
              </a:rPr>
              <a:t>Every agent and tool step streams live to the UI</a:t>
            </a:r>
          </a:p>
        </p:txBody>
      </p:sp>
      <p:sp>
        <p:nvSpPr>
          <p:cNvPr id="204" name="Oval 203"/>
          <p:cNvSpPr/>
          <p:nvPr/>
        </p:nvSpPr>
        <p:spPr>
          <a:xfrm>
            <a:off x="6035040" y="4389120"/>
            <a:ext cx="329184" cy="329184"/>
          </a:xfrm>
          <a:prstGeom prst="ellipse">
            <a:avLst/>
          </a:prstGeom>
          <a:solidFill>
            <a:srgbClr val="EA4335"/>
          </a:solidFill>
          <a:ln>
            <a:noFill/>
          </a:ln>
        </p:spPr>
        <p:txBody>
          <a:bodyPr rtlCol="0" anchor="ctr"/>
          <a:lstStyle/>
          <a:p>
            <a:pPr algn="ctr"/>
            <a:endParaRPr/>
          </a:p>
        </p:txBody>
      </p:sp>
      <p:pic>
        <p:nvPicPr>
          <p:cNvPr id="205" name="Picture 204" descr="UserCheck_w.png"/>
          <p:cNvPicPr>
            <a:picLocks noChangeAspect="1"/>
          </p:cNvPicPr>
          <p:nvPr/>
        </p:nvPicPr>
        <p:blipFill>
          <a:blip r:embed="rId7"/>
          <a:stretch>
            <a:fillRect/>
          </a:stretch>
        </p:blipFill>
        <p:spPr>
          <a:xfrm>
            <a:off x="6107460" y="4461540"/>
            <a:ext cx="184343" cy="184343"/>
          </a:xfrm>
          <a:prstGeom prst="rect">
            <a:avLst/>
          </a:prstGeom>
        </p:spPr>
      </p:pic>
      <p:sp>
        <p:nvSpPr>
          <p:cNvPr id="206" name="TextBox 205"/>
          <p:cNvSpPr txBox="1"/>
          <p:nvPr/>
        </p:nvSpPr>
        <p:spPr>
          <a:xfrm>
            <a:off x="6455664" y="4352544"/>
            <a:ext cx="2331720" cy="402336"/>
          </a:xfrm>
          <a:prstGeom prst="rect">
            <a:avLst/>
          </a:prstGeom>
          <a:noFill/>
        </p:spPr>
        <p:txBody>
          <a:bodyPr wrap="square" lIns="0" tIns="0" rIns="0" bIns="0" anchor="ctr">
            <a:noAutofit/>
          </a:bodyPr>
          <a:lstStyle/>
          <a:p>
            <a:pPr algn="l"/>
            <a:r>
              <a:rPr sz="950" b="0">
                <a:solidFill>
                  <a:srgbClr val="202124"/>
                </a:solidFill>
                <a:latin typeface="Arial"/>
              </a:rPr>
              <a:t>The production plan is only proposed; a person approves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Trustworthy by design · AI reasons, engines calculate</a:t>
            </a:r>
          </a:p>
        </p:txBody>
      </p:sp>
      <p:sp>
        <p:nvSpPr>
          <p:cNvPr id="168"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Numbers your CFO can sign off on</a:t>
            </a:r>
          </a:p>
        </p:txBody>
      </p:sp>
      <p:graphicFrame>
        <p:nvGraphicFramePr>
          <p:cNvPr id="169" name="Table 168"/>
          <p:cNvGraphicFramePr>
            <a:graphicFrameLocks noGrp="1"/>
          </p:cNvGraphicFramePr>
          <p:nvPr/>
        </p:nvGraphicFramePr>
        <p:xfrm>
          <a:off x="365760" y="1417320"/>
          <a:ext cx="8412480" cy="2029968"/>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38328">
                <a:tc>
                  <a:txBody>
                    <a:bodyPr/>
                    <a:lstStyle/>
                    <a:p>
                      <a:pPr algn="l"/>
                      <a:r>
                        <a:rPr sz="1100" b="1">
                          <a:solidFill>
                            <a:srgbClr val="1967D2"/>
                          </a:solidFill>
                          <a:latin typeface="Arial"/>
                        </a:rPr>
                        <a:t>Gemini via Google ADK: reasons</a:t>
                      </a:r>
                    </a:p>
                  </a:txBody>
                  <a:tcPr marL="128016" marT="36576" marB="36576" anchor="ctr">
                    <a:solidFill>
                      <a:srgbClr val="E8F0FE"/>
                    </a:solidFill>
                  </a:tcPr>
                </a:tc>
                <a:tc>
                  <a:txBody>
                    <a:bodyPr/>
                    <a:lstStyle/>
                    <a:p>
                      <a:pPr algn="l"/>
                      <a:r>
                        <a:rPr sz="1100" b="1">
                          <a:solidFill>
                            <a:srgbClr val="137333"/>
                          </a:solidFill>
                          <a:latin typeface="Arial"/>
                        </a:rPr>
                        <a:t>BigQuery, Python and OR-Tools: calculate</a:t>
                      </a:r>
                    </a:p>
                  </a:txBody>
                  <a:tcPr marL="128016" marT="36576" marB="36576" anchor="ctr">
                    <a:solidFill>
                      <a:srgbClr val="E6F4EA"/>
                    </a:solidFill>
                  </a:tcPr>
                </a:tc>
                <a:extLst>
                  <a:ext uri="{0D108BD9-81ED-4DB2-BD59-A6C34878D82A}">
                    <a16:rowId xmlns:a16="http://schemas.microsoft.com/office/drawing/2014/main" val="10000"/>
                  </a:ext>
                </a:extLst>
              </a:tr>
              <a:tr h="338328">
                <a:tc>
                  <a:txBody>
                    <a:bodyPr/>
                    <a:lstStyle/>
                    <a:p>
                      <a:pPr algn="l"/>
                      <a:r>
                        <a:rPr sz="1050" b="0">
                          <a:solidFill>
                            <a:srgbClr val="202124"/>
                          </a:solidFill>
                          <a:latin typeface="Arial"/>
                        </a:rPr>
                        <a:t>Reads supplier notices into structured events</a:t>
                      </a:r>
                    </a:p>
                  </a:txBody>
                  <a:tcPr marL="128016" marT="36576" marB="36576" anchor="ctr">
                    <a:solidFill>
                      <a:srgbClr val="FFFFFF"/>
                    </a:solidFill>
                  </a:tcPr>
                </a:tc>
                <a:tc>
                  <a:txBody>
                    <a:bodyPr/>
                    <a:lstStyle/>
                    <a:p>
                      <a:pPr algn="l"/>
                      <a:r>
                        <a:rPr sz="1050" b="0">
                          <a:solidFill>
                            <a:srgbClr val="202124"/>
                          </a:solidFill>
                          <a:latin typeface="Arial"/>
                        </a:rPr>
                        <a:t>Multi-level BOM trace with BigQuery Graph</a:t>
                      </a:r>
                    </a:p>
                  </a:txBody>
                  <a:tcPr marL="128016" marT="36576" marB="36576" anchor="ctr">
                    <a:solidFill>
                      <a:srgbClr val="FFFFFF"/>
                    </a:solidFill>
                  </a:tcPr>
                </a:tc>
                <a:extLst>
                  <a:ext uri="{0D108BD9-81ED-4DB2-BD59-A6C34878D82A}">
                    <a16:rowId xmlns:a16="http://schemas.microsoft.com/office/drawing/2014/main" val="10001"/>
                  </a:ext>
                </a:extLst>
              </a:tr>
              <a:tr h="338328">
                <a:tc>
                  <a:txBody>
                    <a:bodyPr/>
                    <a:lstStyle/>
                    <a:p>
                      <a:pPr algn="l"/>
                      <a:r>
                        <a:rPr sz="1050" b="0">
                          <a:solidFill>
                            <a:srgbClr val="202124"/>
                          </a:solidFill>
                          <a:latin typeface="Arial"/>
                        </a:rPr>
                        <a:t>Chooses which tools to call, and in what order</a:t>
                      </a:r>
                    </a:p>
                  </a:txBody>
                  <a:tcPr marL="128016" marT="36576" marB="36576" anchor="ctr">
                    <a:solidFill>
                      <a:srgbClr val="F8F9FA"/>
                    </a:solidFill>
                  </a:tcPr>
                </a:tc>
                <a:tc>
                  <a:txBody>
                    <a:bodyPr/>
                    <a:lstStyle/>
                    <a:p>
                      <a:pPr algn="l"/>
                      <a:r>
                        <a:rPr sz="1050" b="0">
                          <a:solidFill>
                            <a:srgbClr val="202124"/>
                          </a:solidFill>
                          <a:latin typeface="Arial"/>
                        </a:rPr>
                        <a:t>Cost roll-up, gross margin and scenarios</a:t>
                      </a:r>
                    </a:p>
                  </a:txBody>
                  <a:tcPr marL="128016" marT="36576" marB="36576" anchor="ctr">
                    <a:solidFill>
                      <a:srgbClr val="F8F9FA"/>
                    </a:solidFill>
                  </a:tcPr>
                </a:tc>
                <a:extLst>
                  <a:ext uri="{0D108BD9-81ED-4DB2-BD59-A6C34878D82A}">
                    <a16:rowId xmlns:a16="http://schemas.microsoft.com/office/drawing/2014/main" val="10002"/>
                  </a:ext>
                </a:extLst>
              </a:tr>
              <a:tr h="338328">
                <a:tc>
                  <a:txBody>
                    <a:bodyPr/>
                    <a:lstStyle/>
                    <a:p>
                      <a:pPr algn="l"/>
                      <a:r>
                        <a:rPr sz="1050" b="0">
                          <a:solidFill>
                            <a:srgbClr val="202124"/>
                          </a:solidFill>
                          <a:latin typeface="Arial"/>
                        </a:rPr>
                        <a:t>Decides whether a bridge buy is worth testing</a:t>
                      </a:r>
                    </a:p>
                  </a:txBody>
                  <a:tcPr marL="128016" marT="36576" marB="36576" anchor="ctr">
                    <a:solidFill>
                      <a:srgbClr val="FFFFFF"/>
                    </a:solidFill>
                  </a:tcPr>
                </a:tc>
                <a:tc>
                  <a:txBody>
                    <a:bodyPr/>
                    <a:lstStyle/>
                    <a:p>
                      <a:pPr algn="l"/>
                      <a:r>
                        <a:rPr sz="1050" b="0">
                          <a:solidFill>
                            <a:srgbClr val="202124"/>
                          </a:solidFill>
                          <a:latin typeface="Arial"/>
                        </a:rPr>
                        <a:t>Production re-plan with OR-Tools CP-SAT</a:t>
                      </a:r>
                    </a:p>
                  </a:txBody>
                  <a:tcPr marL="128016" marT="36576" marB="36576" anchor="ctr">
                    <a:solidFill>
                      <a:srgbClr val="FFFFFF"/>
                    </a:solidFill>
                  </a:tcPr>
                </a:tc>
                <a:extLst>
                  <a:ext uri="{0D108BD9-81ED-4DB2-BD59-A6C34878D82A}">
                    <a16:rowId xmlns:a16="http://schemas.microsoft.com/office/drawing/2014/main" val="10003"/>
                  </a:ext>
                </a:extLst>
              </a:tr>
              <a:tr h="338328">
                <a:tc>
                  <a:txBody>
                    <a:bodyPr/>
                    <a:lstStyle/>
                    <a:p>
                      <a:pPr algn="l"/>
                      <a:r>
                        <a:rPr sz="1050" b="0">
                          <a:solidFill>
                            <a:srgbClr val="202124"/>
                          </a:solidFill>
                          <a:latin typeface="Arial"/>
                        </a:rPr>
                        <a:t>Explains forecasts, scorecards and plans</a:t>
                      </a:r>
                    </a:p>
                  </a:txBody>
                  <a:tcPr marL="128016" marT="36576" marB="36576" anchor="ctr">
                    <a:solidFill>
                      <a:srgbClr val="F8F9FA"/>
                    </a:solidFill>
                  </a:tcPr>
                </a:tc>
                <a:tc>
                  <a:txBody>
                    <a:bodyPr/>
                    <a:lstStyle/>
                    <a:p>
                      <a:pPr algn="l"/>
                      <a:r>
                        <a:rPr sz="1050" b="0">
                          <a:solidFill>
                            <a:srgbClr val="202124"/>
                          </a:solidFill>
                          <a:latin typeface="Arial"/>
                        </a:rPr>
                        <a:t>Demand forecast with BigQuery AI.FORECAST</a:t>
                      </a:r>
                    </a:p>
                  </a:txBody>
                  <a:tcPr marL="128016" marT="36576" marB="36576" anchor="ctr">
                    <a:solidFill>
                      <a:srgbClr val="F8F9FA"/>
                    </a:solidFill>
                  </a:tcPr>
                </a:tc>
                <a:extLst>
                  <a:ext uri="{0D108BD9-81ED-4DB2-BD59-A6C34878D82A}">
                    <a16:rowId xmlns:a16="http://schemas.microsoft.com/office/drawing/2014/main" val="10004"/>
                  </a:ext>
                </a:extLst>
              </a:tr>
              <a:tr h="338328">
                <a:tc>
                  <a:txBody>
                    <a:bodyPr/>
                    <a:lstStyle/>
                    <a:p>
                      <a:pPr algn="l"/>
                      <a:r>
                        <a:rPr sz="1050" b="0">
                          <a:solidFill>
                            <a:srgbClr val="202124"/>
                          </a:solidFill>
                          <a:latin typeface="Arial"/>
                        </a:rPr>
                        <a:t>Writes findings, the brief and action wording</a:t>
                      </a:r>
                    </a:p>
                  </a:txBody>
                  <a:tcPr marL="128016" marT="36576" marB="36576" anchor="ctr">
                    <a:solidFill>
                      <a:srgbClr val="FFFFFF"/>
                    </a:solidFill>
                  </a:tcPr>
                </a:tc>
                <a:tc>
                  <a:txBody>
                    <a:bodyPr/>
                    <a:lstStyle/>
                    <a:p>
                      <a:pPr algn="l"/>
                      <a:r>
                        <a:rPr sz="1050" b="0">
                          <a:solidFill>
                            <a:srgbClr val="202124"/>
                          </a:solidFill>
                          <a:latin typeface="Arial"/>
                        </a:rPr>
                        <a:t>Supplier scores, compliance gate, risk levels</a:t>
                      </a:r>
                    </a:p>
                  </a:txBody>
                  <a:tcPr marL="128016"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70" name="Rounded Rectangle 169"/>
          <p:cNvSpPr/>
          <p:nvPr/>
        </p:nvSpPr>
        <p:spPr>
          <a:xfrm>
            <a:off x="365760" y="3657600"/>
            <a:ext cx="8412480" cy="1097280"/>
          </a:xfrm>
          <a:prstGeom prst="roundRect">
            <a:avLst>
              <a:gd name="adj" fmla="val 6666"/>
            </a:avLst>
          </a:prstGeom>
          <a:solidFill>
            <a:srgbClr val="202124"/>
          </a:solidFill>
          <a:ln>
            <a:noFill/>
          </a:ln>
        </p:spPr>
        <p:txBody>
          <a:bodyPr rtlCol="0" anchor="ctr"/>
          <a:lstStyle/>
          <a:p>
            <a:pPr algn="ctr"/>
            <a:endParaRPr/>
          </a:p>
        </p:txBody>
      </p:sp>
      <p:sp>
        <p:nvSpPr>
          <p:cNvPr id="171" name="Oval 170"/>
          <p:cNvSpPr/>
          <p:nvPr/>
        </p:nvSpPr>
        <p:spPr>
          <a:xfrm>
            <a:off x="594360" y="3922776"/>
            <a:ext cx="566928" cy="566928"/>
          </a:xfrm>
          <a:prstGeom prst="ellipse">
            <a:avLst/>
          </a:prstGeom>
          <a:solidFill>
            <a:srgbClr val="34A853"/>
          </a:solidFill>
          <a:ln>
            <a:noFill/>
          </a:ln>
        </p:spPr>
        <p:txBody>
          <a:bodyPr rtlCol="0" anchor="ctr"/>
          <a:lstStyle/>
          <a:p>
            <a:pPr algn="ctr"/>
            <a:endParaRPr/>
          </a:p>
        </p:txBody>
      </p:sp>
      <p:pic>
        <p:nvPicPr>
          <p:cNvPr id="172" name="Picture 171" descr="ShieldCheck_w.png"/>
          <p:cNvPicPr>
            <a:picLocks noChangeAspect="1"/>
          </p:cNvPicPr>
          <p:nvPr/>
        </p:nvPicPr>
        <p:blipFill>
          <a:blip r:embed="rId5"/>
          <a:stretch>
            <a:fillRect/>
          </a:stretch>
        </p:blipFill>
        <p:spPr>
          <a:xfrm>
            <a:off x="719084" y="4047500"/>
            <a:ext cx="317479" cy="317479"/>
          </a:xfrm>
          <a:prstGeom prst="rect">
            <a:avLst/>
          </a:prstGeom>
        </p:spPr>
      </p:pic>
      <p:sp>
        <p:nvSpPr>
          <p:cNvPr id="173" name="TextBox 172"/>
          <p:cNvSpPr txBox="1"/>
          <p:nvPr/>
        </p:nvSpPr>
        <p:spPr>
          <a:xfrm>
            <a:off x="1371600" y="3749039"/>
            <a:ext cx="7223760" cy="914400"/>
          </a:xfrm>
          <a:prstGeom prst="rect">
            <a:avLst/>
          </a:prstGeom>
          <a:noFill/>
        </p:spPr>
        <p:txBody>
          <a:bodyPr wrap="square" lIns="0" tIns="0" rIns="0" bIns="0" anchor="ctr">
            <a:noAutofit/>
          </a:bodyPr>
          <a:lstStyle/>
          <a:p>
            <a:pPr algn="l">
              <a:spcAft>
                <a:spcPts val="300"/>
              </a:spcAft>
            </a:pPr>
            <a:r>
              <a:rPr sz="1300" b="1">
                <a:solidFill>
                  <a:srgbClr val="FFFFFF"/>
                </a:solidFill>
                <a:latin typeface="Arial"/>
              </a:rPr>
              <a:t>Grounding guardrail</a:t>
            </a:r>
          </a:p>
          <a:p>
            <a:pPr algn="l"/>
            <a:r>
              <a:rPr sz="1050" b="0">
                <a:solidFill>
                  <a:srgbClr val="E8EAED"/>
                </a:solidFill>
                <a:latin typeface="Arial"/>
              </a:rPr>
              <a:t>An ADK after-model callback checks every number an agent writes against tool output. Anything ungrounded falls back to the calculated finding. Without Gemini, the same tools still run in order.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Technologies to be used in the solution</a:t>
            </a:r>
          </a:p>
        </p:txBody>
      </p:sp>
      <p:sp>
        <p:nvSpPr>
          <p:cNvPr id="120"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Google Cloud and Google AI at the core, open source around it</a:t>
            </a:r>
          </a:p>
        </p:txBody>
      </p:sp>
      <p:sp>
        <p:nvSpPr>
          <p:cNvPr id="121" name="Rounded Rectangle 120"/>
          <p:cNvSpPr/>
          <p:nvPr/>
        </p:nvSpPr>
        <p:spPr>
          <a:xfrm>
            <a:off x="365760" y="1417320"/>
            <a:ext cx="2679192" cy="1600200"/>
          </a:xfrm>
          <a:prstGeom prst="roundRect">
            <a:avLst>
              <a:gd name="adj" fmla="val 4571"/>
            </a:avLst>
          </a:prstGeom>
          <a:solidFill>
            <a:srgbClr val="F8F9FA"/>
          </a:solidFill>
          <a:ln>
            <a:noFill/>
          </a:ln>
        </p:spPr>
        <p:txBody>
          <a:bodyPr rtlCol="0" anchor="ctr"/>
          <a:lstStyle/>
          <a:p>
            <a:pPr algn="ctr"/>
            <a:endParaRPr/>
          </a:p>
        </p:txBody>
      </p:sp>
      <p:sp>
        <p:nvSpPr>
          <p:cNvPr id="122" name="Oval 121"/>
          <p:cNvSpPr/>
          <p:nvPr/>
        </p:nvSpPr>
        <p:spPr>
          <a:xfrm>
            <a:off x="512064" y="1554480"/>
            <a:ext cx="347472" cy="347472"/>
          </a:xfrm>
          <a:prstGeom prst="ellipse">
            <a:avLst/>
          </a:prstGeom>
          <a:solidFill>
            <a:srgbClr val="4285F4"/>
          </a:solidFill>
          <a:ln>
            <a:noFill/>
          </a:ln>
        </p:spPr>
        <p:txBody>
          <a:bodyPr rtlCol="0" anchor="ctr"/>
          <a:lstStyle/>
          <a:p>
            <a:pPr algn="ctr"/>
            <a:endParaRPr/>
          </a:p>
        </p:txBody>
      </p:sp>
      <p:pic>
        <p:nvPicPr>
          <p:cNvPr id="123" name="Picture 122" descr="Sparkles_w.png"/>
          <p:cNvPicPr>
            <a:picLocks noChangeAspect="1"/>
          </p:cNvPicPr>
          <p:nvPr/>
        </p:nvPicPr>
        <p:blipFill>
          <a:blip r:embed="rId5"/>
          <a:stretch>
            <a:fillRect/>
          </a:stretch>
        </p:blipFill>
        <p:spPr>
          <a:xfrm>
            <a:off x="588507" y="1630923"/>
            <a:ext cx="194584" cy="194584"/>
          </a:xfrm>
          <a:prstGeom prst="rect">
            <a:avLst/>
          </a:prstGeom>
        </p:spPr>
      </p:pic>
      <p:sp>
        <p:nvSpPr>
          <p:cNvPr id="124" name="TextBox 123"/>
          <p:cNvSpPr txBox="1"/>
          <p:nvPr/>
        </p:nvSpPr>
        <p:spPr>
          <a:xfrm>
            <a:off x="987552" y="1554480"/>
            <a:ext cx="1993392" cy="347472"/>
          </a:xfrm>
          <a:prstGeom prst="rect">
            <a:avLst/>
          </a:prstGeom>
          <a:noFill/>
        </p:spPr>
        <p:txBody>
          <a:bodyPr wrap="square" lIns="0" tIns="0" rIns="0" bIns="0" anchor="ctr">
            <a:noAutofit/>
          </a:bodyPr>
          <a:lstStyle/>
          <a:p>
            <a:pPr algn="l"/>
            <a:r>
              <a:rPr sz="1150" b="1">
                <a:solidFill>
                  <a:srgbClr val="202124"/>
                </a:solidFill>
                <a:latin typeface="Arial"/>
              </a:rPr>
              <a:t>Google AI</a:t>
            </a:r>
          </a:p>
        </p:txBody>
      </p:sp>
      <p:sp>
        <p:nvSpPr>
          <p:cNvPr id="125" name="TextBox 124"/>
          <p:cNvSpPr txBox="1"/>
          <p:nvPr/>
        </p:nvSpPr>
        <p:spPr>
          <a:xfrm>
            <a:off x="530352" y="202082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Gemini 2.5 Flash</a:t>
            </a:r>
            <a:r>
              <a:rPr sz="950" b="0">
                <a:solidFill>
                  <a:srgbClr val="5F6368"/>
                </a:solidFill>
                <a:latin typeface="Arial"/>
              </a:rPr>
              <a:t>  on Vertex AI</a:t>
            </a:r>
          </a:p>
          <a:p>
            <a:pPr algn="l">
              <a:spcAft>
                <a:spcPts val="800"/>
              </a:spcAft>
            </a:pPr>
            <a:r>
              <a:rPr sz="1100" b="1">
                <a:solidFill>
                  <a:srgbClr val="202124"/>
                </a:solidFill>
                <a:latin typeface="Arial"/>
              </a:rPr>
              <a:t>Google ADK 2.9</a:t>
            </a:r>
            <a:r>
              <a:rPr sz="950" b="0">
                <a:solidFill>
                  <a:srgbClr val="5F6368"/>
                </a:solidFill>
                <a:latin typeface="Arial"/>
              </a:rPr>
              <a:t>  multi-agent workflow</a:t>
            </a:r>
          </a:p>
          <a:p>
            <a:pPr algn="l">
              <a:spcAft>
                <a:spcPts val="800"/>
              </a:spcAft>
            </a:pPr>
            <a:r>
              <a:rPr sz="1100" b="1">
                <a:solidFill>
                  <a:srgbClr val="202124"/>
                </a:solidFill>
                <a:latin typeface="Arial"/>
              </a:rPr>
              <a:t>AI.FORECAST</a:t>
            </a:r>
            <a:r>
              <a:rPr sz="950" b="0">
                <a:solidFill>
                  <a:srgbClr val="5F6368"/>
                </a:solidFill>
                <a:latin typeface="Arial"/>
              </a:rPr>
              <a:t>  TimesFM in BigQuery</a:t>
            </a:r>
          </a:p>
        </p:txBody>
      </p:sp>
      <p:sp>
        <p:nvSpPr>
          <p:cNvPr id="126" name="Rounded Rectangle 125"/>
          <p:cNvSpPr/>
          <p:nvPr/>
        </p:nvSpPr>
        <p:spPr>
          <a:xfrm>
            <a:off x="3232403" y="1417320"/>
            <a:ext cx="2679192" cy="1600200"/>
          </a:xfrm>
          <a:prstGeom prst="roundRect">
            <a:avLst>
              <a:gd name="adj" fmla="val 4571"/>
            </a:avLst>
          </a:prstGeom>
          <a:solidFill>
            <a:srgbClr val="F8F9FA"/>
          </a:solidFill>
          <a:ln>
            <a:noFill/>
          </a:ln>
        </p:spPr>
        <p:txBody>
          <a:bodyPr rtlCol="0" anchor="ctr"/>
          <a:lstStyle/>
          <a:p>
            <a:pPr algn="ctr"/>
            <a:endParaRPr/>
          </a:p>
        </p:txBody>
      </p:sp>
      <p:sp>
        <p:nvSpPr>
          <p:cNvPr id="127" name="Oval 126"/>
          <p:cNvSpPr/>
          <p:nvPr/>
        </p:nvSpPr>
        <p:spPr>
          <a:xfrm>
            <a:off x="3378708" y="1554480"/>
            <a:ext cx="347472" cy="347472"/>
          </a:xfrm>
          <a:prstGeom prst="ellipse">
            <a:avLst/>
          </a:prstGeom>
          <a:solidFill>
            <a:srgbClr val="34A853"/>
          </a:solidFill>
          <a:ln>
            <a:noFill/>
          </a:ln>
        </p:spPr>
        <p:txBody>
          <a:bodyPr rtlCol="0" anchor="ctr"/>
          <a:lstStyle/>
          <a:p>
            <a:pPr algn="ctr"/>
            <a:endParaRPr/>
          </a:p>
        </p:txBody>
      </p:sp>
      <p:pic>
        <p:nvPicPr>
          <p:cNvPr id="128" name="Picture 127" descr="Database_w.png"/>
          <p:cNvPicPr>
            <a:picLocks noChangeAspect="1"/>
          </p:cNvPicPr>
          <p:nvPr/>
        </p:nvPicPr>
        <p:blipFill>
          <a:blip r:embed="rId6"/>
          <a:stretch>
            <a:fillRect/>
          </a:stretch>
        </p:blipFill>
        <p:spPr>
          <a:xfrm>
            <a:off x="3455151" y="1630923"/>
            <a:ext cx="194584" cy="194584"/>
          </a:xfrm>
          <a:prstGeom prst="rect">
            <a:avLst/>
          </a:prstGeom>
        </p:spPr>
      </p:pic>
      <p:sp>
        <p:nvSpPr>
          <p:cNvPr id="129" name="TextBox 128"/>
          <p:cNvSpPr txBox="1"/>
          <p:nvPr/>
        </p:nvSpPr>
        <p:spPr>
          <a:xfrm>
            <a:off x="3854196" y="1554480"/>
            <a:ext cx="1993392" cy="347472"/>
          </a:xfrm>
          <a:prstGeom prst="rect">
            <a:avLst/>
          </a:prstGeom>
          <a:noFill/>
        </p:spPr>
        <p:txBody>
          <a:bodyPr wrap="square" lIns="0" tIns="0" rIns="0" bIns="0" anchor="ctr">
            <a:noAutofit/>
          </a:bodyPr>
          <a:lstStyle/>
          <a:p>
            <a:pPr algn="l"/>
            <a:r>
              <a:rPr sz="1150" b="1">
                <a:solidFill>
                  <a:srgbClr val="202124"/>
                </a:solidFill>
                <a:latin typeface="Arial"/>
              </a:rPr>
              <a:t>Data</a:t>
            </a:r>
          </a:p>
        </p:txBody>
      </p:sp>
      <p:sp>
        <p:nvSpPr>
          <p:cNvPr id="130" name="TextBox 129"/>
          <p:cNvSpPr txBox="1"/>
          <p:nvPr/>
        </p:nvSpPr>
        <p:spPr>
          <a:xfrm>
            <a:off x="3396996" y="202082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BigQuery</a:t>
            </a:r>
            <a:r>
              <a:rPr sz="950" b="0">
                <a:solidFill>
                  <a:srgbClr val="5F6368"/>
                </a:solidFill>
                <a:latin typeface="Arial"/>
              </a:rPr>
              <a:t>  17 business tables</a:t>
            </a:r>
          </a:p>
          <a:p>
            <a:pPr algn="l">
              <a:spcAft>
                <a:spcPts val="800"/>
              </a:spcAft>
            </a:pPr>
            <a:r>
              <a:rPr sz="1100" b="1">
                <a:solidFill>
                  <a:srgbClr val="202124"/>
                </a:solidFill>
                <a:latin typeface="Arial"/>
              </a:rPr>
              <a:t>BigQuery Graph</a:t>
            </a:r>
            <a:r>
              <a:rPr sz="950" b="0">
                <a:solidFill>
                  <a:srgbClr val="5F6368"/>
                </a:solidFill>
                <a:latin typeface="Arial"/>
              </a:rPr>
              <a:t>  GQL BOM trace</a:t>
            </a:r>
          </a:p>
          <a:p>
            <a:pPr algn="l">
              <a:spcAft>
                <a:spcPts val="800"/>
              </a:spcAft>
            </a:pPr>
            <a:r>
              <a:rPr sz="1100" b="1">
                <a:solidFill>
                  <a:srgbClr val="202124"/>
                </a:solidFill>
                <a:latin typeface="Arial"/>
              </a:rPr>
              <a:t>Recursive SQL</a:t>
            </a:r>
            <a:r>
              <a:rPr sz="950" b="0">
                <a:solidFill>
                  <a:srgbClr val="5F6368"/>
                </a:solidFill>
                <a:latin typeface="Arial"/>
              </a:rPr>
              <a:t>  automatic fallback</a:t>
            </a:r>
          </a:p>
        </p:txBody>
      </p:sp>
      <p:sp>
        <p:nvSpPr>
          <p:cNvPr id="131" name="Rounded Rectangle 130"/>
          <p:cNvSpPr/>
          <p:nvPr/>
        </p:nvSpPr>
        <p:spPr>
          <a:xfrm>
            <a:off x="6099048" y="1417320"/>
            <a:ext cx="2679192" cy="1600200"/>
          </a:xfrm>
          <a:prstGeom prst="roundRect">
            <a:avLst>
              <a:gd name="adj" fmla="val 4571"/>
            </a:avLst>
          </a:prstGeom>
          <a:solidFill>
            <a:srgbClr val="F8F9FA"/>
          </a:solidFill>
          <a:ln>
            <a:noFill/>
          </a:ln>
        </p:spPr>
        <p:txBody>
          <a:bodyPr rtlCol="0" anchor="ctr"/>
          <a:lstStyle/>
          <a:p>
            <a:pPr algn="ctr"/>
            <a:endParaRPr/>
          </a:p>
        </p:txBody>
      </p:sp>
      <p:sp>
        <p:nvSpPr>
          <p:cNvPr id="132" name="Oval 131"/>
          <p:cNvSpPr/>
          <p:nvPr/>
        </p:nvSpPr>
        <p:spPr>
          <a:xfrm>
            <a:off x="6245352" y="1554480"/>
            <a:ext cx="347472" cy="347472"/>
          </a:xfrm>
          <a:prstGeom prst="ellipse">
            <a:avLst/>
          </a:prstGeom>
          <a:solidFill>
            <a:srgbClr val="FBBC04"/>
          </a:solidFill>
          <a:ln>
            <a:noFill/>
          </a:ln>
        </p:spPr>
        <p:txBody>
          <a:bodyPr rtlCol="0" anchor="ctr"/>
          <a:lstStyle/>
          <a:p>
            <a:pPr algn="ctr"/>
            <a:endParaRPr/>
          </a:p>
        </p:txBody>
      </p:sp>
      <p:pic>
        <p:nvPicPr>
          <p:cNvPr id="133" name="Picture 132" descr="Cpu_w.png"/>
          <p:cNvPicPr>
            <a:picLocks noChangeAspect="1"/>
          </p:cNvPicPr>
          <p:nvPr/>
        </p:nvPicPr>
        <p:blipFill>
          <a:blip r:embed="rId7"/>
          <a:stretch>
            <a:fillRect/>
          </a:stretch>
        </p:blipFill>
        <p:spPr>
          <a:xfrm>
            <a:off x="6321795" y="1630923"/>
            <a:ext cx="194584" cy="194584"/>
          </a:xfrm>
          <a:prstGeom prst="rect">
            <a:avLst/>
          </a:prstGeom>
        </p:spPr>
      </p:pic>
      <p:sp>
        <p:nvSpPr>
          <p:cNvPr id="134" name="TextBox 133"/>
          <p:cNvSpPr txBox="1"/>
          <p:nvPr/>
        </p:nvSpPr>
        <p:spPr>
          <a:xfrm>
            <a:off x="6720840" y="1554480"/>
            <a:ext cx="1993392" cy="347472"/>
          </a:xfrm>
          <a:prstGeom prst="rect">
            <a:avLst/>
          </a:prstGeom>
          <a:noFill/>
        </p:spPr>
        <p:txBody>
          <a:bodyPr wrap="square" lIns="0" tIns="0" rIns="0" bIns="0" anchor="ctr">
            <a:noAutofit/>
          </a:bodyPr>
          <a:lstStyle/>
          <a:p>
            <a:pPr algn="l"/>
            <a:r>
              <a:rPr sz="1150" b="1">
                <a:solidFill>
                  <a:srgbClr val="202124"/>
                </a:solidFill>
                <a:latin typeface="Arial"/>
              </a:rPr>
              <a:t>Optimization and engines</a:t>
            </a:r>
          </a:p>
        </p:txBody>
      </p:sp>
      <p:sp>
        <p:nvSpPr>
          <p:cNvPr id="135" name="TextBox 134"/>
          <p:cNvSpPr txBox="1"/>
          <p:nvPr/>
        </p:nvSpPr>
        <p:spPr>
          <a:xfrm>
            <a:off x="6263640" y="202082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OR-Tools 9.15</a:t>
            </a:r>
            <a:r>
              <a:rPr sz="950" b="0">
                <a:solidFill>
                  <a:srgbClr val="5F6368"/>
                </a:solidFill>
                <a:latin typeface="Arial"/>
              </a:rPr>
              <a:t>  CP-SAT re-plan</a:t>
            </a:r>
          </a:p>
          <a:p>
            <a:pPr algn="l">
              <a:spcAft>
                <a:spcPts val="800"/>
              </a:spcAft>
            </a:pPr>
            <a:r>
              <a:rPr sz="1100" b="1">
                <a:solidFill>
                  <a:srgbClr val="202124"/>
                </a:solidFill>
                <a:latin typeface="Arial"/>
              </a:rPr>
              <a:t>Python 3.11</a:t>
            </a:r>
            <a:r>
              <a:rPr sz="950" b="0">
                <a:solidFill>
                  <a:srgbClr val="5F6368"/>
                </a:solidFill>
                <a:latin typeface="Arial"/>
              </a:rPr>
              <a:t>  cost, scenario, risk</a:t>
            </a:r>
          </a:p>
          <a:p>
            <a:pPr algn="l">
              <a:spcAft>
                <a:spcPts val="800"/>
              </a:spcAft>
            </a:pPr>
            <a:r>
              <a:rPr sz="1100" b="1">
                <a:solidFill>
                  <a:srgbClr val="202124"/>
                </a:solidFill>
                <a:latin typeface="Arial"/>
              </a:rPr>
              <a:t>Grounding check</a:t>
            </a:r>
            <a:r>
              <a:rPr sz="950" b="0">
                <a:solidFill>
                  <a:srgbClr val="5F6368"/>
                </a:solidFill>
                <a:latin typeface="Arial"/>
              </a:rPr>
              <a:t>  AI numbers vs tools</a:t>
            </a:r>
          </a:p>
        </p:txBody>
      </p:sp>
      <p:sp>
        <p:nvSpPr>
          <p:cNvPr id="136" name="Rounded Rectangle 135"/>
          <p:cNvSpPr/>
          <p:nvPr/>
        </p:nvSpPr>
        <p:spPr>
          <a:xfrm>
            <a:off x="365760" y="3154680"/>
            <a:ext cx="2679192" cy="1600200"/>
          </a:xfrm>
          <a:prstGeom prst="roundRect">
            <a:avLst>
              <a:gd name="adj" fmla="val 4571"/>
            </a:avLst>
          </a:prstGeom>
          <a:solidFill>
            <a:srgbClr val="F8F9FA"/>
          </a:solidFill>
          <a:ln>
            <a:noFill/>
          </a:ln>
        </p:spPr>
        <p:txBody>
          <a:bodyPr rtlCol="0" anchor="ctr"/>
          <a:lstStyle/>
          <a:p>
            <a:pPr algn="ctr"/>
            <a:endParaRPr/>
          </a:p>
        </p:txBody>
      </p:sp>
      <p:sp>
        <p:nvSpPr>
          <p:cNvPr id="137" name="Oval 136"/>
          <p:cNvSpPr/>
          <p:nvPr/>
        </p:nvSpPr>
        <p:spPr>
          <a:xfrm>
            <a:off x="512064" y="3291840"/>
            <a:ext cx="347472" cy="347472"/>
          </a:xfrm>
          <a:prstGeom prst="ellipse">
            <a:avLst/>
          </a:prstGeom>
          <a:solidFill>
            <a:srgbClr val="EA4335"/>
          </a:solidFill>
          <a:ln>
            <a:noFill/>
          </a:ln>
        </p:spPr>
        <p:txBody>
          <a:bodyPr rtlCol="0" anchor="ctr"/>
          <a:lstStyle/>
          <a:p>
            <a:pPr algn="ctr"/>
            <a:endParaRPr/>
          </a:p>
        </p:txBody>
      </p:sp>
      <p:pic>
        <p:nvPicPr>
          <p:cNvPr id="138" name="Picture 137" descr="Server_w.png"/>
          <p:cNvPicPr>
            <a:picLocks noChangeAspect="1"/>
          </p:cNvPicPr>
          <p:nvPr/>
        </p:nvPicPr>
        <p:blipFill>
          <a:blip r:embed="rId8"/>
          <a:stretch>
            <a:fillRect/>
          </a:stretch>
        </p:blipFill>
        <p:spPr>
          <a:xfrm>
            <a:off x="588507" y="3368283"/>
            <a:ext cx="194584" cy="194584"/>
          </a:xfrm>
          <a:prstGeom prst="rect">
            <a:avLst/>
          </a:prstGeom>
        </p:spPr>
      </p:pic>
      <p:sp>
        <p:nvSpPr>
          <p:cNvPr id="139" name="TextBox 138"/>
          <p:cNvSpPr txBox="1"/>
          <p:nvPr/>
        </p:nvSpPr>
        <p:spPr>
          <a:xfrm>
            <a:off x="987552" y="3291840"/>
            <a:ext cx="1993392" cy="347472"/>
          </a:xfrm>
          <a:prstGeom prst="rect">
            <a:avLst/>
          </a:prstGeom>
          <a:noFill/>
        </p:spPr>
        <p:txBody>
          <a:bodyPr wrap="square" lIns="0" tIns="0" rIns="0" bIns="0" anchor="ctr">
            <a:noAutofit/>
          </a:bodyPr>
          <a:lstStyle/>
          <a:p>
            <a:pPr algn="l"/>
            <a:r>
              <a:rPr sz="1150" b="1">
                <a:solidFill>
                  <a:srgbClr val="202124"/>
                </a:solidFill>
                <a:latin typeface="Arial"/>
              </a:rPr>
              <a:t>Backend</a:t>
            </a:r>
          </a:p>
        </p:txBody>
      </p:sp>
      <p:sp>
        <p:nvSpPr>
          <p:cNvPr id="140" name="TextBox 139"/>
          <p:cNvSpPr txBox="1"/>
          <p:nvPr/>
        </p:nvSpPr>
        <p:spPr>
          <a:xfrm>
            <a:off x="530352" y="375818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FastAPI</a:t>
            </a:r>
            <a:r>
              <a:rPr sz="950" b="0">
                <a:solidFill>
                  <a:srgbClr val="5F6368"/>
                </a:solidFill>
                <a:latin typeface="Arial"/>
              </a:rPr>
              <a:t>  REST and server-sent events</a:t>
            </a:r>
          </a:p>
          <a:p>
            <a:pPr algn="l">
              <a:spcAft>
                <a:spcPts val="800"/>
              </a:spcAft>
            </a:pPr>
            <a:r>
              <a:rPr sz="1100" b="1">
                <a:solidFill>
                  <a:srgbClr val="202124"/>
                </a:solidFill>
                <a:latin typeface="Arial"/>
              </a:rPr>
              <a:t>Pydantic 2</a:t>
            </a:r>
            <a:r>
              <a:rPr sz="950" b="0">
                <a:solidFill>
                  <a:srgbClr val="5F6368"/>
                </a:solidFill>
                <a:latin typeface="Arial"/>
              </a:rPr>
              <a:t>  typed tools and schemas</a:t>
            </a:r>
          </a:p>
          <a:p>
            <a:pPr algn="l">
              <a:spcAft>
                <a:spcPts val="800"/>
              </a:spcAft>
            </a:pPr>
            <a:r>
              <a:rPr sz="1100" b="1">
                <a:solidFill>
                  <a:srgbClr val="202124"/>
                </a:solidFill>
                <a:latin typeface="Arial"/>
              </a:rPr>
              <a:t>pypdf</a:t>
            </a:r>
            <a:r>
              <a:rPr sz="950" b="0">
                <a:solidFill>
                  <a:srgbClr val="5F6368"/>
                </a:solidFill>
                <a:latin typeface="Arial"/>
              </a:rPr>
              <a:t>  notice parsing</a:t>
            </a:r>
          </a:p>
        </p:txBody>
      </p:sp>
      <p:sp>
        <p:nvSpPr>
          <p:cNvPr id="141" name="Rounded Rectangle 140"/>
          <p:cNvSpPr/>
          <p:nvPr/>
        </p:nvSpPr>
        <p:spPr>
          <a:xfrm>
            <a:off x="3232403" y="3154680"/>
            <a:ext cx="2679192" cy="1600200"/>
          </a:xfrm>
          <a:prstGeom prst="roundRect">
            <a:avLst>
              <a:gd name="adj" fmla="val 4571"/>
            </a:avLst>
          </a:prstGeom>
          <a:solidFill>
            <a:srgbClr val="F8F9FA"/>
          </a:solidFill>
          <a:ln>
            <a:noFill/>
          </a:ln>
        </p:spPr>
        <p:txBody>
          <a:bodyPr rtlCol="0" anchor="ctr"/>
          <a:lstStyle/>
          <a:p>
            <a:pPr algn="ctr"/>
            <a:endParaRPr/>
          </a:p>
        </p:txBody>
      </p:sp>
      <p:sp>
        <p:nvSpPr>
          <p:cNvPr id="142" name="Oval 141"/>
          <p:cNvSpPr/>
          <p:nvPr/>
        </p:nvSpPr>
        <p:spPr>
          <a:xfrm>
            <a:off x="3378708" y="3291840"/>
            <a:ext cx="347472" cy="347472"/>
          </a:xfrm>
          <a:prstGeom prst="ellipse">
            <a:avLst/>
          </a:prstGeom>
          <a:solidFill>
            <a:srgbClr val="4285F4"/>
          </a:solidFill>
          <a:ln>
            <a:noFill/>
          </a:ln>
        </p:spPr>
        <p:txBody>
          <a:bodyPr rtlCol="0" anchor="ctr"/>
          <a:lstStyle/>
          <a:p>
            <a:pPr algn="ctr"/>
            <a:endParaRPr/>
          </a:p>
        </p:txBody>
      </p:sp>
      <p:pic>
        <p:nvPicPr>
          <p:cNvPr id="143" name="Picture 142" descr="Monitor_w.png"/>
          <p:cNvPicPr>
            <a:picLocks noChangeAspect="1"/>
          </p:cNvPicPr>
          <p:nvPr/>
        </p:nvPicPr>
        <p:blipFill>
          <a:blip r:embed="rId9"/>
          <a:stretch>
            <a:fillRect/>
          </a:stretch>
        </p:blipFill>
        <p:spPr>
          <a:xfrm>
            <a:off x="3455151" y="3368283"/>
            <a:ext cx="194584" cy="194584"/>
          </a:xfrm>
          <a:prstGeom prst="rect">
            <a:avLst/>
          </a:prstGeom>
        </p:spPr>
      </p:pic>
      <p:sp>
        <p:nvSpPr>
          <p:cNvPr id="144" name="TextBox 143"/>
          <p:cNvSpPr txBox="1"/>
          <p:nvPr/>
        </p:nvSpPr>
        <p:spPr>
          <a:xfrm>
            <a:off x="3854196" y="3291840"/>
            <a:ext cx="1993392" cy="347472"/>
          </a:xfrm>
          <a:prstGeom prst="rect">
            <a:avLst/>
          </a:prstGeom>
          <a:noFill/>
        </p:spPr>
        <p:txBody>
          <a:bodyPr wrap="square" lIns="0" tIns="0" rIns="0" bIns="0" anchor="ctr">
            <a:noAutofit/>
          </a:bodyPr>
          <a:lstStyle/>
          <a:p>
            <a:pPr algn="l"/>
            <a:r>
              <a:rPr sz="1150" b="1">
                <a:solidFill>
                  <a:srgbClr val="202124"/>
                </a:solidFill>
                <a:latin typeface="Arial"/>
              </a:rPr>
              <a:t>Frontend</a:t>
            </a:r>
          </a:p>
        </p:txBody>
      </p:sp>
      <p:sp>
        <p:nvSpPr>
          <p:cNvPr id="145" name="TextBox 144"/>
          <p:cNvSpPr txBox="1"/>
          <p:nvPr/>
        </p:nvSpPr>
        <p:spPr>
          <a:xfrm>
            <a:off x="3396996" y="375818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Next.js 16, React 19</a:t>
            </a:r>
            <a:r>
              <a:rPr sz="950" b="0">
                <a:solidFill>
                  <a:srgbClr val="5F6368"/>
                </a:solidFill>
                <a:latin typeface="Arial"/>
              </a:rPr>
              <a:t>  TypeScript</a:t>
            </a:r>
          </a:p>
          <a:p>
            <a:pPr algn="l">
              <a:spcAft>
                <a:spcPts val="800"/>
              </a:spcAft>
            </a:pPr>
            <a:r>
              <a:rPr sz="1100" b="1">
                <a:solidFill>
                  <a:srgbClr val="202124"/>
                </a:solidFill>
                <a:latin typeface="Arial"/>
              </a:rPr>
              <a:t>React Flow</a:t>
            </a:r>
            <a:r>
              <a:rPr sz="950" b="0">
                <a:solidFill>
                  <a:srgbClr val="5F6368"/>
                </a:solidFill>
                <a:latin typeface="Arial"/>
              </a:rPr>
              <a:t>  dependency map</a:t>
            </a:r>
          </a:p>
          <a:p>
            <a:pPr algn="l">
              <a:spcAft>
                <a:spcPts val="800"/>
              </a:spcAft>
            </a:pPr>
            <a:r>
              <a:rPr sz="1100" b="1">
                <a:solidFill>
                  <a:srgbClr val="202124"/>
                </a:solidFill>
                <a:latin typeface="Arial"/>
              </a:rPr>
              <a:t>Recharts, Tailwind 4</a:t>
            </a:r>
            <a:r>
              <a:rPr sz="950" b="0">
                <a:solidFill>
                  <a:srgbClr val="5F6368"/>
                </a:solidFill>
                <a:latin typeface="Arial"/>
              </a:rPr>
              <a:t>  charts and UI</a:t>
            </a:r>
          </a:p>
        </p:txBody>
      </p:sp>
      <p:sp>
        <p:nvSpPr>
          <p:cNvPr id="146" name="Rounded Rectangle 145"/>
          <p:cNvSpPr/>
          <p:nvPr/>
        </p:nvSpPr>
        <p:spPr>
          <a:xfrm>
            <a:off x="6099048" y="3154680"/>
            <a:ext cx="2679192" cy="1600200"/>
          </a:xfrm>
          <a:prstGeom prst="roundRect">
            <a:avLst>
              <a:gd name="adj" fmla="val 4571"/>
            </a:avLst>
          </a:prstGeom>
          <a:solidFill>
            <a:srgbClr val="F8F9FA"/>
          </a:solidFill>
          <a:ln>
            <a:noFill/>
          </a:ln>
        </p:spPr>
        <p:txBody>
          <a:bodyPr rtlCol="0" anchor="ctr"/>
          <a:lstStyle/>
          <a:p>
            <a:pPr algn="ctr"/>
            <a:endParaRPr/>
          </a:p>
        </p:txBody>
      </p:sp>
      <p:sp>
        <p:nvSpPr>
          <p:cNvPr id="147" name="Oval 146"/>
          <p:cNvSpPr/>
          <p:nvPr/>
        </p:nvSpPr>
        <p:spPr>
          <a:xfrm>
            <a:off x="6245352" y="3291840"/>
            <a:ext cx="347472" cy="347472"/>
          </a:xfrm>
          <a:prstGeom prst="ellipse">
            <a:avLst/>
          </a:prstGeom>
          <a:solidFill>
            <a:srgbClr val="34A853"/>
          </a:solidFill>
          <a:ln>
            <a:noFill/>
          </a:ln>
        </p:spPr>
        <p:txBody>
          <a:bodyPr rtlCol="0" anchor="ctr"/>
          <a:lstStyle/>
          <a:p>
            <a:pPr algn="ctr"/>
            <a:endParaRPr/>
          </a:p>
        </p:txBody>
      </p:sp>
      <p:pic>
        <p:nvPicPr>
          <p:cNvPr id="148" name="Picture 147" descr="Cloud_w.png"/>
          <p:cNvPicPr>
            <a:picLocks noChangeAspect="1"/>
          </p:cNvPicPr>
          <p:nvPr/>
        </p:nvPicPr>
        <p:blipFill>
          <a:blip r:embed="rId10"/>
          <a:stretch>
            <a:fillRect/>
          </a:stretch>
        </p:blipFill>
        <p:spPr>
          <a:xfrm>
            <a:off x="6321795" y="3368283"/>
            <a:ext cx="194584" cy="194584"/>
          </a:xfrm>
          <a:prstGeom prst="rect">
            <a:avLst/>
          </a:prstGeom>
        </p:spPr>
      </p:pic>
      <p:sp>
        <p:nvSpPr>
          <p:cNvPr id="149" name="TextBox 148"/>
          <p:cNvSpPr txBox="1"/>
          <p:nvPr/>
        </p:nvSpPr>
        <p:spPr>
          <a:xfrm>
            <a:off x="6720840" y="3291840"/>
            <a:ext cx="1993392" cy="347472"/>
          </a:xfrm>
          <a:prstGeom prst="rect">
            <a:avLst/>
          </a:prstGeom>
          <a:noFill/>
        </p:spPr>
        <p:txBody>
          <a:bodyPr wrap="square" lIns="0" tIns="0" rIns="0" bIns="0" anchor="ctr">
            <a:noAutofit/>
          </a:bodyPr>
          <a:lstStyle/>
          <a:p>
            <a:pPr algn="l"/>
            <a:r>
              <a:rPr sz="1150" b="1">
                <a:solidFill>
                  <a:srgbClr val="202124"/>
                </a:solidFill>
                <a:latin typeface="Arial"/>
              </a:rPr>
              <a:t>Cloud and quality</a:t>
            </a:r>
          </a:p>
        </p:txBody>
      </p:sp>
      <p:sp>
        <p:nvSpPr>
          <p:cNvPr id="150" name="TextBox 149"/>
          <p:cNvSpPr txBox="1"/>
          <p:nvPr/>
        </p:nvSpPr>
        <p:spPr>
          <a:xfrm>
            <a:off x="6263640" y="3758184"/>
            <a:ext cx="2395728" cy="914400"/>
          </a:xfrm>
          <a:prstGeom prst="rect">
            <a:avLst/>
          </a:prstGeom>
          <a:noFill/>
        </p:spPr>
        <p:txBody>
          <a:bodyPr wrap="square" lIns="0" tIns="0" rIns="0" bIns="0" anchor="t">
            <a:noAutofit/>
          </a:bodyPr>
          <a:lstStyle/>
          <a:p>
            <a:pPr algn="l">
              <a:spcAft>
                <a:spcPts val="800"/>
              </a:spcAft>
            </a:pPr>
            <a:r>
              <a:rPr sz="1100" b="1">
                <a:solidFill>
                  <a:srgbClr val="202124"/>
                </a:solidFill>
                <a:latin typeface="Arial"/>
              </a:rPr>
              <a:t>Cloud Run</a:t>
            </a:r>
            <a:r>
              <a:rPr sz="950" b="0">
                <a:solidFill>
                  <a:srgbClr val="5F6368"/>
                </a:solidFill>
                <a:latin typeface="Arial"/>
              </a:rPr>
              <a:t>  web and API services</a:t>
            </a:r>
          </a:p>
          <a:p>
            <a:pPr algn="l">
              <a:spcAft>
                <a:spcPts val="800"/>
              </a:spcAft>
            </a:pPr>
            <a:r>
              <a:rPr sz="1100" b="1">
                <a:solidFill>
                  <a:srgbClr val="202124"/>
                </a:solidFill>
                <a:latin typeface="Arial"/>
              </a:rPr>
              <a:t>Cloud Build</a:t>
            </a:r>
            <a:r>
              <a:rPr sz="950" b="0">
                <a:solidFill>
                  <a:srgbClr val="5F6368"/>
                </a:solidFill>
                <a:latin typeface="Arial"/>
              </a:rPr>
              <a:t>  source deploys</a:t>
            </a:r>
          </a:p>
          <a:p>
            <a:pPr algn="l">
              <a:spcAft>
                <a:spcPts val="800"/>
              </a:spcAft>
            </a:pPr>
            <a:r>
              <a:rPr sz="1100" b="1">
                <a:solidFill>
                  <a:srgbClr val="202124"/>
                </a:solidFill>
                <a:latin typeface="Arial"/>
              </a:rPr>
              <a:t>pytest</a:t>
            </a:r>
            <a:r>
              <a:rPr sz="950" b="0">
                <a:solidFill>
                  <a:srgbClr val="5F6368"/>
                </a:solidFill>
                <a:latin typeface="Arial"/>
              </a:rPr>
              <a:t>  92 automated tests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Estimated implementation cost (optional)</a:t>
            </a:r>
          </a:p>
        </p:txBody>
      </p:sp>
      <p:sp>
        <p:nvSpPr>
          <p:cNvPr id="128"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A one-site pilot runs for roughly $50–120 a month</a:t>
            </a:r>
          </a:p>
        </p:txBody>
      </p:sp>
      <p:graphicFrame>
        <p:nvGraphicFramePr>
          <p:cNvPr id="129" name="Table 128"/>
          <p:cNvGraphicFramePr>
            <a:graphicFrameLocks noGrp="1"/>
          </p:cNvGraphicFramePr>
          <p:nvPr/>
        </p:nvGraphicFramePr>
        <p:xfrm>
          <a:off x="365760" y="1417320"/>
          <a:ext cx="5394960" cy="25603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65760">
                <a:tc>
                  <a:txBody>
                    <a:bodyPr/>
                    <a:lstStyle/>
                    <a:p>
                      <a:pPr algn="l"/>
                      <a:r>
                        <a:rPr sz="1000" b="1">
                          <a:solidFill>
                            <a:srgbClr val="FFFFFF"/>
                          </a:solidFill>
                          <a:latin typeface="Arial"/>
                        </a:rPr>
                        <a:t>Component</a:t>
                      </a:r>
                    </a:p>
                  </a:txBody>
                  <a:tcPr marT="27432" marB="27432" anchor="ctr">
                    <a:solidFill>
                      <a:srgbClr val="202124"/>
                    </a:solidFill>
                  </a:tcPr>
                </a:tc>
                <a:tc>
                  <a:txBody>
                    <a:bodyPr/>
                    <a:lstStyle/>
                    <a:p>
                      <a:pPr algn="l"/>
                      <a:r>
                        <a:rPr sz="1000" b="1">
                          <a:solidFill>
                            <a:srgbClr val="FFFFFF"/>
                          </a:solidFill>
                          <a:latin typeface="Arial"/>
                        </a:rPr>
                        <a:t>Sizing</a:t>
                      </a:r>
                    </a:p>
                  </a:txBody>
                  <a:tcPr marT="27432" marB="27432" anchor="ctr">
                    <a:solidFill>
                      <a:srgbClr val="202124"/>
                    </a:solidFill>
                  </a:tcPr>
                </a:tc>
                <a:tc>
                  <a:txBody>
                    <a:bodyPr/>
                    <a:lstStyle/>
                    <a:p>
                      <a:pPr algn="r"/>
                      <a:r>
                        <a:rPr sz="1000" b="1">
                          <a:solidFill>
                            <a:srgbClr val="FFFFFF"/>
                          </a:solidFill>
                          <a:latin typeface="Arial"/>
                        </a:rPr>
                        <a:t>Est. / month</a:t>
                      </a:r>
                    </a:p>
                  </a:txBody>
                  <a:tcPr marT="27432" marB="27432" anchor="ctr">
                    <a:solidFill>
                      <a:srgbClr val="202124"/>
                    </a:solidFill>
                  </a:tcPr>
                </a:tc>
                <a:extLst>
                  <a:ext uri="{0D108BD9-81ED-4DB2-BD59-A6C34878D82A}">
                    <a16:rowId xmlns:a16="http://schemas.microsoft.com/office/drawing/2014/main" val="10000"/>
                  </a:ext>
                </a:extLst>
              </a:tr>
              <a:tr h="365760">
                <a:tc>
                  <a:txBody>
                    <a:bodyPr/>
                    <a:lstStyle/>
                    <a:p>
                      <a:pPr algn="l"/>
                      <a:r>
                        <a:rPr sz="1000" b="0">
                          <a:solidFill>
                            <a:srgbClr val="202124"/>
                          </a:solidFill>
                          <a:latin typeface="Arial"/>
                        </a:rPr>
                        <a:t>Cloud Run · API</a:t>
                      </a:r>
                    </a:p>
                  </a:txBody>
                  <a:tcPr marT="27432" marB="27432" anchor="ctr">
                    <a:solidFill>
                      <a:srgbClr val="FFFFFF"/>
                    </a:solidFill>
                  </a:tcPr>
                </a:tc>
                <a:tc>
                  <a:txBody>
                    <a:bodyPr/>
                    <a:lstStyle/>
                    <a:p>
                      <a:pPr algn="l"/>
                      <a:r>
                        <a:rPr sz="1000" b="0">
                          <a:solidFill>
                            <a:srgbClr val="5F6368"/>
                          </a:solidFill>
                          <a:latin typeface="Arial"/>
                        </a:rPr>
                        <a:t>1 vCPU, 2 GiB, 1 warm instance</a:t>
                      </a:r>
                    </a:p>
                  </a:txBody>
                  <a:tcPr marT="27432" marB="27432" anchor="ctr">
                    <a:solidFill>
                      <a:srgbClr val="FFFFFF"/>
                    </a:solidFill>
                  </a:tcPr>
                </a:tc>
                <a:tc>
                  <a:txBody>
                    <a:bodyPr/>
                    <a:lstStyle/>
                    <a:p>
                      <a:pPr algn="r"/>
                      <a:r>
                        <a:rPr sz="1000" b="1">
                          <a:solidFill>
                            <a:srgbClr val="202124"/>
                          </a:solidFill>
                          <a:latin typeface="Arial"/>
                        </a:rPr>
                        <a:t>$20–60</a:t>
                      </a:r>
                    </a:p>
                  </a:txBody>
                  <a:tcPr marT="27432" marB="27432" anchor="ctr">
                    <a:solidFill>
                      <a:srgbClr val="FFFFFF"/>
                    </a:solidFill>
                  </a:tcPr>
                </a:tc>
                <a:extLst>
                  <a:ext uri="{0D108BD9-81ED-4DB2-BD59-A6C34878D82A}">
                    <a16:rowId xmlns:a16="http://schemas.microsoft.com/office/drawing/2014/main" val="10001"/>
                  </a:ext>
                </a:extLst>
              </a:tr>
              <a:tr h="365760">
                <a:tc>
                  <a:txBody>
                    <a:bodyPr/>
                    <a:lstStyle/>
                    <a:p>
                      <a:pPr algn="l"/>
                      <a:r>
                        <a:rPr sz="1000" b="0">
                          <a:solidFill>
                            <a:srgbClr val="202124"/>
                          </a:solidFill>
                          <a:latin typeface="Arial"/>
                        </a:rPr>
                        <a:t>Cloud Run · web</a:t>
                      </a:r>
                    </a:p>
                  </a:txBody>
                  <a:tcPr marT="27432" marB="27432" anchor="ctr">
                    <a:solidFill>
                      <a:srgbClr val="F8F9FA"/>
                    </a:solidFill>
                  </a:tcPr>
                </a:tc>
                <a:tc>
                  <a:txBody>
                    <a:bodyPr/>
                    <a:lstStyle/>
                    <a:p>
                      <a:pPr algn="l"/>
                      <a:r>
                        <a:rPr sz="1000" b="0">
                          <a:solidFill>
                            <a:srgbClr val="5F6368"/>
                          </a:solidFill>
                          <a:latin typeface="Arial"/>
                        </a:rPr>
                        <a:t>1 vCPU, 512 MiB, scales to zero</a:t>
                      </a:r>
                    </a:p>
                  </a:txBody>
                  <a:tcPr marT="27432" marB="27432" anchor="ctr">
                    <a:solidFill>
                      <a:srgbClr val="F8F9FA"/>
                    </a:solidFill>
                  </a:tcPr>
                </a:tc>
                <a:tc>
                  <a:txBody>
                    <a:bodyPr/>
                    <a:lstStyle/>
                    <a:p>
                      <a:pPr algn="r"/>
                      <a:r>
                        <a:rPr sz="1000" b="1">
                          <a:solidFill>
                            <a:srgbClr val="202124"/>
                          </a:solidFill>
                          <a:latin typeface="Arial"/>
                        </a:rPr>
                        <a:t>&lt; $5</a:t>
                      </a:r>
                    </a:p>
                  </a:txBody>
                  <a:tcPr marT="27432" marB="27432" anchor="ctr">
                    <a:solidFill>
                      <a:srgbClr val="F8F9FA"/>
                    </a:solidFill>
                  </a:tcPr>
                </a:tc>
                <a:extLst>
                  <a:ext uri="{0D108BD9-81ED-4DB2-BD59-A6C34878D82A}">
                    <a16:rowId xmlns:a16="http://schemas.microsoft.com/office/drawing/2014/main" val="10002"/>
                  </a:ext>
                </a:extLst>
              </a:tr>
              <a:tr h="365760">
                <a:tc>
                  <a:txBody>
                    <a:bodyPr/>
                    <a:lstStyle/>
                    <a:p>
                      <a:pPr algn="l"/>
                      <a:r>
                        <a:rPr sz="1000" b="0">
                          <a:solidFill>
                            <a:srgbClr val="202124"/>
                          </a:solidFill>
                          <a:latin typeface="Arial"/>
                        </a:rPr>
                        <a:t>BigQuery storage and queries</a:t>
                      </a:r>
                    </a:p>
                  </a:txBody>
                  <a:tcPr marT="27432" marB="27432" anchor="ctr">
                    <a:solidFill>
                      <a:srgbClr val="FFFFFF"/>
                    </a:solidFill>
                  </a:tcPr>
                </a:tc>
                <a:tc>
                  <a:txBody>
                    <a:bodyPr/>
                    <a:lstStyle/>
                    <a:p>
                      <a:pPr algn="l"/>
                      <a:r>
                        <a:rPr sz="1000" b="0">
                          <a:solidFill>
                            <a:srgbClr val="5F6368"/>
                          </a:solidFill>
                          <a:latin typeface="Arial"/>
                        </a:rPr>
                        <a:t>17 tables, MB-scale data</a:t>
                      </a:r>
                    </a:p>
                  </a:txBody>
                  <a:tcPr marT="27432" marB="27432" anchor="ctr">
                    <a:solidFill>
                      <a:srgbClr val="FFFFFF"/>
                    </a:solidFill>
                  </a:tcPr>
                </a:tc>
                <a:tc>
                  <a:txBody>
                    <a:bodyPr/>
                    <a:lstStyle/>
                    <a:p>
                      <a:pPr algn="r"/>
                      <a:r>
                        <a:rPr sz="1000" b="1">
                          <a:solidFill>
                            <a:srgbClr val="202124"/>
                          </a:solidFill>
                          <a:latin typeface="Arial"/>
                        </a:rPr>
                        <a:t>&lt; $5</a:t>
                      </a:r>
                    </a:p>
                  </a:txBody>
                  <a:tcPr marT="27432" marB="27432" anchor="ctr">
                    <a:solidFill>
                      <a:srgbClr val="FFFFFF"/>
                    </a:solidFill>
                  </a:tcPr>
                </a:tc>
                <a:extLst>
                  <a:ext uri="{0D108BD9-81ED-4DB2-BD59-A6C34878D82A}">
                    <a16:rowId xmlns:a16="http://schemas.microsoft.com/office/drawing/2014/main" val="10003"/>
                  </a:ext>
                </a:extLst>
              </a:tr>
              <a:tr h="365760">
                <a:tc>
                  <a:txBody>
                    <a:bodyPr/>
                    <a:lstStyle/>
                    <a:p>
                      <a:pPr algn="l"/>
                      <a:r>
                        <a:rPr sz="1000" b="0">
                          <a:solidFill>
                            <a:srgbClr val="202124"/>
                          </a:solidFill>
                          <a:latin typeface="Arial"/>
                        </a:rPr>
                        <a:t>BigQuery Graph slots</a:t>
                      </a:r>
                    </a:p>
                  </a:txBody>
                  <a:tcPr marT="27432" marB="27432" anchor="ctr">
                    <a:solidFill>
                      <a:srgbClr val="F8F9FA"/>
                    </a:solidFill>
                  </a:tcPr>
                </a:tc>
                <a:tc>
                  <a:txBody>
                    <a:bodyPr/>
                    <a:lstStyle/>
                    <a:p>
                      <a:pPr algn="l"/>
                      <a:r>
                        <a:rPr sz="1000" b="0">
                          <a:solidFill>
                            <a:srgbClr val="5F6368"/>
                          </a:solidFill>
                          <a:latin typeface="Arial"/>
                        </a:rPr>
                        <a:t>Enterprise, baseline 0, autoscale ≤ 50</a:t>
                      </a:r>
                    </a:p>
                  </a:txBody>
                  <a:tcPr marT="27432" marB="27432" anchor="ctr">
                    <a:solidFill>
                      <a:srgbClr val="F8F9FA"/>
                    </a:solidFill>
                  </a:tcPr>
                </a:tc>
                <a:tc>
                  <a:txBody>
                    <a:bodyPr/>
                    <a:lstStyle/>
                    <a:p>
                      <a:pPr algn="r"/>
                      <a:r>
                        <a:rPr sz="1000" b="1">
                          <a:solidFill>
                            <a:srgbClr val="202124"/>
                          </a:solidFill>
                          <a:latin typeface="Arial"/>
                        </a:rPr>
                        <a:t>$10–30</a:t>
                      </a:r>
                    </a:p>
                  </a:txBody>
                  <a:tcPr marT="27432" marB="27432" anchor="ctr">
                    <a:solidFill>
                      <a:srgbClr val="F8F9FA"/>
                    </a:solidFill>
                  </a:tcPr>
                </a:tc>
                <a:extLst>
                  <a:ext uri="{0D108BD9-81ED-4DB2-BD59-A6C34878D82A}">
                    <a16:rowId xmlns:a16="http://schemas.microsoft.com/office/drawing/2014/main" val="10004"/>
                  </a:ext>
                </a:extLst>
              </a:tr>
              <a:tr h="365760">
                <a:tc>
                  <a:txBody>
                    <a:bodyPr/>
                    <a:lstStyle/>
                    <a:p>
                      <a:pPr algn="l"/>
                      <a:r>
                        <a:rPr sz="1000" b="0">
                          <a:solidFill>
                            <a:srgbClr val="202124"/>
                          </a:solidFill>
                          <a:latin typeface="Arial"/>
                        </a:rPr>
                        <a:t>Gemini 2.5 Flash</a:t>
                      </a:r>
                    </a:p>
                  </a:txBody>
                  <a:tcPr marT="27432" marB="27432" anchor="ctr">
                    <a:solidFill>
                      <a:srgbClr val="FFFFFF"/>
                    </a:solidFill>
                  </a:tcPr>
                </a:tc>
                <a:tc>
                  <a:txBody>
                    <a:bodyPr/>
                    <a:lstStyle/>
                    <a:p>
                      <a:pPr algn="l"/>
                      <a:r>
                        <a:rPr sz="1000" b="0">
                          <a:solidFill>
                            <a:srgbClr val="5F6368"/>
                          </a:solidFill>
                          <a:latin typeface="Arial"/>
                        </a:rPr>
                        <a:t>~200 change events, 9 agents each</a:t>
                      </a:r>
                    </a:p>
                  </a:txBody>
                  <a:tcPr marT="27432" marB="27432" anchor="ctr">
                    <a:solidFill>
                      <a:srgbClr val="FFFFFF"/>
                    </a:solidFill>
                  </a:tcPr>
                </a:tc>
                <a:tc>
                  <a:txBody>
                    <a:bodyPr/>
                    <a:lstStyle/>
                    <a:p>
                      <a:pPr algn="r"/>
                      <a:r>
                        <a:rPr sz="1000" b="1">
                          <a:solidFill>
                            <a:srgbClr val="202124"/>
                          </a:solidFill>
                          <a:latin typeface="Arial"/>
                        </a:rPr>
                        <a:t>$10–20</a:t>
                      </a:r>
                    </a:p>
                  </a:txBody>
                  <a:tcPr marT="27432" marB="27432" anchor="ctr">
                    <a:solidFill>
                      <a:srgbClr val="FFFFFF"/>
                    </a:solidFill>
                  </a:tcPr>
                </a:tc>
                <a:extLst>
                  <a:ext uri="{0D108BD9-81ED-4DB2-BD59-A6C34878D82A}">
                    <a16:rowId xmlns:a16="http://schemas.microsoft.com/office/drawing/2014/main" val="10005"/>
                  </a:ext>
                </a:extLst>
              </a:tr>
              <a:tr h="365760">
                <a:tc>
                  <a:txBody>
                    <a:bodyPr/>
                    <a:lstStyle/>
                    <a:p>
                      <a:pPr algn="l"/>
                      <a:r>
                        <a:rPr sz="1000" b="1">
                          <a:solidFill>
                            <a:srgbClr val="1967D2"/>
                          </a:solidFill>
                          <a:latin typeface="Arial"/>
                        </a:rPr>
                        <a:t>Total, one-site pilot</a:t>
                      </a:r>
                    </a:p>
                  </a:txBody>
                  <a:tcPr marT="27432" marB="27432" anchor="ctr">
                    <a:solidFill>
                      <a:srgbClr val="E8F0FE"/>
                    </a:solidFill>
                  </a:tcPr>
                </a:tc>
                <a:tc>
                  <a:txBody>
                    <a:bodyPr/>
                    <a:lstStyle/>
                    <a:p>
                      <a:pPr algn="l"/>
                      <a:endParaRPr/>
                    </a:p>
                  </a:txBody>
                  <a:tcPr marT="27432" marB="27432" anchor="ctr">
                    <a:solidFill>
                      <a:srgbClr val="E8F0FE"/>
                    </a:solidFill>
                  </a:tcPr>
                </a:tc>
                <a:tc>
                  <a:txBody>
                    <a:bodyPr/>
                    <a:lstStyle/>
                    <a:p>
                      <a:pPr algn="r"/>
                      <a:r>
                        <a:rPr sz="1000" b="1">
                          <a:solidFill>
                            <a:srgbClr val="1967D2"/>
                          </a:solidFill>
                          <a:latin typeface="Arial"/>
                        </a:rPr>
                        <a:t>≈ $50–120</a:t>
                      </a:r>
                    </a:p>
                  </a:txBody>
                  <a:tcPr marT="27432" marB="27432" anchor="ctr">
                    <a:solidFill>
                      <a:srgbClr val="E8F0FE"/>
                    </a:solidFill>
                  </a:tcPr>
                </a:tc>
                <a:extLst>
                  <a:ext uri="{0D108BD9-81ED-4DB2-BD59-A6C34878D82A}">
                    <a16:rowId xmlns:a16="http://schemas.microsoft.com/office/drawing/2014/main" val="10006"/>
                  </a:ext>
                </a:extLst>
              </a:tr>
            </a:tbl>
          </a:graphicData>
        </a:graphic>
      </p:graphicFrame>
      <p:sp>
        <p:nvSpPr>
          <p:cNvPr id="130" name="TextBox 129"/>
          <p:cNvSpPr txBox="1"/>
          <p:nvPr/>
        </p:nvSpPr>
        <p:spPr>
          <a:xfrm>
            <a:off x="365760" y="4160520"/>
            <a:ext cx="5394960" cy="548640"/>
          </a:xfrm>
          <a:prstGeom prst="rect">
            <a:avLst/>
          </a:prstGeom>
          <a:noFill/>
        </p:spPr>
        <p:txBody>
          <a:bodyPr wrap="square" lIns="0" tIns="0" rIns="0" bIns="0" anchor="t">
            <a:noAutofit/>
          </a:bodyPr>
          <a:lstStyle/>
          <a:p>
            <a:pPr algn="l"/>
            <a:r>
              <a:rPr sz="850" b="0">
                <a:solidFill>
                  <a:srgbClr val="5F6368"/>
                </a:solidFill>
                <a:latin typeface="Arial"/>
              </a:rPr>
              <a:t>Estimates from Google Cloud list prices (us-central1) and the current deployment’s sizing, not a quote. Validate with the Google Cloud Pricing Calculator.</a:t>
            </a:r>
          </a:p>
        </p:txBody>
      </p:sp>
      <p:sp>
        <p:nvSpPr>
          <p:cNvPr id="131" name="Rounded Rectangle 130"/>
          <p:cNvSpPr/>
          <p:nvPr/>
        </p:nvSpPr>
        <p:spPr>
          <a:xfrm>
            <a:off x="6035040" y="1417320"/>
            <a:ext cx="2743200" cy="987552"/>
          </a:xfrm>
          <a:prstGeom prst="roundRect">
            <a:avLst>
              <a:gd name="adj" fmla="val 7407"/>
            </a:avLst>
          </a:prstGeom>
          <a:solidFill>
            <a:srgbClr val="F8F9FA"/>
          </a:solidFill>
          <a:ln>
            <a:noFill/>
          </a:ln>
        </p:spPr>
        <p:txBody>
          <a:bodyPr rtlCol="0" anchor="ctr"/>
          <a:lstStyle/>
          <a:p>
            <a:pPr algn="ctr"/>
            <a:endParaRPr/>
          </a:p>
        </p:txBody>
      </p:sp>
      <p:sp>
        <p:nvSpPr>
          <p:cNvPr id="132" name="TextBox 131"/>
          <p:cNvSpPr txBox="1"/>
          <p:nvPr/>
        </p:nvSpPr>
        <p:spPr>
          <a:xfrm>
            <a:off x="6199632" y="1508760"/>
            <a:ext cx="2468880" cy="365760"/>
          </a:xfrm>
          <a:prstGeom prst="rect">
            <a:avLst/>
          </a:prstGeom>
          <a:noFill/>
        </p:spPr>
        <p:txBody>
          <a:bodyPr wrap="square" lIns="0" tIns="0" rIns="0" bIns="0" anchor="t">
            <a:noAutofit/>
          </a:bodyPr>
          <a:lstStyle/>
          <a:p>
            <a:pPr algn="l"/>
            <a:r>
              <a:rPr sz="1800" b="1">
                <a:solidFill>
                  <a:srgbClr val="4285F4"/>
                </a:solidFill>
                <a:latin typeface="Arial"/>
              </a:rPr>
              <a:t>≈ $0.10–0.25</a:t>
            </a:r>
          </a:p>
        </p:txBody>
      </p:sp>
      <p:sp>
        <p:nvSpPr>
          <p:cNvPr id="133" name="TextBox 132"/>
          <p:cNvSpPr txBox="1"/>
          <p:nvPr/>
        </p:nvSpPr>
        <p:spPr>
          <a:xfrm>
            <a:off x="6199632" y="1874519"/>
            <a:ext cx="2468880" cy="502920"/>
          </a:xfrm>
          <a:prstGeom prst="rect">
            <a:avLst/>
          </a:prstGeom>
          <a:noFill/>
        </p:spPr>
        <p:txBody>
          <a:bodyPr wrap="square" lIns="0" tIns="0" rIns="0" bIns="0" anchor="t">
            <a:noAutofit/>
          </a:bodyPr>
          <a:lstStyle/>
          <a:p>
            <a:pPr algn="l"/>
            <a:r>
              <a:rPr sz="1000" b="1">
                <a:solidFill>
                  <a:srgbClr val="202124"/>
                </a:solidFill>
                <a:latin typeface="Arial"/>
              </a:rPr>
              <a:t>per change event analyzed</a:t>
            </a:r>
          </a:p>
          <a:p>
            <a:pPr algn="l"/>
            <a:r>
              <a:rPr sz="850" b="0">
                <a:solidFill>
                  <a:srgbClr val="5F6368"/>
                </a:solidFill>
                <a:latin typeface="Arial"/>
              </a:rPr>
              <a:t>Gemini tokens for nine agents plus BigQuery Graph slot time</a:t>
            </a:r>
          </a:p>
        </p:txBody>
      </p:sp>
      <p:sp>
        <p:nvSpPr>
          <p:cNvPr id="134" name="Rounded Rectangle 133"/>
          <p:cNvSpPr/>
          <p:nvPr/>
        </p:nvSpPr>
        <p:spPr>
          <a:xfrm>
            <a:off x="6035040" y="2532888"/>
            <a:ext cx="2743200" cy="987552"/>
          </a:xfrm>
          <a:prstGeom prst="roundRect">
            <a:avLst>
              <a:gd name="adj" fmla="val 7407"/>
            </a:avLst>
          </a:prstGeom>
          <a:solidFill>
            <a:srgbClr val="F8F9FA"/>
          </a:solidFill>
          <a:ln>
            <a:noFill/>
          </a:ln>
        </p:spPr>
        <p:txBody>
          <a:bodyPr rtlCol="0" anchor="ctr"/>
          <a:lstStyle/>
          <a:p>
            <a:pPr algn="ctr"/>
            <a:endParaRPr/>
          </a:p>
        </p:txBody>
      </p:sp>
      <p:sp>
        <p:nvSpPr>
          <p:cNvPr id="135" name="TextBox 134"/>
          <p:cNvSpPr txBox="1"/>
          <p:nvPr/>
        </p:nvSpPr>
        <p:spPr>
          <a:xfrm>
            <a:off x="6199632" y="2624328"/>
            <a:ext cx="2468880" cy="365760"/>
          </a:xfrm>
          <a:prstGeom prst="rect">
            <a:avLst/>
          </a:prstGeom>
          <a:noFill/>
        </p:spPr>
        <p:txBody>
          <a:bodyPr wrap="square" lIns="0" tIns="0" rIns="0" bIns="0" anchor="t">
            <a:noAutofit/>
          </a:bodyPr>
          <a:lstStyle/>
          <a:p>
            <a:pPr algn="l"/>
            <a:r>
              <a:rPr sz="1800" b="1">
                <a:solidFill>
                  <a:srgbClr val="34A853"/>
                </a:solidFill>
                <a:latin typeface="Arial"/>
              </a:rPr>
              <a:t>$0</a:t>
            </a:r>
          </a:p>
        </p:txBody>
      </p:sp>
      <p:sp>
        <p:nvSpPr>
          <p:cNvPr id="136" name="TextBox 135"/>
          <p:cNvSpPr txBox="1"/>
          <p:nvPr/>
        </p:nvSpPr>
        <p:spPr>
          <a:xfrm>
            <a:off x="6199632" y="2990088"/>
            <a:ext cx="2468880" cy="502920"/>
          </a:xfrm>
          <a:prstGeom prst="rect">
            <a:avLst/>
          </a:prstGeom>
          <a:noFill/>
        </p:spPr>
        <p:txBody>
          <a:bodyPr wrap="square" lIns="0" tIns="0" rIns="0" bIns="0" anchor="t">
            <a:noAutofit/>
          </a:bodyPr>
          <a:lstStyle/>
          <a:p>
            <a:pPr algn="l"/>
            <a:r>
              <a:rPr sz="1000" b="1">
                <a:solidFill>
                  <a:srgbClr val="202124"/>
                </a:solidFill>
                <a:latin typeface="Arial"/>
              </a:rPr>
              <a:t>idle BigQuery slot cost</a:t>
            </a:r>
          </a:p>
          <a:p>
            <a:pPr algn="l"/>
            <a:r>
              <a:rPr sz="850" b="0">
                <a:solidFill>
                  <a:srgbClr val="5F6368"/>
                </a:solidFill>
                <a:latin typeface="Arial"/>
              </a:rPr>
              <a:t>Reservation baseline is 0 slots; it bills only while queries run</a:t>
            </a:r>
          </a:p>
        </p:txBody>
      </p:sp>
      <p:sp>
        <p:nvSpPr>
          <p:cNvPr id="137" name="Rounded Rectangle 136"/>
          <p:cNvSpPr/>
          <p:nvPr/>
        </p:nvSpPr>
        <p:spPr>
          <a:xfrm>
            <a:off x="6035040" y="3648456"/>
            <a:ext cx="2743200" cy="987552"/>
          </a:xfrm>
          <a:prstGeom prst="roundRect">
            <a:avLst>
              <a:gd name="adj" fmla="val 7407"/>
            </a:avLst>
          </a:prstGeom>
          <a:solidFill>
            <a:srgbClr val="F8F9FA"/>
          </a:solidFill>
          <a:ln>
            <a:noFill/>
          </a:ln>
        </p:spPr>
        <p:txBody>
          <a:bodyPr rtlCol="0" anchor="ctr"/>
          <a:lstStyle/>
          <a:p>
            <a:pPr algn="ctr"/>
            <a:endParaRPr/>
          </a:p>
        </p:txBody>
      </p:sp>
      <p:sp>
        <p:nvSpPr>
          <p:cNvPr id="138" name="TextBox 137"/>
          <p:cNvSpPr txBox="1"/>
          <p:nvPr/>
        </p:nvSpPr>
        <p:spPr>
          <a:xfrm>
            <a:off x="6199632" y="3739896"/>
            <a:ext cx="2468880" cy="365760"/>
          </a:xfrm>
          <a:prstGeom prst="rect">
            <a:avLst/>
          </a:prstGeom>
          <a:noFill/>
        </p:spPr>
        <p:txBody>
          <a:bodyPr wrap="square" lIns="0" tIns="0" rIns="0" bIns="0" anchor="t">
            <a:noAutofit/>
          </a:bodyPr>
          <a:lstStyle/>
          <a:p>
            <a:pPr algn="l"/>
            <a:r>
              <a:rPr sz="1800" b="1">
                <a:solidFill>
                  <a:srgbClr val="B06000"/>
                </a:solidFill>
                <a:latin typeface="Arial"/>
              </a:rPr>
              <a:t>$0</a:t>
            </a:r>
          </a:p>
        </p:txBody>
      </p:sp>
      <p:sp>
        <p:nvSpPr>
          <p:cNvPr id="139" name="TextBox 138"/>
          <p:cNvSpPr txBox="1"/>
          <p:nvPr/>
        </p:nvSpPr>
        <p:spPr>
          <a:xfrm>
            <a:off x="6199632" y="4105656"/>
            <a:ext cx="2468880" cy="502920"/>
          </a:xfrm>
          <a:prstGeom prst="rect">
            <a:avLst/>
          </a:prstGeom>
          <a:noFill/>
        </p:spPr>
        <p:txBody>
          <a:bodyPr wrap="square" lIns="0" tIns="0" rIns="0" bIns="0" anchor="t">
            <a:noAutofit/>
          </a:bodyPr>
          <a:lstStyle/>
          <a:p>
            <a:pPr algn="l"/>
            <a:r>
              <a:rPr sz="1000" b="1">
                <a:solidFill>
                  <a:srgbClr val="202124"/>
                </a:solidFill>
                <a:latin typeface="Arial"/>
              </a:rPr>
              <a:t>software licences</a:t>
            </a:r>
          </a:p>
          <a:p>
            <a:pPr algn="l"/>
            <a:r>
              <a:rPr sz="850" b="0">
                <a:solidFill>
                  <a:srgbClr val="5F6368"/>
                </a:solidFill>
                <a:latin typeface="Arial"/>
              </a:rPr>
              <a:t>ADK, OR-Tools, FastAPI and Next.js are open source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Snapshots of the prototype</a:t>
            </a:r>
          </a:p>
        </p:txBody>
      </p:sp>
      <p:sp>
        <p:nvSpPr>
          <p:cNvPr id="136"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See the whole ripple, then test a decision</a:t>
            </a:r>
          </a:p>
        </p:txBody>
      </p:sp>
      <p:pic>
        <p:nvPicPr>
          <p:cNvPr id="137" name="Picture 136" descr="Impact Analysis screen with dependency map and KPI cards"/>
          <p:cNvPicPr>
            <a:picLocks noChangeAspect="1"/>
          </p:cNvPicPr>
          <p:nvPr/>
        </p:nvPicPr>
        <p:blipFill>
          <a:blip r:embed="rId5"/>
          <a:stretch>
            <a:fillRect/>
          </a:stretch>
        </p:blipFill>
        <p:spPr>
          <a:xfrm>
            <a:off x="365760" y="1417320"/>
            <a:ext cx="4069080" cy="2852928"/>
          </a:xfrm>
          <a:prstGeom prst="rect">
            <a:avLst/>
          </a:prstGeom>
          <a:ln w="9525">
            <a:solidFill>
              <a:srgbClr val="DADCE0"/>
            </a:solidFill>
          </a:ln>
        </p:spPr>
      </p:pic>
      <p:sp>
        <p:nvSpPr>
          <p:cNvPr id="138" name="TextBox 137"/>
          <p:cNvSpPr txBox="1"/>
          <p:nvPr/>
        </p:nvSpPr>
        <p:spPr>
          <a:xfrm>
            <a:off x="3657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Impact Analysis</a:t>
            </a:r>
          </a:p>
          <a:p>
            <a:pPr algn="l"/>
            <a:r>
              <a:rPr sz="950" b="0">
                <a:solidFill>
                  <a:srgbClr val="5F6368"/>
                </a:solidFill>
                <a:latin typeface="Arial"/>
              </a:rPr>
              <a:t>BigQuery Graph traces every path from MCU-X100 to 12 products</a:t>
            </a:r>
          </a:p>
        </p:txBody>
      </p:sp>
      <p:pic>
        <p:nvPicPr>
          <p:cNvPr id="139" name="Picture 138" descr="Scenario Simulator screen comparing current and MCU-X200 scenario"/>
          <p:cNvPicPr>
            <a:picLocks noChangeAspect="1"/>
          </p:cNvPicPr>
          <p:nvPr/>
        </p:nvPicPr>
        <p:blipFill>
          <a:blip r:embed="rId6"/>
          <a:stretch>
            <a:fillRect/>
          </a:stretch>
        </p:blipFill>
        <p:spPr>
          <a:xfrm>
            <a:off x="4709160" y="1417320"/>
            <a:ext cx="4069080" cy="2852928"/>
          </a:xfrm>
          <a:prstGeom prst="rect">
            <a:avLst/>
          </a:prstGeom>
          <a:ln w="9525">
            <a:solidFill>
              <a:srgbClr val="DADCE0"/>
            </a:solidFill>
          </a:ln>
        </p:spPr>
      </p:pic>
      <p:sp>
        <p:nvSpPr>
          <p:cNvPr id="140" name="TextBox 139"/>
          <p:cNvSpPr txBox="1"/>
          <p:nvPr/>
        </p:nvSpPr>
        <p:spPr>
          <a:xfrm>
            <a:off x="47091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Scenario Simulator</a:t>
            </a:r>
          </a:p>
          <a:p>
            <a:pPr algn="l"/>
            <a:r>
              <a:rPr sz="950" b="0">
                <a:solidFill>
                  <a:srgbClr val="5F6368"/>
                </a:solidFill>
                <a:latin typeface="Arial"/>
              </a:rPr>
              <a:t>MCU-X200: +$4.73 unit cost, −1.9 pts margin, 3 below target</a:t>
            </a:r>
          </a:p>
        </p:txBody>
      </p:sp>
      <p:sp>
        <p:nvSpPr>
          <p:cNvPr id="141" name="TextBox 140"/>
          <p:cNvSpPr txBox="1"/>
          <p:nvPr/>
        </p:nvSpPr>
        <p:spPr>
          <a:xfrm>
            <a:off x="6035040" y="658368"/>
            <a:ext cx="2743200" cy="182880"/>
          </a:xfrm>
          <a:prstGeom prst="rect">
            <a:avLst/>
          </a:prstGeom>
          <a:noFill/>
        </p:spPr>
        <p:txBody>
          <a:bodyPr wrap="square" lIns="0" tIns="0" rIns="0" bIns="0" anchor="t">
            <a:noAutofit/>
          </a:bodyPr>
          <a:lstStyle/>
          <a:p>
            <a:pPr algn="r"/>
            <a:r>
              <a:rPr sz="800" b="0">
                <a:solidFill>
                  <a:srgbClr val="5F6368"/>
                </a:solidFill>
                <a:latin typeface="Arial"/>
              </a:rPr>
              <a:t>Live on Google Cloud · fictional demo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Snapshots of the prototype</a:t>
            </a:r>
          </a:p>
        </p:txBody>
      </p:sp>
      <p:sp>
        <p:nvSpPr>
          <p:cNvPr id="136"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Find the next supplier, then re-plan the line</a:t>
            </a:r>
          </a:p>
        </p:txBody>
      </p:sp>
      <p:pic>
        <p:nvPicPr>
          <p:cNvPr id="137" name="Picture 136" descr="Alternative Sourcing screen with supplier scores and a sanctions block"/>
          <p:cNvPicPr>
            <a:picLocks noChangeAspect="1"/>
          </p:cNvPicPr>
          <p:nvPr/>
        </p:nvPicPr>
        <p:blipFill>
          <a:blip r:embed="rId5"/>
          <a:stretch>
            <a:fillRect/>
          </a:stretch>
        </p:blipFill>
        <p:spPr>
          <a:xfrm>
            <a:off x="365760" y="1417320"/>
            <a:ext cx="4069080" cy="2852928"/>
          </a:xfrm>
          <a:prstGeom prst="rect">
            <a:avLst/>
          </a:prstGeom>
          <a:ln w="9525">
            <a:solidFill>
              <a:srgbClr val="DADCE0"/>
            </a:solidFill>
          </a:ln>
        </p:spPr>
      </p:pic>
      <p:sp>
        <p:nvSpPr>
          <p:cNvPr id="138" name="TextBox 137"/>
          <p:cNvSpPr txBox="1"/>
          <p:nvPr/>
        </p:nvSpPr>
        <p:spPr>
          <a:xfrm>
            <a:off x="3657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Alternative Sourcing</a:t>
            </a:r>
          </a:p>
          <a:p>
            <a:pPr algn="l"/>
            <a:r>
              <a:rPr sz="950" b="0">
                <a:solidFill>
                  <a:srgbClr val="5F6368"/>
                </a:solidFill>
                <a:latin typeface="Arial"/>
              </a:rPr>
              <a:t>Five options scored 0–100; one blocked by a sanctions match</a:t>
            </a:r>
          </a:p>
        </p:txBody>
      </p:sp>
      <p:pic>
        <p:nvPicPr>
          <p:cNvPr id="139" name="Picture 138" descr="Production Plan screen with a 13-week OR-Tools re-plan"/>
          <p:cNvPicPr>
            <a:picLocks noChangeAspect="1"/>
          </p:cNvPicPr>
          <p:nvPr/>
        </p:nvPicPr>
        <p:blipFill>
          <a:blip r:embed="rId6"/>
          <a:stretch>
            <a:fillRect/>
          </a:stretch>
        </p:blipFill>
        <p:spPr>
          <a:xfrm>
            <a:off x="4709160" y="1417320"/>
            <a:ext cx="4069080" cy="2852928"/>
          </a:xfrm>
          <a:prstGeom prst="rect">
            <a:avLst/>
          </a:prstGeom>
          <a:ln w="9525">
            <a:solidFill>
              <a:srgbClr val="DADCE0"/>
            </a:solidFill>
          </a:ln>
        </p:spPr>
      </p:pic>
      <p:sp>
        <p:nvSpPr>
          <p:cNvPr id="140" name="TextBox 139"/>
          <p:cNvSpPr txBox="1"/>
          <p:nvPr/>
        </p:nvSpPr>
        <p:spPr>
          <a:xfrm>
            <a:off x="47091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Production Plan</a:t>
            </a:r>
          </a:p>
          <a:p>
            <a:pPr algn="l"/>
            <a:r>
              <a:rPr sz="950" b="0">
                <a:solidFill>
                  <a:srgbClr val="5F6368"/>
                </a:solidFill>
                <a:latin typeface="Arial"/>
              </a:rPr>
              <a:t>OR-Tools re-plans 13 weeks; the plan waits for a person</a:t>
            </a:r>
          </a:p>
        </p:txBody>
      </p:sp>
      <p:sp>
        <p:nvSpPr>
          <p:cNvPr id="141" name="TextBox 140"/>
          <p:cNvSpPr txBox="1"/>
          <p:nvPr/>
        </p:nvSpPr>
        <p:spPr>
          <a:xfrm>
            <a:off x="6035040" y="658368"/>
            <a:ext cx="2743200" cy="182880"/>
          </a:xfrm>
          <a:prstGeom prst="rect">
            <a:avLst/>
          </a:prstGeom>
          <a:noFill/>
        </p:spPr>
        <p:txBody>
          <a:bodyPr wrap="square" lIns="0" tIns="0" rIns="0" bIns="0" anchor="t">
            <a:noAutofit/>
          </a:bodyPr>
          <a:lstStyle/>
          <a:p>
            <a:pPr algn="r"/>
            <a:r>
              <a:rPr sz="800" b="0">
                <a:solidFill>
                  <a:srgbClr val="5F6368"/>
                </a:solidFill>
                <a:latin typeface="Arial"/>
              </a:rPr>
              <a:t>Live on Google Cloud · fictional demo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Snapshots of the prototype</a:t>
            </a:r>
          </a:p>
        </p:txBody>
      </p:sp>
      <p:sp>
        <p:nvSpPr>
          <p:cNvPr id="136"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Nine agents brief every team on its next move</a:t>
            </a:r>
          </a:p>
        </p:txBody>
      </p:sp>
      <p:pic>
        <p:nvPicPr>
          <p:cNvPr id="137" name="Picture 136" descr="Agent Activity screen with 9 of 9 ADK agents finished"/>
          <p:cNvPicPr>
            <a:picLocks noChangeAspect="1"/>
          </p:cNvPicPr>
          <p:nvPr/>
        </p:nvPicPr>
        <p:blipFill>
          <a:blip r:embed="rId5"/>
          <a:stretch>
            <a:fillRect/>
          </a:stretch>
        </p:blipFill>
        <p:spPr>
          <a:xfrm>
            <a:off x="365760" y="1417320"/>
            <a:ext cx="4069080" cy="2852928"/>
          </a:xfrm>
          <a:prstGeom prst="rect">
            <a:avLst/>
          </a:prstGeom>
          <a:ln w="9525">
            <a:solidFill>
              <a:srgbClr val="DADCE0"/>
            </a:solidFill>
          </a:ln>
        </p:spPr>
      </p:pic>
      <p:sp>
        <p:nvSpPr>
          <p:cNvPr id="138" name="TextBox 137"/>
          <p:cNvSpPr txBox="1"/>
          <p:nvPr/>
        </p:nvSpPr>
        <p:spPr>
          <a:xfrm>
            <a:off x="3657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Agent Activity</a:t>
            </a:r>
          </a:p>
          <a:p>
            <a:pPr algn="l"/>
            <a:r>
              <a:rPr sz="950" b="0">
                <a:solidFill>
                  <a:srgbClr val="5F6368"/>
                </a:solidFill>
                <a:latin typeface="Arial"/>
              </a:rPr>
              <a:t>9 of 9 ADK agents finished; executive brief with verified figures</a:t>
            </a:r>
          </a:p>
        </p:txBody>
      </p:sp>
      <p:pic>
        <p:nvPicPr>
          <p:cNvPr id="139" name="Picture 138" descr="Recommended Response screen with actions by department"/>
          <p:cNvPicPr>
            <a:picLocks noChangeAspect="1"/>
          </p:cNvPicPr>
          <p:nvPr/>
        </p:nvPicPr>
        <p:blipFill>
          <a:blip r:embed="rId6"/>
          <a:stretch>
            <a:fillRect/>
          </a:stretch>
        </p:blipFill>
        <p:spPr>
          <a:xfrm>
            <a:off x="4709160" y="1417320"/>
            <a:ext cx="4069080" cy="2852928"/>
          </a:xfrm>
          <a:prstGeom prst="rect">
            <a:avLst/>
          </a:prstGeom>
          <a:ln w="9525">
            <a:solidFill>
              <a:srgbClr val="DADCE0"/>
            </a:solidFill>
          </a:ln>
        </p:spPr>
      </p:pic>
      <p:sp>
        <p:nvSpPr>
          <p:cNvPr id="140" name="TextBox 139"/>
          <p:cNvSpPr txBox="1"/>
          <p:nvPr/>
        </p:nvSpPr>
        <p:spPr>
          <a:xfrm>
            <a:off x="4709160" y="4361688"/>
            <a:ext cx="4069080" cy="411480"/>
          </a:xfrm>
          <a:prstGeom prst="rect">
            <a:avLst/>
          </a:prstGeom>
          <a:noFill/>
        </p:spPr>
        <p:txBody>
          <a:bodyPr wrap="square" lIns="0" tIns="0" rIns="0" bIns="0" anchor="t">
            <a:noAutofit/>
          </a:bodyPr>
          <a:lstStyle/>
          <a:p>
            <a:pPr algn="l"/>
            <a:r>
              <a:rPr sz="1100" b="1">
                <a:solidFill>
                  <a:srgbClr val="202124"/>
                </a:solidFill>
                <a:latin typeface="Arial"/>
              </a:rPr>
              <a:t>Recommended Response</a:t>
            </a:r>
          </a:p>
          <a:p>
            <a:pPr algn="l"/>
            <a:r>
              <a:rPr sz="950" b="0">
                <a:solidFill>
                  <a:srgbClr val="5F6368"/>
                </a:solidFill>
                <a:latin typeface="Arial"/>
              </a:rPr>
              <a:t>Prioritized actions per team, each citing its facts</a:t>
            </a:r>
          </a:p>
        </p:txBody>
      </p:sp>
      <p:sp>
        <p:nvSpPr>
          <p:cNvPr id="141" name="TextBox 140"/>
          <p:cNvSpPr txBox="1"/>
          <p:nvPr/>
        </p:nvSpPr>
        <p:spPr>
          <a:xfrm>
            <a:off x="6035040" y="658368"/>
            <a:ext cx="2743200" cy="182880"/>
          </a:xfrm>
          <a:prstGeom prst="rect">
            <a:avLst/>
          </a:prstGeom>
          <a:noFill/>
        </p:spPr>
        <p:txBody>
          <a:bodyPr wrap="square" lIns="0" tIns="0" rIns="0" bIns="0" anchor="t">
            <a:noAutofit/>
          </a:bodyPr>
          <a:lstStyle/>
          <a:p>
            <a:pPr algn="r"/>
            <a:r>
              <a:rPr sz="800" b="0">
                <a:solidFill>
                  <a:srgbClr val="5F6368"/>
                </a:solidFill>
                <a:latin typeface="Arial"/>
              </a:rPr>
              <a:t>Live on Google Cloud · fictional demo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Prototype Performance report/Benchmarking</a:t>
            </a:r>
          </a:p>
        </p:txBody>
      </p:sp>
      <p:sp>
        <p:nvSpPr>
          <p:cNvPr id="144"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Fast enough for a live meeting, verified by 92 tests</a:t>
            </a:r>
          </a:p>
        </p:txBody>
      </p:sp>
      <p:sp>
        <p:nvSpPr>
          <p:cNvPr id="145" name="Rounded Rectangle 144"/>
          <p:cNvSpPr/>
          <p:nvPr/>
        </p:nvSpPr>
        <p:spPr>
          <a:xfrm>
            <a:off x="365760" y="1417320"/>
            <a:ext cx="1965960" cy="1325880"/>
          </a:xfrm>
          <a:prstGeom prst="roundRect">
            <a:avLst>
              <a:gd name="adj" fmla="val 5517"/>
            </a:avLst>
          </a:prstGeom>
          <a:solidFill>
            <a:srgbClr val="F8F9FA"/>
          </a:solidFill>
          <a:ln>
            <a:noFill/>
          </a:ln>
        </p:spPr>
        <p:txBody>
          <a:bodyPr rtlCol="0" anchor="ctr"/>
          <a:lstStyle/>
          <a:p>
            <a:pPr algn="ctr"/>
            <a:endParaRPr/>
          </a:p>
        </p:txBody>
      </p:sp>
      <p:sp>
        <p:nvSpPr>
          <p:cNvPr id="146" name="TextBox 145"/>
          <p:cNvSpPr txBox="1"/>
          <p:nvPr/>
        </p:nvSpPr>
        <p:spPr>
          <a:xfrm>
            <a:off x="512064" y="1527048"/>
            <a:ext cx="1737360" cy="411480"/>
          </a:xfrm>
          <a:prstGeom prst="rect">
            <a:avLst/>
          </a:prstGeom>
          <a:noFill/>
        </p:spPr>
        <p:txBody>
          <a:bodyPr wrap="square" lIns="0" tIns="0" rIns="0" bIns="0" anchor="t">
            <a:noAutofit/>
          </a:bodyPr>
          <a:lstStyle/>
          <a:p>
            <a:pPr algn="l"/>
            <a:r>
              <a:rPr sz="2200" b="1">
                <a:solidFill>
                  <a:srgbClr val="4285F4"/>
                </a:solidFill>
                <a:latin typeface="Arial"/>
              </a:rPr>
              <a:t>18.5 s</a:t>
            </a:r>
          </a:p>
        </p:txBody>
      </p:sp>
      <p:sp>
        <p:nvSpPr>
          <p:cNvPr id="147" name="TextBox 146"/>
          <p:cNvSpPr txBox="1"/>
          <p:nvPr/>
        </p:nvSpPr>
        <p:spPr>
          <a:xfrm>
            <a:off x="512064" y="1984248"/>
            <a:ext cx="1737360" cy="731520"/>
          </a:xfrm>
          <a:prstGeom prst="rect">
            <a:avLst/>
          </a:prstGeom>
          <a:noFill/>
        </p:spPr>
        <p:txBody>
          <a:bodyPr wrap="square" lIns="0" tIns="0" rIns="0" bIns="0" anchor="t">
            <a:noAutofit/>
          </a:bodyPr>
          <a:lstStyle/>
          <a:p>
            <a:pPr algn="l"/>
            <a:r>
              <a:rPr sz="1050" b="1">
                <a:solidFill>
                  <a:srgbClr val="202124"/>
                </a:solidFill>
                <a:latin typeface="Arial"/>
              </a:rPr>
              <a:t>Full nine-agent run</a:t>
            </a:r>
          </a:p>
          <a:p>
            <a:pPr algn="l"/>
            <a:r>
              <a:rPr sz="900" b="0">
                <a:solidFill>
                  <a:srgbClr val="5F6368"/>
                </a:solidFill>
                <a:latin typeface="Arial"/>
              </a:rPr>
              <a:t>Latest live run on Gemini 2.5 Flash; 13–94 s observed</a:t>
            </a:r>
          </a:p>
        </p:txBody>
      </p:sp>
      <p:sp>
        <p:nvSpPr>
          <p:cNvPr id="148" name="Rounded Rectangle 147"/>
          <p:cNvSpPr/>
          <p:nvPr/>
        </p:nvSpPr>
        <p:spPr>
          <a:xfrm>
            <a:off x="2468879" y="1417320"/>
            <a:ext cx="1965960" cy="1325880"/>
          </a:xfrm>
          <a:prstGeom prst="roundRect">
            <a:avLst>
              <a:gd name="adj" fmla="val 5517"/>
            </a:avLst>
          </a:prstGeom>
          <a:solidFill>
            <a:srgbClr val="F8F9FA"/>
          </a:solidFill>
          <a:ln>
            <a:noFill/>
          </a:ln>
        </p:spPr>
        <p:txBody>
          <a:bodyPr rtlCol="0" anchor="ctr"/>
          <a:lstStyle/>
          <a:p>
            <a:pPr algn="ctr"/>
            <a:endParaRPr/>
          </a:p>
        </p:txBody>
      </p:sp>
      <p:sp>
        <p:nvSpPr>
          <p:cNvPr id="149" name="TextBox 148"/>
          <p:cNvSpPr txBox="1"/>
          <p:nvPr/>
        </p:nvSpPr>
        <p:spPr>
          <a:xfrm>
            <a:off x="2615184" y="1527048"/>
            <a:ext cx="1737360" cy="411480"/>
          </a:xfrm>
          <a:prstGeom prst="rect">
            <a:avLst/>
          </a:prstGeom>
          <a:noFill/>
        </p:spPr>
        <p:txBody>
          <a:bodyPr wrap="square" lIns="0" tIns="0" rIns="0" bIns="0" anchor="t">
            <a:noAutofit/>
          </a:bodyPr>
          <a:lstStyle/>
          <a:p>
            <a:pPr algn="l"/>
            <a:r>
              <a:rPr sz="2200" b="1">
                <a:solidFill>
                  <a:srgbClr val="34A853"/>
                </a:solidFill>
                <a:latin typeface="Arial"/>
              </a:rPr>
              <a:t>13</a:t>
            </a:r>
          </a:p>
        </p:txBody>
      </p:sp>
      <p:sp>
        <p:nvSpPr>
          <p:cNvPr id="150" name="TextBox 149"/>
          <p:cNvSpPr txBox="1"/>
          <p:nvPr/>
        </p:nvSpPr>
        <p:spPr>
          <a:xfrm>
            <a:off x="2615184" y="1984248"/>
            <a:ext cx="1737360" cy="731520"/>
          </a:xfrm>
          <a:prstGeom prst="rect">
            <a:avLst/>
          </a:prstGeom>
          <a:noFill/>
        </p:spPr>
        <p:txBody>
          <a:bodyPr wrap="square" lIns="0" tIns="0" rIns="0" bIns="0" anchor="t">
            <a:noAutofit/>
          </a:bodyPr>
          <a:lstStyle/>
          <a:p>
            <a:pPr algn="l"/>
            <a:r>
              <a:rPr sz="1050" b="1">
                <a:solidFill>
                  <a:srgbClr val="202124"/>
                </a:solidFill>
                <a:latin typeface="Arial"/>
              </a:rPr>
              <a:t>Tool calls per run</a:t>
            </a:r>
          </a:p>
          <a:p>
            <a:pPr algn="l"/>
            <a:r>
              <a:rPr sz="900" b="0">
                <a:solidFill>
                  <a:srgbClr val="5F6368"/>
                </a:solidFill>
                <a:latin typeface="Arial"/>
              </a:rPr>
              <a:t>56 agent and tool steps streamed live to the UI</a:t>
            </a:r>
          </a:p>
        </p:txBody>
      </p:sp>
      <p:sp>
        <p:nvSpPr>
          <p:cNvPr id="151" name="Rounded Rectangle 150"/>
          <p:cNvSpPr/>
          <p:nvPr/>
        </p:nvSpPr>
        <p:spPr>
          <a:xfrm>
            <a:off x="365760" y="2880360"/>
            <a:ext cx="1965960" cy="1325880"/>
          </a:xfrm>
          <a:prstGeom prst="roundRect">
            <a:avLst>
              <a:gd name="adj" fmla="val 5517"/>
            </a:avLst>
          </a:prstGeom>
          <a:solidFill>
            <a:srgbClr val="F8F9FA"/>
          </a:solidFill>
          <a:ln>
            <a:noFill/>
          </a:ln>
        </p:spPr>
        <p:txBody>
          <a:bodyPr rtlCol="0" anchor="ctr"/>
          <a:lstStyle/>
          <a:p>
            <a:pPr algn="ctr"/>
            <a:endParaRPr/>
          </a:p>
        </p:txBody>
      </p:sp>
      <p:sp>
        <p:nvSpPr>
          <p:cNvPr id="152" name="TextBox 151"/>
          <p:cNvSpPr txBox="1"/>
          <p:nvPr/>
        </p:nvSpPr>
        <p:spPr>
          <a:xfrm>
            <a:off x="512064" y="2990088"/>
            <a:ext cx="1737360" cy="411480"/>
          </a:xfrm>
          <a:prstGeom prst="rect">
            <a:avLst/>
          </a:prstGeom>
          <a:noFill/>
        </p:spPr>
        <p:txBody>
          <a:bodyPr wrap="square" lIns="0" tIns="0" rIns="0" bIns="0" anchor="t">
            <a:noAutofit/>
          </a:bodyPr>
          <a:lstStyle/>
          <a:p>
            <a:pPr algn="l"/>
            <a:r>
              <a:rPr sz="2200" b="1">
                <a:solidFill>
                  <a:srgbClr val="B06000"/>
                </a:solidFill>
                <a:latin typeface="Arial"/>
              </a:rPr>
              <a:t>&lt; 0.3 s</a:t>
            </a:r>
          </a:p>
        </p:txBody>
      </p:sp>
      <p:sp>
        <p:nvSpPr>
          <p:cNvPr id="153" name="TextBox 152"/>
          <p:cNvSpPr txBox="1"/>
          <p:nvPr/>
        </p:nvSpPr>
        <p:spPr>
          <a:xfrm>
            <a:off x="512064" y="3447288"/>
            <a:ext cx="1737360" cy="731520"/>
          </a:xfrm>
          <a:prstGeom prst="rect">
            <a:avLst/>
          </a:prstGeom>
          <a:noFill/>
        </p:spPr>
        <p:txBody>
          <a:bodyPr wrap="square" lIns="0" tIns="0" rIns="0" bIns="0" anchor="t">
            <a:noAutofit/>
          </a:bodyPr>
          <a:lstStyle/>
          <a:p>
            <a:pPr algn="l"/>
            <a:r>
              <a:rPr sz="1050" b="1">
                <a:solidFill>
                  <a:srgbClr val="202124"/>
                </a:solidFill>
                <a:latin typeface="Arial"/>
              </a:rPr>
              <a:t>Median API response</a:t>
            </a:r>
          </a:p>
          <a:p>
            <a:pPr algn="l"/>
            <a:r>
              <a:rPr sz="900" b="0">
                <a:solidFill>
                  <a:srgbClr val="5F6368"/>
                </a:solidFill>
                <a:latin typeface="Arial"/>
              </a:rPr>
              <a:t>Impact, sourcing and actions on Cloud Run</a:t>
            </a:r>
          </a:p>
        </p:txBody>
      </p:sp>
      <p:sp>
        <p:nvSpPr>
          <p:cNvPr id="154" name="Rounded Rectangle 153"/>
          <p:cNvSpPr/>
          <p:nvPr/>
        </p:nvSpPr>
        <p:spPr>
          <a:xfrm>
            <a:off x="2468879" y="2880360"/>
            <a:ext cx="1965960" cy="1325880"/>
          </a:xfrm>
          <a:prstGeom prst="roundRect">
            <a:avLst>
              <a:gd name="adj" fmla="val 5517"/>
            </a:avLst>
          </a:prstGeom>
          <a:solidFill>
            <a:srgbClr val="F8F9FA"/>
          </a:solidFill>
          <a:ln>
            <a:noFill/>
          </a:ln>
        </p:spPr>
        <p:txBody>
          <a:bodyPr rtlCol="0" anchor="ctr"/>
          <a:lstStyle/>
          <a:p>
            <a:pPr algn="ctr"/>
            <a:endParaRPr/>
          </a:p>
        </p:txBody>
      </p:sp>
      <p:sp>
        <p:nvSpPr>
          <p:cNvPr id="155" name="TextBox 154"/>
          <p:cNvSpPr txBox="1"/>
          <p:nvPr/>
        </p:nvSpPr>
        <p:spPr>
          <a:xfrm>
            <a:off x="2615184" y="2990088"/>
            <a:ext cx="1737360" cy="411480"/>
          </a:xfrm>
          <a:prstGeom prst="rect">
            <a:avLst/>
          </a:prstGeom>
          <a:noFill/>
        </p:spPr>
        <p:txBody>
          <a:bodyPr wrap="square" lIns="0" tIns="0" rIns="0" bIns="0" anchor="t">
            <a:noAutofit/>
          </a:bodyPr>
          <a:lstStyle/>
          <a:p>
            <a:pPr algn="l"/>
            <a:r>
              <a:rPr sz="2200" b="1">
                <a:solidFill>
                  <a:srgbClr val="EA4335"/>
                </a:solidFill>
                <a:latin typeface="Arial"/>
              </a:rPr>
              <a:t>92 / 92</a:t>
            </a:r>
          </a:p>
        </p:txBody>
      </p:sp>
      <p:sp>
        <p:nvSpPr>
          <p:cNvPr id="156" name="TextBox 155"/>
          <p:cNvSpPr txBox="1"/>
          <p:nvPr/>
        </p:nvSpPr>
        <p:spPr>
          <a:xfrm>
            <a:off x="2615184" y="3447288"/>
            <a:ext cx="1737360" cy="731520"/>
          </a:xfrm>
          <a:prstGeom prst="rect">
            <a:avLst/>
          </a:prstGeom>
          <a:noFill/>
        </p:spPr>
        <p:txBody>
          <a:bodyPr wrap="square" lIns="0" tIns="0" rIns="0" bIns="0" anchor="t">
            <a:noAutofit/>
          </a:bodyPr>
          <a:lstStyle/>
          <a:p>
            <a:pPr algn="l"/>
            <a:r>
              <a:rPr sz="1050" b="1">
                <a:solidFill>
                  <a:srgbClr val="202124"/>
                </a:solidFill>
                <a:latin typeface="Arial"/>
              </a:rPr>
              <a:t>Automated tests pass</a:t>
            </a:r>
          </a:p>
          <a:p>
            <a:pPr algn="l"/>
            <a:r>
              <a:rPr sz="900" b="0">
                <a:solidFill>
                  <a:srgbClr val="5F6368"/>
                </a:solidFill>
                <a:latin typeface="Arial"/>
              </a:rPr>
              <a:t>Unit, integration and API tests, in 15 s</a:t>
            </a:r>
          </a:p>
        </p:txBody>
      </p:sp>
      <p:graphicFrame>
        <p:nvGraphicFramePr>
          <p:cNvPr id="157" name="Chart 156"/>
          <p:cNvGraphicFramePr>
            <a:graphicFrameLocks noGrp="1"/>
          </p:cNvGraphicFramePr>
          <p:nvPr/>
        </p:nvGraphicFramePr>
        <p:xfrm>
          <a:off x="4709160" y="1417320"/>
          <a:ext cx="4069080" cy="2788920"/>
        </p:xfrm>
        <a:graphic>
          <a:graphicData uri="http://schemas.openxmlformats.org/drawingml/2006/chart">
            <c:chart xmlns:c="http://schemas.openxmlformats.org/drawingml/2006/chart" xmlns:r="http://schemas.openxmlformats.org/officeDocument/2006/relationships" r:id="rId5"/>
          </a:graphicData>
        </a:graphic>
      </p:graphicFrame>
      <p:sp>
        <p:nvSpPr>
          <p:cNvPr id="158" name="Rounded Rectangle 157"/>
          <p:cNvSpPr/>
          <p:nvPr/>
        </p:nvSpPr>
        <p:spPr>
          <a:xfrm>
            <a:off x="365760" y="4416552"/>
            <a:ext cx="8412480" cy="411480"/>
          </a:xfrm>
          <a:prstGeom prst="roundRect">
            <a:avLst>
              <a:gd name="adj" fmla="val 17777"/>
            </a:avLst>
          </a:prstGeom>
          <a:solidFill>
            <a:srgbClr val="E6F4EA"/>
          </a:solidFill>
          <a:ln>
            <a:noFill/>
          </a:ln>
        </p:spPr>
        <p:txBody>
          <a:bodyPr rtlCol="0" anchor="ctr"/>
          <a:lstStyle/>
          <a:p>
            <a:pPr algn="ctr"/>
            <a:endParaRPr/>
          </a:p>
        </p:txBody>
      </p:sp>
      <p:sp>
        <p:nvSpPr>
          <p:cNvPr id="159" name="TextBox 158"/>
          <p:cNvSpPr txBox="1"/>
          <p:nvPr/>
        </p:nvSpPr>
        <p:spPr>
          <a:xfrm>
            <a:off x="502920" y="4416552"/>
            <a:ext cx="8229600" cy="411480"/>
          </a:xfrm>
          <a:prstGeom prst="rect">
            <a:avLst/>
          </a:prstGeom>
          <a:noFill/>
        </p:spPr>
        <p:txBody>
          <a:bodyPr wrap="square" lIns="0" tIns="0" rIns="0" bIns="0" anchor="ctr">
            <a:noAutofit/>
          </a:bodyPr>
          <a:lstStyle/>
          <a:p>
            <a:pPr algn="l"/>
            <a:r>
              <a:rPr sz="950" b="1">
                <a:solidFill>
                  <a:srgbClr val="137333"/>
                </a:solidFill>
                <a:latin typeface="Arial"/>
              </a:rPr>
              <a:t>Accuracy: </a:t>
            </a:r>
            <a:r>
              <a:rPr sz="950" b="0">
                <a:solidFill>
                  <a:srgbClr val="202124"/>
                </a:solidFill>
                <a:latin typeface="Arial"/>
              </a:rPr>
              <a:t>demo figures (12 SKUs, $4.2M, 58 days, +$4.73, −1.9 pts) are asserted in CI; the BigQuery Graph trace matches recursive SQL and the seed.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Additional Details/Future Development (if any)</a:t>
            </a:r>
          </a:p>
        </p:txBody>
      </p:sp>
      <p:sp>
        <p:nvSpPr>
          <p:cNvPr id="152"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From prototype to an always-on supply chain co-pilot</a:t>
            </a:r>
          </a:p>
        </p:txBody>
      </p:sp>
      <p:sp>
        <p:nvSpPr>
          <p:cNvPr id="153" name="Rectangle 152"/>
          <p:cNvSpPr/>
          <p:nvPr/>
        </p:nvSpPr>
        <p:spPr>
          <a:xfrm>
            <a:off x="1737360" y="1682496"/>
            <a:ext cx="5669280" cy="27432"/>
          </a:xfrm>
          <a:prstGeom prst="rect">
            <a:avLst/>
          </a:prstGeom>
          <a:solidFill>
            <a:srgbClr val="DADCE0"/>
          </a:solidFill>
          <a:ln>
            <a:noFill/>
          </a:ln>
        </p:spPr>
        <p:txBody>
          <a:bodyPr rtlCol="0" anchor="ctr"/>
          <a:lstStyle/>
          <a:p>
            <a:pPr algn="ctr"/>
            <a:endParaRPr/>
          </a:p>
        </p:txBody>
      </p:sp>
      <p:sp>
        <p:nvSpPr>
          <p:cNvPr id="154" name="Oval 153"/>
          <p:cNvSpPr/>
          <p:nvPr/>
        </p:nvSpPr>
        <p:spPr>
          <a:xfrm>
            <a:off x="1431036" y="1417320"/>
            <a:ext cx="548640" cy="548640"/>
          </a:xfrm>
          <a:prstGeom prst="ellipse">
            <a:avLst/>
          </a:prstGeom>
          <a:solidFill>
            <a:srgbClr val="4285F4"/>
          </a:solidFill>
          <a:ln>
            <a:noFill/>
          </a:ln>
        </p:spPr>
        <p:txBody>
          <a:bodyPr rtlCol="0" anchor="ctr"/>
          <a:lstStyle/>
          <a:p>
            <a:pPr algn="ctr"/>
            <a:endParaRPr/>
          </a:p>
        </p:txBody>
      </p:sp>
      <p:pic>
        <p:nvPicPr>
          <p:cNvPr id="155" name="Picture 154" descr="Plug_w.png"/>
          <p:cNvPicPr>
            <a:picLocks noChangeAspect="1"/>
          </p:cNvPicPr>
          <p:nvPr/>
        </p:nvPicPr>
        <p:blipFill>
          <a:blip r:embed="rId5"/>
          <a:stretch>
            <a:fillRect/>
          </a:stretch>
        </p:blipFill>
        <p:spPr>
          <a:xfrm>
            <a:off x="1551736" y="1538020"/>
            <a:ext cx="307238" cy="307238"/>
          </a:xfrm>
          <a:prstGeom prst="rect">
            <a:avLst/>
          </a:prstGeom>
        </p:spPr>
      </p:pic>
      <p:sp>
        <p:nvSpPr>
          <p:cNvPr id="156" name="Rounded Rectangle 155"/>
          <p:cNvSpPr/>
          <p:nvPr/>
        </p:nvSpPr>
        <p:spPr>
          <a:xfrm>
            <a:off x="365760" y="2103120"/>
            <a:ext cx="2679192" cy="2103120"/>
          </a:xfrm>
          <a:prstGeom prst="roundRect">
            <a:avLst>
              <a:gd name="adj" fmla="val 3478"/>
            </a:avLst>
          </a:prstGeom>
          <a:solidFill>
            <a:srgbClr val="F8F9FA"/>
          </a:solidFill>
          <a:ln>
            <a:noFill/>
          </a:ln>
        </p:spPr>
        <p:txBody>
          <a:bodyPr rtlCol="0" anchor="ctr"/>
          <a:lstStyle/>
          <a:p>
            <a:pPr algn="ctr"/>
            <a:endParaRPr/>
          </a:p>
        </p:txBody>
      </p:sp>
      <p:sp>
        <p:nvSpPr>
          <p:cNvPr id="157" name="TextBox 156"/>
          <p:cNvSpPr txBox="1"/>
          <p:nvPr/>
        </p:nvSpPr>
        <p:spPr>
          <a:xfrm>
            <a:off x="548640" y="2212848"/>
            <a:ext cx="2377440" cy="201168"/>
          </a:xfrm>
          <a:prstGeom prst="rect">
            <a:avLst/>
          </a:prstGeom>
          <a:noFill/>
        </p:spPr>
        <p:txBody>
          <a:bodyPr wrap="square" lIns="0" tIns="0" rIns="0" bIns="0" anchor="t">
            <a:noAutofit/>
          </a:bodyPr>
          <a:lstStyle/>
          <a:p>
            <a:pPr algn="l"/>
            <a:r>
              <a:rPr sz="850" b="1">
                <a:solidFill>
                  <a:srgbClr val="4285F4"/>
                </a:solidFill>
                <a:latin typeface="Arial"/>
              </a:rPr>
              <a:t>NEXT</a:t>
            </a:r>
          </a:p>
        </p:txBody>
      </p:sp>
      <p:sp>
        <p:nvSpPr>
          <p:cNvPr id="158" name="TextBox 157"/>
          <p:cNvSpPr txBox="1"/>
          <p:nvPr/>
        </p:nvSpPr>
        <p:spPr>
          <a:xfrm>
            <a:off x="548640" y="2414016"/>
            <a:ext cx="2377440" cy="292608"/>
          </a:xfrm>
          <a:prstGeom prst="rect">
            <a:avLst/>
          </a:prstGeom>
          <a:noFill/>
        </p:spPr>
        <p:txBody>
          <a:bodyPr wrap="square" lIns="0" tIns="0" rIns="0" bIns="0" anchor="t">
            <a:noAutofit/>
          </a:bodyPr>
          <a:lstStyle/>
          <a:p>
            <a:pPr algn="l"/>
            <a:r>
              <a:rPr sz="1400" b="1">
                <a:solidFill>
                  <a:srgbClr val="202124"/>
                </a:solidFill>
                <a:latin typeface="Arial"/>
              </a:rPr>
              <a:t>Connect</a:t>
            </a:r>
          </a:p>
        </p:txBody>
      </p:sp>
      <p:sp>
        <p:nvSpPr>
          <p:cNvPr id="159" name="TextBox 158"/>
          <p:cNvSpPr txBox="1"/>
          <p:nvPr/>
        </p:nvSpPr>
        <p:spPr>
          <a:xfrm>
            <a:off x="548640" y="2779776"/>
            <a:ext cx="2377440" cy="1371600"/>
          </a:xfrm>
          <a:prstGeom prst="rect">
            <a:avLst/>
          </a:prstGeom>
          <a:noFill/>
        </p:spPr>
        <p:txBody>
          <a:bodyPr wrap="square" lIns="0" tIns="0" rIns="0" bIns="0" anchor="t">
            <a:noAutofit/>
          </a:bodyPr>
          <a:lstStyle/>
          <a:p>
            <a:pPr marL="146304" indent="-146304" algn="l">
              <a:spcAft>
                <a:spcPts val="500"/>
              </a:spcAft>
              <a:buClr>
                <a:srgbClr val="4285F4"/>
              </a:buClr>
              <a:buFont typeface="Arial"/>
              <a:buChar char="•"/>
            </a:pPr>
            <a:r>
              <a:rPr sz="1000" b="0">
                <a:solidFill>
                  <a:srgbClr val="202124"/>
                </a:solidFill>
                <a:latin typeface="Arial"/>
              </a:rPr>
              <a:t>ERP and PLM connectors for BOMs, stock and orders</a:t>
            </a:r>
          </a:p>
          <a:p>
            <a:pPr marL="146304" indent="-146304" algn="l">
              <a:spcAft>
                <a:spcPts val="500"/>
              </a:spcAft>
              <a:buClr>
                <a:srgbClr val="4285F4"/>
              </a:buClr>
              <a:buFont typeface="Arial"/>
              <a:buChar char="•"/>
            </a:pPr>
            <a:r>
              <a:rPr sz="1000" b="0">
                <a:solidFill>
                  <a:srgbClr val="202124"/>
                </a:solidFill>
                <a:latin typeface="Arial"/>
              </a:rPr>
              <a:t>Real catalog, sanctions and news APIs on today’s interfaces</a:t>
            </a:r>
          </a:p>
          <a:p>
            <a:pPr marL="146304" indent="-146304" algn="l">
              <a:spcAft>
                <a:spcPts val="500"/>
              </a:spcAft>
              <a:buClr>
                <a:srgbClr val="4285F4"/>
              </a:buClr>
              <a:buFont typeface="Arial"/>
              <a:buChar char="•"/>
            </a:pPr>
            <a:r>
              <a:rPr sz="1000" b="0">
                <a:solidFill>
                  <a:srgbClr val="202124"/>
                </a:solidFill>
                <a:latin typeface="Arial"/>
              </a:rPr>
              <a:t>Single sign-on and role-based access</a:t>
            </a:r>
          </a:p>
        </p:txBody>
      </p:sp>
      <p:sp>
        <p:nvSpPr>
          <p:cNvPr id="160" name="Oval 159"/>
          <p:cNvSpPr/>
          <p:nvPr/>
        </p:nvSpPr>
        <p:spPr>
          <a:xfrm>
            <a:off x="4297680" y="1417320"/>
            <a:ext cx="548640" cy="548640"/>
          </a:xfrm>
          <a:prstGeom prst="ellipse">
            <a:avLst/>
          </a:prstGeom>
          <a:solidFill>
            <a:srgbClr val="34A853"/>
          </a:solidFill>
          <a:ln>
            <a:noFill/>
          </a:ln>
        </p:spPr>
        <p:txBody>
          <a:bodyPr rtlCol="0" anchor="ctr"/>
          <a:lstStyle/>
          <a:p>
            <a:pPr algn="ctr"/>
            <a:endParaRPr/>
          </a:p>
        </p:txBody>
      </p:sp>
      <p:pic>
        <p:nvPicPr>
          <p:cNvPr id="161" name="Picture 160" descr="Send_w.png"/>
          <p:cNvPicPr>
            <a:picLocks noChangeAspect="1"/>
          </p:cNvPicPr>
          <p:nvPr/>
        </p:nvPicPr>
        <p:blipFill>
          <a:blip r:embed="rId6"/>
          <a:stretch>
            <a:fillRect/>
          </a:stretch>
        </p:blipFill>
        <p:spPr>
          <a:xfrm>
            <a:off x="4418380" y="1538020"/>
            <a:ext cx="307238" cy="307238"/>
          </a:xfrm>
          <a:prstGeom prst="rect">
            <a:avLst/>
          </a:prstGeom>
        </p:spPr>
      </p:pic>
      <p:sp>
        <p:nvSpPr>
          <p:cNvPr id="162" name="Rounded Rectangle 161"/>
          <p:cNvSpPr/>
          <p:nvPr/>
        </p:nvSpPr>
        <p:spPr>
          <a:xfrm>
            <a:off x="3232403" y="2103120"/>
            <a:ext cx="2679192" cy="2103120"/>
          </a:xfrm>
          <a:prstGeom prst="roundRect">
            <a:avLst>
              <a:gd name="adj" fmla="val 3478"/>
            </a:avLst>
          </a:prstGeom>
          <a:solidFill>
            <a:srgbClr val="F8F9FA"/>
          </a:solidFill>
          <a:ln>
            <a:noFill/>
          </a:ln>
        </p:spPr>
        <p:txBody>
          <a:bodyPr rtlCol="0" anchor="ctr"/>
          <a:lstStyle/>
          <a:p>
            <a:pPr algn="ctr"/>
            <a:endParaRPr/>
          </a:p>
        </p:txBody>
      </p:sp>
      <p:sp>
        <p:nvSpPr>
          <p:cNvPr id="163" name="TextBox 162"/>
          <p:cNvSpPr txBox="1"/>
          <p:nvPr/>
        </p:nvSpPr>
        <p:spPr>
          <a:xfrm>
            <a:off x="3415284" y="2212848"/>
            <a:ext cx="2377440" cy="201168"/>
          </a:xfrm>
          <a:prstGeom prst="rect">
            <a:avLst/>
          </a:prstGeom>
          <a:noFill/>
        </p:spPr>
        <p:txBody>
          <a:bodyPr wrap="square" lIns="0" tIns="0" rIns="0" bIns="0" anchor="t">
            <a:noAutofit/>
          </a:bodyPr>
          <a:lstStyle/>
          <a:p>
            <a:pPr algn="l"/>
            <a:r>
              <a:rPr sz="850" b="1">
                <a:solidFill>
                  <a:srgbClr val="34A853"/>
                </a:solidFill>
                <a:latin typeface="Arial"/>
              </a:rPr>
              <a:t>THEN</a:t>
            </a:r>
          </a:p>
        </p:txBody>
      </p:sp>
      <p:sp>
        <p:nvSpPr>
          <p:cNvPr id="164" name="TextBox 163"/>
          <p:cNvSpPr txBox="1"/>
          <p:nvPr/>
        </p:nvSpPr>
        <p:spPr>
          <a:xfrm>
            <a:off x="3415284" y="2414016"/>
            <a:ext cx="2377440" cy="292608"/>
          </a:xfrm>
          <a:prstGeom prst="rect">
            <a:avLst/>
          </a:prstGeom>
          <a:noFill/>
        </p:spPr>
        <p:txBody>
          <a:bodyPr wrap="square" lIns="0" tIns="0" rIns="0" bIns="0" anchor="t">
            <a:noAutofit/>
          </a:bodyPr>
          <a:lstStyle/>
          <a:p>
            <a:pPr algn="l"/>
            <a:r>
              <a:rPr sz="1400" b="1">
                <a:solidFill>
                  <a:srgbClr val="202124"/>
                </a:solidFill>
                <a:latin typeface="Arial"/>
              </a:rPr>
              <a:t>Act</a:t>
            </a:r>
          </a:p>
        </p:txBody>
      </p:sp>
      <p:sp>
        <p:nvSpPr>
          <p:cNvPr id="165" name="TextBox 164"/>
          <p:cNvSpPr txBox="1"/>
          <p:nvPr/>
        </p:nvSpPr>
        <p:spPr>
          <a:xfrm>
            <a:off x="3415284" y="2779776"/>
            <a:ext cx="2377440" cy="1371600"/>
          </a:xfrm>
          <a:prstGeom prst="rect">
            <a:avLst/>
          </a:prstGeom>
          <a:noFill/>
        </p:spPr>
        <p:txBody>
          <a:bodyPr wrap="square" lIns="0" tIns="0" rIns="0" bIns="0" anchor="t">
            <a:noAutofit/>
          </a:bodyPr>
          <a:lstStyle/>
          <a:p>
            <a:pPr marL="146304" indent="-146304" algn="l">
              <a:spcAft>
                <a:spcPts val="500"/>
              </a:spcAft>
              <a:buClr>
                <a:srgbClr val="34A853"/>
              </a:buClr>
              <a:buFont typeface="Arial"/>
              <a:buChar char="•"/>
            </a:pPr>
            <a:r>
              <a:rPr sz="1000" b="0">
                <a:solidFill>
                  <a:srgbClr val="202124"/>
                </a:solidFill>
                <a:latin typeface="Arial"/>
              </a:rPr>
              <a:t>Write approved actions back to ERP and ticketing</a:t>
            </a:r>
          </a:p>
          <a:p>
            <a:pPr marL="146304" indent="-146304" algn="l">
              <a:spcAft>
                <a:spcPts val="500"/>
              </a:spcAft>
              <a:buClr>
                <a:srgbClr val="34A853"/>
              </a:buClr>
              <a:buFont typeface="Arial"/>
              <a:buChar char="•"/>
            </a:pPr>
            <a:r>
              <a:rPr sz="1000" b="0">
                <a:solidFill>
                  <a:srgbClr val="202124"/>
                </a:solidFill>
                <a:latin typeface="Arial"/>
              </a:rPr>
              <a:t>Approval workflow and audit trail for every decision</a:t>
            </a:r>
          </a:p>
          <a:p>
            <a:pPr marL="146304" indent="-146304" algn="l">
              <a:spcAft>
                <a:spcPts val="500"/>
              </a:spcAft>
              <a:buClr>
                <a:srgbClr val="34A853"/>
              </a:buClr>
              <a:buFont typeface="Arial"/>
              <a:buChar char="•"/>
            </a:pPr>
            <a:r>
              <a:rPr sz="1000" b="0">
                <a:solidFill>
                  <a:srgbClr val="202124"/>
                </a:solidFill>
                <a:latin typeface="Arial"/>
              </a:rPr>
              <a:t>Notify owners by e-mail or chat</a:t>
            </a:r>
          </a:p>
        </p:txBody>
      </p:sp>
      <p:sp>
        <p:nvSpPr>
          <p:cNvPr id="166" name="Oval 165"/>
          <p:cNvSpPr/>
          <p:nvPr/>
        </p:nvSpPr>
        <p:spPr>
          <a:xfrm>
            <a:off x="7164324" y="1417320"/>
            <a:ext cx="548640" cy="548640"/>
          </a:xfrm>
          <a:prstGeom prst="ellipse">
            <a:avLst/>
          </a:prstGeom>
          <a:solidFill>
            <a:srgbClr val="EA4335"/>
          </a:solidFill>
          <a:ln>
            <a:noFill/>
          </a:ln>
        </p:spPr>
        <p:txBody>
          <a:bodyPr rtlCol="0" anchor="ctr"/>
          <a:lstStyle/>
          <a:p>
            <a:pPr algn="ctr"/>
            <a:endParaRPr/>
          </a:p>
        </p:txBody>
      </p:sp>
      <p:pic>
        <p:nvPicPr>
          <p:cNvPr id="167" name="Picture 166" descr="Radar_w.png"/>
          <p:cNvPicPr>
            <a:picLocks noChangeAspect="1"/>
          </p:cNvPicPr>
          <p:nvPr/>
        </p:nvPicPr>
        <p:blipFill>
          <a:blip r:embed="rId7"/>
          <a:stretch>
            <a:fillRect/>
          </a:stretch>
        </p:blipFill>
        <p:spPr>
          <a:xfrm>
            <a:off x="7285024" y="1538020"/>
            <a:ext cx="307238" cy="307238"/>
          </a:xfrm>
          <a:prstGeom prst="rect">
            <a:avLst/>
          </a:prstGeom>
        </p:spPr>
      </p:pic>
      <p:sp>
        <p:nvSpPr>
          <p:cNvPr id="168" name="Rounded Rectangle 167"/>
          <p:cNvSpPr/>
          <p:nvPr/>
        </p:nvSpPr>
        <p:spPr>
          <a:xfrm>
            <a:off x="6099048" y="2103120"/>
            <a:ext cx="2679192" cy="2103120"/>
          </a:xfrm>
          <a:prstGeom prst="roundRect">
            <a:avLst>
              <a:gd name="adj" fmla="val 3478"/>
            </a:avLst>
          </a:prstGeom>
          <a:solidFill>
            <a:srgbClr val="F8F9FA"/>
          </a:solidFill>
          <a:ln>
            <a:noFill/>
          </a:ln>
        </p:spPr>
        <p:txBody>
          <a:bodyPr rtlCol="0" anchor="ctr"/>
          <a:lstStyle/>
          <a:p>
            <a:pPr algn="ctr"/>
            <a:endParaRPr/>
          </a:p>
        </p:txBody>
      </p:sp>
      <p:sp>
        <p:nvSpPr>
          <p:cNvPr id="169" name="TextBox 168"/>
          <p:cNvSpPr txBox="1"/>
          <p:nvPr/>
        </p:nvSpPr>
        <p:spPr>
          <a:xfrm>
            <a:off x="6281928" y="2212848"/>
            <a:ext cx="2377440" cy="201168"/>
          </a:xfrm>
          <a:prstGeom prst="rect">
            <a:avLst/>
          </a:prstGeom>
          <a:noFill/>
        </p:spPr>
        <p:txBody>
          <a:bodyPr wrap="square" lIns="0" tIns="0" rIns="0" bIns="0" anchor="t">
            <a:noAutofit/>
          </a:bodyPr>
          <a:lstStyle/>
          <a:p>
            <a:pPr algn="l"/>
            <a:r>
              <a:rPr sz="850" b="1">
                <a:solidFill>
                  <a:srgbClr val="EA4335"/>
                </a:solidFill>
                <a:latin typeface="Arial"/>
              </a:rPr>
              <a:t>LATER</a:t>
            </a:r>
          </a:p>
        </p:txBody>
      </p:sp>
      <p:sp>
        <p:nvSpPr>
          <p:cNvPr id="170" name="TextBox 169"/>
          <p:cNvSpPr txBox="1"/>
          <p:nvPr/>
        </p:nvSpPr>
        <p:spPr>
          <a:xfrm>
            <a:off x="6281928" y="2414016"/>
            <a:ext cx="2377440" cy="292608"/>
          </a:xfrm>
          <a:prstGeom prst="rect">
            <a:avLst/>
          </a:prstGeom>
          <a:noFill/>
        </p:spPr>
        <p:txBody>
          <a:bodyPr wrap="square" lIns="0" tIns="0" rIns="0" bIns="0" anchor="t">
            <a:noAutofit/>
          </a:bodyPr>
          <a:lstStyle/>
          <a:p>
            <a:pPr algn="l"/>
            <a:r>
              <a:rPr sz="1400" b="1">
                <a:solidFill>
                  <a:srgbClr val="202124"/>
                </a:solidFill>
                <a:latin typeface="Arial"/>
              </a:rPr>
              <a:t>Watch</a:t>
            </a:r>
          </a:p>
        </p:txBody>
      </p:sp>
      <p:sp>
        <p:nvSpPr>
          <p:cNvPr id="171" name="TextBox 170"/>
          <p:cNvSpPr txBox="1"/>
          <p:nvPr/>
        </p:nvSpPr>
        <p:spPr>
          <a:xfrm>
            <a:off x="6281928" y="2779776"/>
            <a:ext cx="2377440" cy="1371600"/>
          </a:xfrm>
          <a:prstGeom prst="rect">
            <a:avLst/>
          </a:prstGeom>
          <a:noFill/>
        </p:spPr>
        <p:txBody>
          <a:bodyPr wrap="square" lIns="0" tIns="0" rIns="0" bIns="0" anchor="t">
            <a:noAutofit/>
          </a:bodyPr>
          <a:lstStyle/>
          <a:p>
            <a:pPr marL="146304" indent="-146304" algn="l">
              <a:spcAft>
                <a:spcPts val="500"/>
              </a:spcAft>
              <a:buClr>
                <a:srgbClr val="EA4335"/>
              </a:buClr>
              <a:buFont typeface="Arial"/>
              <a:buChar char="•"/>
            </a:pPr>
            <a:r>
              <a:rPr sz="1000" b="0">
                <a:solidFill>
                  <a:srgbClr val="202124"/>
                </a:solidFill>
                <a:latin typeface="Arial"/>
              </a:rPr>
              <a:t>Continuous monitoring of supplier feeds</a:t>
            </a:r>
          </a:p>
          <a:p>
            <a:pPr marL="146304" indent="-146304" algn="l">
              <a:spcAft>
                <a:spcPts val="500"/>
              </a:spcAft>
              <a:buClr>
                <a:srgbClr val="EA4335"/>
              </a:buClr>
              <a:buFont typeface="Arial"/>
              <a:buChar char="•"/>
            </a:pPr>
            <a:r>
              <a:rPr sz="1000" b="0">
                <a:solidFill>
                  <a:srgbClr val="202124"/>
                </a:solidFill>
                <a:latin typeface="Arial"/>
              </a:rPr>
              <a:t>Tariff, commodity, freight and supplier-failure triggers</a:t>
            </a:r>
          </a:p>
          <a:p>
            <a:pPr marL="146304" indent="-146304" algn="l">
              <a:spcAft>
                <a:spcPts val="500"/>
              </a:spcAft>
              <a:buClr>
                <a:srgbClr val="EA4335"/>
              </a:buClr>
              <a:buFont typeface="Arial"/>
              <a:buChar char="•"/>
            </a:pPr>
            <a:r>
              <a:rPr sz="1000" b="0">
                <a:solidFill>
                  <a:srgbClr val="202124"/>
                </a:solidFill>
                <a:latin typeface="Arial"/>
              </a:rPr>
              <a:t>Multi-plant, multi-region BOMs at BigQuery scale</a:t>
            </a:r>
          </a:p>
        </p:txBody>
      </p:sp>
      <p:sp>
        <p:nvSpPr>
          <p:cNvPr id="172" name="Rounded Rectangle 171"/>
          <p:cNvSpPr/>
          <p:nvPr/>
        </p:nvSpPr>
        <p:spPr>
          <a:xfrm>
            <a:off x="365760" y="4370832"/>
            <a:ext cx="8412480" cy="438912"/>
          </a:xfrm>
          <a:prstGeom prst="roundRect">
            <a:avLst>
              <a:gd name="adj" fmla="val 16666"/>
            </a:avLst>
          </a:prstGeom>
          <a:solidFill>
            <a:srgbClr val="E8F0FE"/>
          </a:solidFill>
          <a:ln>
            <a:noFill/>
          </a:ln>
        </p:spPr>
        <p:txBody>
          <a:bodyPr rtlCol="0" anchor="ctr"/>
          <a:lstStyle/>
          <a:p>
            <a:pPr algn="ctr"/>
            <a:endParaRPr/>
          </a:p>
        </p:txBody>
      </p:sp>
      <p:sp>
        <p:nvSpPr>
          <p:cNvPr id="173" name="TextBox 172"/>
          <p:cNvSpPr txBox="1"/>
          <p:nvPr/>
        </p:nvSpPr>
        <p:spPr>
          <a:xfrm>
            <a:off x="502920" y="4370832"/>
            <a:ext cx="8229600" cy="438912"/>
          </a:xfrm>
          <a:prstGeom prst="rect">
            <a:avLst/>
          </a:prstGeom>
          <a:noFill/>
        </p:spPr>
        <p:txBody>
          <a:bodyPr wrap="square" lIns="0" tIns="0" rIns="0" bIns="0" anchor="ctr">
            <a:noAutofit/>
          </a:bodyPr>
          <a:lstStyle/>
          <a:p>
            <a:pPr algn="l"/>
            <a:r>
              <a:rPr sz="1000" b="1">
                <a:solidFill>
                  <a:srgbClr val="1967D2"/>
                </a:solidFill>
                <a:latin typeface="Arial"/>
              </a:rPr>
              <a:t>Same agents and engines everywhere: </a:t>
            </a:r>
            <a:r>
              <a:rPr sz="1000" b="0">
                <a:solidFill>
                  <a:srgbClr val="202124"/>
                </a:solidFill>
                <a:latin typeface="Arial"/>
              </a:rPr>
              <a:t>electronics, automotive, industrial equipment and medical devices; only the data and connectors change.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Kicker"/>
          <p:cNvSpPr txBox="1"/>
          <p:nvPr/>
        </p:nvSpPr>
        <p:spPr>
          <a:xfrm>
            <a:off x="365760" y="640080"/>
            <a:ext cx="8412480" cy="228600"/>
          </a:xfrm>
          <a:prstGeom prst="rect">
            <a:avLst/>
          </a:prstGeom>
          <a:noFill/>
        </p:spPr>
        <p:txBody>
          <a:bodyPr wrap="square" lIns="0" tIns="0" rIns="0" bIns="0" anchor="t">
            <a:noAutofit/>
          </a:bodyPr>
          <a:lstStyle/>
          <a:p>
            <a:pPr algn="l"/>
            <a:r>
              <a:rPr sz="1100" b="1">
                <a:solidFill>
                  <a:srgbClr val="1A73E8"/>
                </a:solidFill>
                <a:latin typeface="Arial"/>
              </a:rPr>
              <a:t>Provide links to your:</a:t>
            </a:r>
          </a:p>
        </p:txBody>
      </p:sp>
      <p:sp>
        <p:nvSpPr>
          <p:cNvPr id="160" name="Title"/>
          <p:cNvSpPr txBox="1"/>
          <p:nvPr/>
        </p:nvSpPr>
        <p:spPr>
          <a:xfrm>
            <a:off x="365760" y="877824"/>
            <a:ext cx="8412480" cy="411480"/>
          </a:xfrm>
          <a:prstGeom prst="rect">
            <a:avLst/>
          </a:prstGeom>
          <a:noFill/>
        </p:spPr>
        <p:txBody>
          <a:bodyPr wrap="square" lIns="0" tIns="0" rIns="0" bIns="0" anchor="t">
            <a:noAutofit/>
          </a:bodyPr>
          <a:lstStyle/>
          <a:p>
            <a:pPr algn="l"/>
            <a:r>
              <a:rPr sz="2100" b="1">
                <a:solidFill>
                  <a:srgbClr val="202124"/>
                </a:solidFill>
                <a:latin typeface="Arial"/>
              </a:rPr>
              <a:t>Try RippleOps live, read the code, watch the demo</a:t>
            </a:r>
          </a:p>
        </p:txBody>
      </p:sp>
      <p:sp>
        <p:nvSpPr>
          <p:cNvPr id="161" name="Rounded Rectangle 160"/>
          <p:cNvSpPr/>
          <p:nvPr/>
        </p:nvSpPr>
        <p:spPr>
          <a:xfrm>
            <a:off x="365760" y="1463040"/>
            <a:ext cx="5212080" cy="877824"/>
          </a:xfrm>
          <a:prstGeom prst="roundRect">
            <a:avLst>
              <a:gd name="adj" fmla="val 8333"/>
            </a:avLst>
          </a:prstGeom>
          <a:solidFill>
            <a:srgbClr val="F8F9FA"/>
          </a:solidFill>
          <a:ln>
            <a:noFill/>
          </a:ln>
        </p:spPr>
        <p:txBody>
          <a:bodyPr rtlCol="0" anchor="ctr"/>
          <a:lstStyle/>
          <a:p>
            <a:pPr algn="ctr"/>
            <a:endParaRPr/>
          </a:p>
        </p:txBody>
      </p:sp>
      <p:sp>
        <p:nvSpPr>
          <p:cNvPr id="162" name="Oval 161"/>
          <p:cNvSpPr/>
          <p:nvPr/>
        </p:nvSpPr>
        <p:spPr>
          <a:xfrm>
            <a:off x="530352" y="1682496"/>
            <a:ext cx="438912" cy="438912"/>
          </a:xfrm>
          <a:prstGeom prst="ellipse">
            <a:avLst/>
          </a:prstGeom>
          <a:solidFill>
            <a:srgbClr val="202124"/>
          </a:solidFill>
          <a:ln>
            <a:noFill/>
          </a:ln>
        </p:spPr>
        <p:txBody>
          <a:bodyPr rtlCol="0" anchor="ctr"/>
          <a:lstStyle/>
          <a:p>
            <a:pPr algn="ctr"/>
            <a:endParaRPr/>
          </a:p>
        </p:txBody>
      </p:sp>
      <p:pic>
        <p:nvPicPr>
          <p:cNvPr id="163" name="Picture 162" descr="Github_w.png"/>
          <p:cNvPicPr>
            <a:picLocks noChangeAspect="1"/>
          </p:cNvPicPr>
          <p:nvPr/>
        </p:nvPicPr>
        <p:blipFill>
          <a:blip r:embed="rId5"/>
          <a:stretch>
            <a:fillRect/>
          </a:stretch>
        </p:blipFill>
        <p:spPr>
          <a:xfrm>
            <a:off x="626912" y="1779056"/>
            <a:ext cx="245790" cy="245790"/>
          </a:xfrm>
          <a:prstGeom prst="rect">
            <a:avLst/>
          </a:prstGeom>
        </p:spPr>
      </p:pic>
      <p:sp>
        <p:nvSpPr>
          <p:cNvPr id="164" name="TextBox 163"/>
          <p:cNvSpPr txBox="1"/>
          <p:nvPr/>
        </p:nvSpPr>
        <p:spPr>
          <a:xfrm>
            <a:off x="1115568" y="1572768"/>
            <a:ext cx="4389120" cy="658368"/>
          </a:xfrm>
          <a:prstGeom prst="rect">
            <a:avLst/>
          </a:prstGeom>
          <a:noFill/>
        </p:spPr>
        <p:txBody>
          <a:bodyPr wrap="square" lIns="0" tIns="0" rIns="0" bIns="0" anchor="ctr">
            <a:noAutofit/>
          </a:bodyPr>
          <a:lstStyle/>
          <a:p>
            <a:pPr algn="l">
              <a:spcAft>
                <a:spcPts val="200"/>
              </a:spcAft>
            </a:pPr>
            <a:r>
              <a:rPr sz="1200" b="1" dirty="0">
                <a:solidFill>
                  <a:srgbClr val="202124"/>
                </a:solidFill>
                <a:latin typeface="Arial"/>
              </a:rPr>
              <a:t>GitHub Public Repository</a:t>
            </a:r>
          </a:p>
          <a:p>
            <a:pPr algn="l">
              <a:spcAft>
                <a:spcPts val="200"/>
              </a:spcAft>
            </a:pPr>
            <a:r>
              <a:rPr sz="1050" b="0" dirty="0">
                <a:solidFill>
                  <a:srgbClr val="1A73E8"/>
                </a:solidFill>
                <a:latin typeface="Arial"/>
                <a:hlinkClick r:id="rId6"/>
              </a:rPr>
              <a:t>github.com/victorchangwork052/</a:t>
            </a:r>
            <a:r>
              <a:rPr sz="1050" b="0" dirty="0" err="1">
                <a:solidFill>
                  <a:srgbClr val="1A73E8"/>
                </a:solidFill>
                <a:latin typeface="Arial"/>
                <a:hlinkClick r:id="rId6"/>
              </a:rPr>
              <a:t>rippleops</a:t>
            </a:r>
            <a:endParaRPr sz="1050" b="0" dirty="0">
              <a:solidFill>
                <a:srgbClr val="1A73E8"/>
              </a:solidFill>
              <a:latin typeface="Arial"/>
              <a:hlinkClick r:id="rId6"/>
            </a:endParaRPr>
          </a:p>
        </p:txBody>
      </p:sp>
      <p:sp>
        <p:nvSpPr>
          <p:cNvPr id="165" name="Rounded Rectangle 164"/>
          <p:cNvSpPr/>
          <p:nvPr/>
        </p:nvSpPr>
        <p:spPr>
          <a:xfrm>
            <a:off x="365760" y="2487168"/>
            <a:ext cx="5212080" cy="877824"/>
          </a:xfrm>
          <a:prstGeom prst="roundRect">
            <a:avLst>
              <a:gd name="adj" fmla="val 8333"/>
            </a:avLst>
          </a:prstGeom>
          <a:solidFill>
            <a:srgbClr val="F8F9FA"/>
          </a:solidFill>
          <a:ln>
            <a:noFill/>
          </a:ln>
        </p:spPr>
        <p:txBody>
          <a:bodyPr rtlCol="0" anchor="ctr"/>
          <a:lstStyle/>
          <a:p>
            <a:pPr algn="ctr"/>
            <a:endParaRPr/>
          </a:p>
        </p:txBody>
      </p:sp>
      <p:sp>
        <p:nvSpPr>
          <p:cNvPr id="166" name="Oval 165"/>
          <p:cNvSpPr/>
          <p:nvPr/>
        </p:nvSpPr>
        <p:spPr>
          <a:xfrm>
            <a:off x="530352" y="2706624"/>
            <a:ext cx="438912" cy="438912"/>
          </a:xfrm>
          <a:prstGeom prst="ellipse">
            <a:avLst/>
          </a:prstGeom>
          <a:solidFill>
            <a:srgbClr val="EA4335"/>
          </a:solidFill>
          <a:ln>
            <a:noFill/>
          </a:ln>
        </p:spPr>
        <p:txBody>
          <a:bodyPr rtlCol="0" anchor="ctr"/>
          <a:lstStyle/>
          <a:p>
            <a:pPr algn="ctr"/>
            <a:endParaRPr/>
          </a:p>
        </p:txBody>
      </p:sp>
      <p:pic>
        <p:nvPicPr>
          <p:cNvPr id="167" name="Picture 166" descr="CirclePlay_w.png"/>
          <p:cNvPicPr>
            <a:picLocks noChangeAspect="1"/>
          </p:cNvPicPr>
          <p:nvPr/>
        </p:nvPicPr>
        <p:blipFill>
          <a:blip r:embed="rId7"/>
          <a:stretch>
            <a:fillRect/>
          </a:stretch>
        </p:blipFill>
        <p:spPr>
          <a:xfrm>
            <a:off x="626912" y="2803184"/>
            <a:ext cx="245790" cy="245790"/>
          </a:xfrm>
          <a:prstGeom prst="rect">
            <a:avLst/>
          </a:prstGeom>
        </p:spPr>
      </p:pic>
      <p:sp>
        <p:nvSpPr>
          <p:cNvPr id="168" name="TextBox 167"/>
          <p:cNvSpPr txBox="1"/>
          <p:nvPr/>
        </p:nvSpPr>
        <p:spPr>
          <a:xfrm>
            <a:off x="1115568" y="2596896"/>
            <a:ext cx="4389120" cy="658368"/>
          </a:xfrm>
          <a:prstGeom prst="rect">
            <a:avLst/>
          </a:prstGeom>
          <a:noFill/>
        </p:spPr>
        <p:txBody>
          <a:bodyPr wrap="square" lIns="0" tIns="0" rIns="0" bIns="0" anchor="ctr">
            <a:noAutofit/>
          </a:bodyPr>
          <a:lstStyle/>
          <a:p>
            <a:pPr algn="l">
              <a:spcAft>
                <a:spcPts val="200"/>
              </a:spcAft>
            </a:pPr>
            <a:r>
              <a:rPr sz="1200" b="1" dirty="0">
                <a:solidFill>
                  <a:srgbClr val="202124"/>
                </a:solidFill>
                <a:latin typeface="Arial"/>
              </a:rPr>
              <a:t>Demo Video Link (3 Minutes)</a:t>
            </a:r>
          </a:p>
          <a:p>
            <a:pPr>
              <a:spcAft>
                <a:spcPts val="200"/>
              </a:spcAft>
            </a:pPr>
            <a:r>
              <a:rPr lang="en-US" sz="1050" dirty="0">
                <a:solidFill>
                  <a:srgbClr val="1A73E8"/>
                </a:solidFill>
                <a:hlinkClick r:id="rId8"/>
              </a:rPr>
              <a:t>https://drive.google.com/file/d/1c1dxjsODO5XLfD-MqT9WZJLhYdOSqMGH/view?usp=sharing</a:t>
            </a:r>
            <a:endParaRPr sz="1050" dirty="0">
              <a:solidFill>
                <a:srgbClr val="1A73E8"/>
              </a:solidFill>
            </a:endParaRPr>
          </a:p>
        </p:txBody>
      </p:sp>
      <p:sp>
        <p:nvSpPr>
          <p:cNvPr id="169" name="Rounded Rectangle 168"/>
          <p:cNvSpPr/>
          <p:nvPr/>
        </p:nvSpPr>
        <p:spPr>
          <a:xfrm>
            <a:off x="365760" y="3511296"/>
            <a:ext cx="5212080" cy="877824"/>
          </a:xfrm>
          <a:prstGeom prst="roundRect">
            <a:avLst>
              <a:gd name="adj" fmla="val 8333"/>
            </a:avLst>
          </a:prstGeom>
          <a:solidFill>
            <a:srgbClr val="F8F9FA"/>
          </a:solidFill>
          <a:ln>
            <a:noFill/>
          </a:ln>
        </p:spPr>
        <p:txBody>
          <a:bodyPr rtlCol="0" anchor="ctr"/>
          <a:lstStyle/>
          <a:p>
            <a:pPr algn="ctr"/>
            <a:endParaRPr/>
          </a:p>
        </p:txBody>
      </p:sp>
      <p:sp>
        <p:nvSpPr>
          <p:cNvPr id="170" name="Oval 169"/>
          <p:cNvSpPr/>
          <p:nvPr/>
        </p:nvSpPr>
        <p:spPr>
          <a:xfrm>
            <a:off x="530352" y="3730752"/>
            <a:ext cx="438912" cy="438912"/>
          </a:xfrm>
          <a:prstGeom prst="ellipse">
            <a:avLst/>
          </a:prstGeom>
          <a:solidFill>
            <a:srgbClr val="4285F4"/>
          </a:solidFill>
          <a:ln>
            <a:noFill/>
          </a:ln>
        </p:spPr>
        <p:txBody>
          <a:bodyPr rtlCol="0" anchor="ctr"/>
          <a:lstStyle/>
          <a:p>
            <a:pPr algn="ctr"/>
            <a:endParaRPr/>
          </a:p>
        </p:txBody>
      </p:sp>
      <p:pic>
        <p:nvPicPr>
          <p:cNvPr id="171" name="Picture 170" descr="ExternalLink_w.png"/>
          <p:cNvPicPr>
            <a:picLocks noChangeAspect="1"/>
          </p:cNvPicPr>
          <p:nvPr/>
        </p:nvPicPr>
        <p:blipFill>
          <a:blip r:embed="rId9"/>
          <a:stretch>
            <a:fillRect/>
          </a:stretch>
        </p:blipFill>
        <p:spPr>
          <a:xfrm>
            <a:off x="626912" y="3827312"/>
            <a:ext cx="245790" cy="245790"/>
          </a:xfrm>
          <a:prstGeom prst="rect">
            <a:avLst/>
          </a:prstGeom>
        </p:spPr>
      </p:pic>
      <p:sp>
        <p:nvSpPr>
          <p:cNvPr id="172" name="TextBox 171"/>
          <p:cNvSpPr txBox="1"/>
          <p:nvPr/>
        </p:nvSpPr>
        <p:spPr>
          <a:xfrm>
            <a:off x="1115568" y="3621024"/>
            <a:ext cx="4389120" cy="658368"/>
          </a:xfrm>
          <a:prstGeom prst="rect">
            <a:avLst/>
          </a:prstGeom>
          <a:noFill/>
        </p:spPr>
        <p:txBody>
          <a:bodyPr wrap="square" lIns="0" tIns="0" rIns="0" bIns="0" anchor="ctr">
            <a:noAutofit/>
          </a:bodyPr>
          <a:lstStyle/>
          <a:p>
            <a:pPr algn="l">
              <a:spcAft>
                <a:spcPts val="200"/>
              </a:spcAft>
            </a:pPr>
            <a:r>
              <a:rPr sz="1200" b="1">
                <a:solidFill>
                  <a:srgbClr val="202124"/>
                </a:solidFill>
                <a:latin typeface="Arial"/>
              </a:rPr>
              <a:t>Final Product Link</a:t>
            </a:r>
          </a:p>
          <a:p>
            <a:pPr algn="l">
              <a:spcAft>
                <a:spcPts val="200"/>
              </a:spcAft>
            </a:pPr>
            <a:r>
              <a:rPr sz="1050" b="0">
                <a:solidFill>
                  <a:srgbClr val="1A73E8"/>
                </a:solidFill>
                <a:latin typeface="Arial"/>
                <a:hlinkClick r:id="rId10"/>
              </a:rPr>
              <a:t>rippleops-web-273776274235.us-central1.run.app</a:t>
            </a:r>
          </a:p>
        </p:txBody>
      </p:sp>
      <p:sp>
        <p:nvSpPr>
          <p:cNvPr id="173" name="Rounded Rectangle 172"/>
          <p:cNvSpPr/>
          <p:nvPr/>
        </p:nvSpPr>
        <p:spPr>
          <a:xfrm>
            <a:off x="5852160" y="1463040"/>
            <a:ext cx="2926080" cy="2926080"/>
          </a:xfrm>
          <a:prstGeom prst="roundRect">
            <a:avLst>
              <a:gd name="adj" fmla="val 2500"/>
            </a:avLst>
          </a:prstGeom>
          <a:solidFill>
            <a:srgbClr val="202124"/>
          </a:solidFill>
          <a:ln>
            <a:noFill/>
          </a:ln>
        </p:spPr>
        <p:txBody>
          <a:bodyPr rtlCol="0" anchor="ctr"/>
          <a:lstStyle/>
          <a:p>
            <a:pPr algn="ctr"/>
            <a:endParaRPr/>
          </a:p>
        </p:txBody>
      </p:sp>
      <p:sp>
        <p:nvSpPr>
          <p:cNvPr id="174" name="TextBox 173"/>
          <p:cNvSpPr txBox="1"/>
          <p:nvPr/>
        </p:nvSpPr>
        <p:spPr>
          <a:xfrm>
            <a:off x="6035040" y="1600200"/>
            <a:ext cx="2651760" cy="274320"/>
          </a:xfrm>
          <a:prstGeom prst="rect">
            <a:avLst/>
          </a:prstGeom>
          <a:noFill/>
        </p:spPr>
        <p:txBody>
          <a:bodyPr wrap="square" lIns="0" tIns="0" rIns="0" bIns="0" anchor="t">
            <a:noAutofit/>
          </a:bodyPr>
          <a:lstStyle/>
          <a:p>
            <a:pPr algn="l"/>
            <a:r>
              <a:rPr sz="1300" b="1">
                <a:solidFill>
                  <a:srgbClr val="FFFFFF"/>
                </a:solidFill>
                <a:latin typeface="Arial"/>
              </a:rPr>
              <a:t>Try the live demo</a:t>
            </a:r>
          </a:p>
        </p:txBody>
      </p:sp>
      <p:sp>
        <p:nvSpPr>
          <p:cNvPr id="175" name="Oval 174"/>
          <p:cNvSpPr/>
          <p:nvPr/>
        </p:nvSpPr>
        <p:spPr>
          <a:xfrm>
            <a:off x="6035040" y="2057400"/>
            <a:ext cx="329184" cy="329184"/>
          </a:xfrm>
          <a:prstGeom prst="ellipse">
            <a:avLst/>
          </a:prstGeom>
          <a:solidFill>
            <a:srgbClr val="4285F4"/>
          </a:solidFill>
          <a:ln>
            <a:noFill/>
          </a:ln>
        </p:spPr>
        <p:txBody>
          <a:bodyPr lIns="0" tIns="0" rIns="0" bIns="0" rtlCol="0" anchor="ctr"/>
          <a:lstStyle/>
          <a:p>
            <a:pPr algn="ctr"/>
            <a:r>
              <a:rPr sz="1100" b="1">
                <a:solidFill>
                  <a:srgbClr val="FFFFFF"/>
                </a:solidFill>
                <a:latin typeface="Arial"/>
              </a:rPr>
              <a:t>1</a:t>
            </a:r>
          </a:p>
        </p:txBody>
      </p:sp>
      <p:sp>
        <p:nvSpPr>
          <p:cNvPr id="176" name="TextBox 175"/>
          <p:cNvSpPr txBox="1"/>
          <p:nvPr/>
        </p:nvSpPr>
        <p:spPr>
          <a:xfrm>
            <a:off x="6473952" y="2002536"/>
            <a:ext cx="2194560" cy="457200"/>
          </a:xfrm>
          <a:prstGeom prst="rect">
            <a:avLst/>
          </a:prstGeom>
          <a:noFill/>
        </p:spPr>
        <p:txBody>
          <a:bodyPr wrap="square" lIns="0" tIns="0" rIns="0" bIns="0" anchor="ctr">
            <a:noAutofit/>
          </a:bodyPr>
          <a:lstStyle/>
          <a:p>
            <a:pPr algn="l"/>
            <a:r>
              <a:rPr sz="1000" b="0">
                <a:solidFill>
                  <a:srgbClr val="E8EAED"/>
                </a:solidFill>
                <a:latin typeface="Arial"/>
              </a:rPr>
              <a:t>Open the product link</a:t>
            </a:r>
          </a:p>
        </p:txBody>
      </p:sp>
      <p:sp>
        <p:nvSpPr>
          <p:cNvPr id="177" name="Oval 176"/>
          <p:cNvSpPr/>
          <p:nvPr/>
        </p:nvSpPr>
        <p:spPr>
          <a:xfrm>
            <a:off x="6035040" y="2770632"/>
            <a:ext cx="329184" cy="329184"/>
          </a:xfrm>
          <a:prstGeom prst="ellipse">
            <a:avLst/>
          </a:prstGeom>
          <a:solidFill>
            <a:srgbClr val="34A853"/>
          </a:solidFill>
          <a:ln>
            <a:noFill/>
          </a:ln>
        </p:spPr>
        <p:txBody>
          <a:bodyPr lIns="0" tIns="0" rIns="0" bIns="0" rtlCol="0" anchor="ctr"/>
          <a:lstStyle/>
          <a:p>
            <a:pPr algn="ctr"/>
            <a:r>
              <a:rPr sz="1100" b="1">
                <a:solidFill>
                  <a:srgbClr val="FFFFFF"/>
                </a:solidFill>
                <a:latin typeface="Arial"/>
              </a:rPr>
              <a:t>2</a:t>
            </a:r>
          </a:p>
        </p:txBody>
      </p:sp>
      <p:sp>
        <p:nvSpPr>
          <p:cNvPr id="178" name="TextBox 177"/>
          <p:cNvSpPr txBox="1"/>
          <p:nvPr/>
        </p:nvSpPr>
        <p:spPr>
          <a:xfrm>
            <a:off x="6473952" y="2715768"/>
            <a:ext cx="2194560" cy="457200"/>
          </a:xfrm>
          <a:prstGeom prst="rect">
            <a:avLst/>
          </a:prstGeom>
          <a:noFill/>
        </p:spPr>
        <p:txBody>
          <a:bodyPr wrap="square" lIns="0" tIns="0" rIns="0" bIns="0" anchor="ctr">
            <a:noAutofit/>
          </a:bodyPr>
          <a:lstStyle/>
          <a:p>
            <a:pPr algn="l"/>
            <a:r>
              <a:rPr sz="1000" b="0">
                <a:solidFill>
                  <a:srgbClr val="E8EAED"/>
                </a:solidFill>
                <a:latin typeface="Arial"/>
              </a:rPr>
              <a:t>Select Load Demo Scenario</a:t>
            </a:r>
          </a:p>
        </p:txBody>
      </p:sp>
      <p:sp>
        <p:nvSpPr>
          <p:cNvPr id="179" name="Oval 178"/>
          <p:cNvSpPr/>
          <p:nvPr/>
        </p:nvSpPr>
        <p:spPr>
          <a:xfrm>
            <a:off x="6035040" y="3483864"/>
            <a:ext cx="329184" cy="329184"/>
          </a:xfrm>
          <a:prstGeom prst="ellipse">
            <a:avLst/>
          </a:prstGeom>
          <a:solidFill>
            <a:srgbClr val="FBBC04"/>
          </a:solidFill>
          <a:ln>
            <a:noFill/>
          </a:ln>
        </p:spPr>
        <p:txBody>
          <a:bodyPr lIns="0" tIns="0" rIns="0" bIns="0" rtlCol="0" anchor="ctr"/>
          <a:lstStyle/>
          <a:p>
            <a:pPr algn="ctr"/>
            <a:r>
              <a:rPr sz="1100" b="1">
                <a:solidFill>
                  <a:srgbClr val="FFFFFF"/>
                </a:solidFill>
                <a:latin typeface="Arial"/>
              </a:rPr>
              <a:t>3</a:t>
            </a:r>
          </a:p>
        </p:txBody>
      </p:sp>
      <p:sp>
        <p:nvSpPr>
          <p:cNvPr id="180" name="TextBox 179"/>
          <p:cNvSpPr txBox="1"/>
          <p:nvPr/>
        </p:nvSpPr>
        <p:spPr>
          <a:xfrm>
            <a:off x="6473952" y="3429000"/>
            <a:ext cx="2194560" cy="457200"/>
          </a:xfrm>
          <a:prstGeom prst="rect">
            <a:avLst/>
          </a:prstGeom>
          <a:noFill/>
        </p:spPr>
        <p:txBody>
          <a:bodyPr wrap="square" lIns="0" tIns="0" rIns="0" bIns="0" anchor="ctr">
            <a:noAutofit/>
          </a:bodyPr>
          <a:lstStyle/>
          <a:p>
            <a:pPr algn="l"/>
            <a:r>
              <a:rPr sz="1000" b="0">
                <a:solidFill>
                  <a:srgbClr val="E8EAED"/>
                </a:solidFill>
                <a:latin typeface="Arial"/>
              </a:rPr>
              <a:t>Select Analyze Impact to start the nine-agent run</a:t>
            </a:r>
          </a:p>
        </p:txBody>
      </p:sp>
      <p:sp>
        <p:nvSpPr>
          <p:cNvPr id="181" name="TextBox 180"/>
          <p:cNvSpPr txBox="1"/>
          <p:nvPr/>
        </p:nvSpPr>
        <p:spPr>
          <a:xfrm>
            <a:off x="6035040" y="4114800"/>
            <a:ext cx="2651760" cy="182880"/>
          </a:xfrm>
          <a:prstGeom prst="rect">
            <a:avLst/>
          </a:prstGeom>
          <a:noFill/>
        </p:spPr>
        <p:txBody>
          <a:bodyPr wrap="square" lIns="0" tIns="0" rIns="0" bIns="0" anchor="t">
            <a:noAutofit/>
          </a:bodyPr>
          <a:lstStyle/>
          <a:p>
            <a:pPr algn="l"/>
            <a:r>
              <a:rPr sz="850" b="0">
                <a:solidFill>
                  <a:srgbClr val="9AA0A6"/>
                </a:solidFill>
                <a:latin typeface="Arial"/>
              </a:rPr>
              <a:t>All demo data is fictional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2617</Words>
  <Application>Microsoft Office PowerPoint</Application>
  <PresentationFormat>如螢幕大小 (16:9)</PresentationFormat>
  <Paragraphs>325</Paragraphs>
  <Slides>18</Slides>
  <Notes>18</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18</vt:i4>
      </vt:variant>
    </vt:vector>
  </HeadingPairs>
  <TitlesOfParts>
    <vt:vector size="22" baseType="lpstr">
      <vt:lpstr>Arial</vt:lpstr>
      <vt:lpstr>Google Sans Flex</vt:lpstr>
      <vt:lpstr>Google Sans Flex SemiBold</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Victor Chang</cp:lastModifiedBy>
  <cp:revision>2</cp:revision>
  <dcterms:modified xsi:type="dcterms:W3CDTF">2026-10-13T14:52:58Z</dcterms:modified>
</cp:coreProperties>
</file>